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2" r:id="rId18"/>
    <p:sldId id="300" r:id="rId19"/>
    <p:sldId id="301" r:id="rId20"/>
    <p:sldId id="25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net.princeton.edu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NLP </a:t>
            </a:r>
            <a:r>
              <a:rPr lang="en-US" sz="1867" dirty="0" err="1"/>
              <a:t>DeepDive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26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386454976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NLP coding exercise &amp; </a:t>
                      </a:r>
                      <a:r>
                        <a:rPr lang="en-US" sz="1300" b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explantions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Tokenization - Splitting Text Into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Tokenization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very first step in any NLP pipeline.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breaks raw text into smaller meaningful units called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tokens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Two types of tokenization: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 Tokenization → split by individual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Sentence Tokenization → split by sentences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Example - Word Tokenization: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Input:  "Ali is learning NLP in Pakistan."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["Ali", "is", "learning", "NLP", "in", "Pakistan", "."]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Example - Sentence Tokenization: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Input:  "NLP is great. I love it. You should learn it."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["NLP is great.", "I love it.", "You should learn it."]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Every NLP task starts here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 cannot process text without first breaking it into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units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NLTK provides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word_tokenize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and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sent_tokenize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for this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as: before you read a book, you see individual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Word Segmentation - Handling Tricky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segmentation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tokenization for languages without clear spaces.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English uses spaces between words → easy to split.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But many languages do NOT use spaces: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Chinese: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我爱NLP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→ ["我", "爱", "NLP"] (I love NLP)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Arabic and Urdu: words merge and change shape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German: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Natursprachverarbeitung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= one long compound word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Even in English, segmentation handles edge cases: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"don't" → ["do",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n't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"] or ["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dont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"]?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"New York" → one token 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two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"state-of-the-art" → one token or four?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Wrong segmentation = wrong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 model that sees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dont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and "don't" as different = confused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Subword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segmentation is used in GPT and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BERT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Rule: How you split text directly affects what the model learns.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Stemming - Chopping Words to Their Root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Stemming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reduces a word to its base or root form.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uses simple rules to chop off suffixes.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 → "run"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"studies"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 ← not a real word!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"happily"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happili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← rough but fast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"learning" → "learn"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"connection" → "connect"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provides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(most common) and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SnowballStemmer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stemmer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stemmer.stem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("running")   → "run"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stemmer.stem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("studies") 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Advantages: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Very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fast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processing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Reduces vocabulary size significantly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Disadvantages: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Results are sometimes not real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understanding of word 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stemming when: speed matters more than accuracy.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4787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Text Normalization - Making Text Consistent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1" y="1463040"/>
            <a:ext cx="873155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makes messy text uniform and consistent.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Problem: Same meaning, different forms confuse models.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 of inconsistency: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"USA", "U.S.A",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usa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"United States" → all mean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same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"2nd", "second", "2" → all mean the same number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gonna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→ "going to"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"HELLO!!!" → "hello"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normalization steps: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Lowercasing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"Hello" and "hello" treated as same 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Expanding contractions → "don't" → "do not"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Removing accents → "café" → "cafe"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Standardizing dates → "01/03/2024" → "March 1 2024"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Removing extra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whitespace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"hello   world" → "hello world"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Without normalization a model sees "Hello" and "hello" as TWO different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This wastes vocabulary space and confuses learning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Normalized text = smaller vocabulary =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smarter model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21381"/>
            <a:ext cx="115743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Regular Expressions - Pattern Matching in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806156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Regular</a:t>
            </a:r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Expression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(regex) is a pattern used to search or clean text.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is the most powerful tool for text pre-processing.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Python uses the re library.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patterns: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\d     → any digit (0-9)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\w     → any word character (a-z, A-Z, 0-9)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\s     → any whitespace (space, tab)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.      → any single character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+      → one or more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*      → zero or more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NLP engineers love regex: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No library needed → just Python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Fast and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flexible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Handles any custom cleaning rule you can think of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5763A-1718-DE36-3858-EEC44BEB012A}"/>
              </a:ext>
            </a:extLst>
          </p:cNvPr>
          <p:cNvSpPr txBox="1"/>
          <p:nvPr/>
        </p:nvSpPr>
        <p:spPr>
          <a:xfrm>
            <a:off x="0" y="4538028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rgbClr val="E3E3E3"/>
                </a:solidFill>
                <a:effectLst/>
                <a:latin typeface="Google Sans Text"/>
              </a:rPr>
              <a:t>Text Normalization with Regular Expressions in NLP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E3E3E3"/>
                </a:solidFill>
                <a:effectLst/>
                <a:latin typeface="Google Sans Text"/>
              </a:rPr>
              <a:t>Text normalization is a crucial step in Natural Language Processing (NLP) that involves transforming text into a canonical (standard) form. This process helps reduce variations in data, making it easier for machines to process and understand. Regular expressions (regex) are a mini-language for pattern matching in strings, making them ideal for tasks like: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E3E3E3"/>
                </a:solidFill>
                <a:effectLst/>
                <a:latin typeface="Google Sans Text"/>
              </a:rPr>
              <a:t>Lowercasing</a:t>
            </a:r>
            <a:r>
              <a:rPr lang="en-US" sz="1400" b="0" i="0" dirty="0">
                <a:solidFill>
                  <a:srgbClr val="E3E3E3"/>
                </a:solidFill>
                <a:effectLst/>
                <a:latin typeface="Google Sans Text"/>
              </a:rPr>
              <a:t>: Converting all text to lowercase to treat 'The' and 'the' as the same word.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E3E3E3"/>
                </a:solidFill>
                <a:effectLst/>
                <a:latin typeface="Google Sans Text"/>
              </a:rPr>
              <a:t>Removing Punctuation</a:t>
            </a:r>
            <a:r>
              <a:rPr lang="en-US" sz="1400" b="0" i="0" dirty="0">
                <a:solidFill>
                  <a:srgbClr val="E3E3E3"/>
                </a:solidFill>
                <a:effectLst/>
                <a:latin typeface="Google Sans Text"/>
              </a:rPr>
              <a:t>: Eliminating special characters that might not add semantic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E3E3E3"/>
                </a:solidFill>
                <a:effectLst/>
                <a:latin typeface="Google Sans Text"/>
              </a:rPr>
              <a:t>Handling Numbers</a:t>
            </a:r>
            <a:r>
              <a:rPr lang="en-US" sz="1400" b="0" i="0" dirty="0">
                <a:solidFill>
                  <a:srgbClr val="E3E3E3"/>
                </a:solidFill>
                <a:effectLst/>
                <a:latin typeface="Google Sans Text"/>
              </a:rPr>
              <a:t>: Standardizing numerical representations (e.g., removing commas, replacing with a token).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E3E3E3"/>
                </a:solidFill>
                <a:effectLst/>
                <a:latin typeface="Google Sans Text"/>
              </a:rPr>
              <a:t>Removing Extra Spaces</a:t>
            </a:r>
            <a:r>
              <a:rPr lang="en-US" sz="1400" b="0" i="0" dirty="0">
                <a:solidFill>
                  <a:srgbClr val="E3E3E3"/>
                </a:solidFill>
                <a:effectLst/>
                <a:latin typeface="Google Sans Text"/>
              </a:rPr>
              <a:t>: Cleaning up multiple spaces between words.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E3E3E3"/>
                </a:solidFill>
                <a:effectLst/>
                <a:latin typeface="Google Sans Text"/>
              </a:rPr>
              <a:t>Stemming/Lemmatization</a:t>
            </a:r>
            <a:r>
              <a:rPr lang="en-US" sz="1400" b="0" i="0" dirty="0">
                <a:solidFill>
                  <a:srgbClr val="E3E3E3"/>
                </a:solidFill>
                <a:effectLst/>
                <a:latin typeface="Google Sans Text"/>
              </a:rPr>
              <a:t>: While often done with specific libraries (like NLTK's </a:t>
            </a:r>
            <a:r>
              <a:rPr lang="en-US" sz="1400" b="0" i="0" dirty="0" err="1">
                <a:solidFill>
                  <a:srgbClr val="E3E3E3"/>
                </a:solidFill>
                <a:effectLst/>
                <a:latin typeface="Google Sans Text"/>
              </a:rPr>
              <a:t>PorterStemmer</a:t>
            </a:r>
            <a:r>
              <a:rPr lang="en-US" sz="1400" b="0" i="0" dirty="0">
                <a:solidFill>
                  <a:srgbClr val="E3E3E3"/>
                </a:solidFill>
                <a:effectLst/>
                <a:latin typeface="Google Sans Text"/>
              </a:rPr>
              <a:t> you have in your notebook), regex can sometimes be used for simpler forms of word reduction or suffix removal in custom scenarios.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3124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POS Tagging - Labeling Grammar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 stands for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Part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Of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Speech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 tagging labels every word with its grammatical role.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POS tags: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NN  → Noun (singular): "dog", "city", "Python"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NNS → Noun (plural): "dogs", "cities"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VB  → Verb (base): "run", "learn", "build"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JJ 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Adjective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"fast", "amazing", "large"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RB  → Adverb: "quickly", "always"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DT  → Determiner: "the", "a", "an"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  → Preposition: "in", "on", "at"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"Ali built an amazing system."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Ali=NNP  built=VBD  an=DT  amazing=JJ  system=NN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Helps machines understand sentence structure (Syntax)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Needed for Named Entity Recognition and Parsing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Helps with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disambiguation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"bank" as noun vs verb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NLTK: </a:t>
            </a:r>
            <a:r>
              <a:rPr sz="1400" b="1" dirty="0" err="1">
                <a:solidFill>
                  <a:srgbClr val="00B0F0"/>
                </a:solidFill>
                <a:latin typeface="Source Code Pro"/>
              </a:rPr>
              <a:t>nltk.pos_tag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(tokens)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 err="1">
                <a:solidFill>
                  <a:srgbClr val="00B0F0"/>
                </a:solidFill>
                <a:latin typeface="Source Code Pro"/>
              </a:rPr>
              <a:t>token.pos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_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for each token in doc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NER Tagging - Finding Real World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NER stands for Named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Entity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Recognition.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finds and classifies real-world names in text.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entity types: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PERSON  → "Elon Musk", "Ali Hassan"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ORG     → "Google", "OpenAI", "NUST"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GPE     → "Pakistan", "Lahore", "New York" (geo-political)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DATE    → "Monday", "2024", "last week"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MONEY   → "$500", "5000 rupees"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PRODUCT → "iPhone", "Python"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"Elon Musk founded SpaceX in 2002 in California."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Elon Musk  → PERSON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SpaceX     → ORG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2002       → DATE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California → GPE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world uses: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Search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engines extract entities from web pages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News apps tag articles by person or location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Resume parsers extract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skills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companies automatically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has excellent built-in NER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doc.ents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Semantics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action — understanding MEANING in text.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Chunking and Chinking - Grouping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Chunking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groups individual POS-tagged words into meaningful phrases.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is one step above POS tagging.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— Noun Phrase (NP) Chunking: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Sentence: "The fast red car crashed badly."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POS tags:  DT   JJ   JJ  NN   VBD    RB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Chunk:    [The fast red car] crashed badly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  └── NP Chunk ──┘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noun phrase "the fast red car" is extracted as one unit.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chunk types: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NP → Noun Phrase: "the big dog"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VP → Verb Phrase: "was running fast"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PP → Prepositional Phrase: "in the market"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Chinking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OPPOSITE of chunking: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Chunking = define what you WANT to keep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Chinking = define what you want to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remove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a chunk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Remove verbs from inside a noun phrase.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uses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RegexpParser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chunking: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grammar = "NP: {&lt;DT&gt;?&lt;JJ&gt;*&lt;NN&gt;}"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parser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nltk.RegexpParser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(grammar)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extracts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before full parsing.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Lemmatization - Smarter Root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Lemmatization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reduces words to their true dictionary root.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is smarter than stemming because it uses vocabulary knowledge.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Stemming vs Lemmatization comparison: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         Stemming     Lemmatization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"running"  → "run"      → "run"        (same here)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"studies"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  → "study"      (lemma wins!)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"better"   → "better"   → "good"       (lemma wins!)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"wolves"  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wolv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    → "wolf"       (lemma wins!)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"caring"   → "car"      → "care"       (stemmer fails!)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uses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Word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NetLemmatizer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nltk.stem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WordNetLemmatizer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lemmatizer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WordNetLemmatizer()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lemmatizer.lemmatize("studies")  → "study"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lemmatizer.lemmatize("better", pos="a")  → "good"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Note: You should pass the POS tag for better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lemmatizes automatically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token.lemma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_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When to use: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When accuracy matters → use lemmatization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When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speed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matters → use stemming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 production NLP systems → almost always lemmatization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287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WordNet - A Dictionary for Machines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21" y="1461752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WordNet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 English lexical database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built for NLP.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as a dictionary + thesaurus + knowledge graph combined.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concepts in WordNet: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Synset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 group of synonyms that share the same 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Hypernym → broader category ("dog" → "animal")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Hyponym → more specific type ("animal" → "dog")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Definition → dictionary meaning of a 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Examples → sample sentences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gives full access to WordNet: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nltk.corpus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wordnet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wordnet.synsets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("car")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[0].name()        → 'car.n.01'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[0].definition()  → 'a motor vehicle with four wheels'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[0].lemmas()      → [car, auto, automobile, machine]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syns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[0].hypernyms()   → 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motor_vehicle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NLP uses of WordNet: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WordSenseDisambiguation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which meaning of "bank"?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Semantic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how related are "dog" and "cat"?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Lemmatization → WordNetLemmatizer uses it internally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Feature expansion → add synonyms to training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WordNet is how machines begin to understand MEANING not just form.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34E3E-0110-E67E-AC92-DA850DEC17FA}"/>
              </a:ext>
            </a:extLst>
          </p:cNvPr>
          <p:cNvSpPr txBox="1"/>
          <p:nvPr/>
        </p:nvSpPr>
        <p:spPr>
          <a:xfrm>
            <a:off x="6521117" y="950535"/>
            <a:ext cx="567088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 </a:t>
            </a:r>
            <a:r>
              <a:rPr lang="en-US" sz="1600" b="1" i="0" u="sng" dirty="0">
                <a:solidFill>
                  <a:srgbClr val="E6E8F0"/>
                </a:solidFill>
                <a:effectLst/>
                <a:latin typeface="Google Sans"/>
              </a:rPr>
              <a:t>thesaurus</a:t>
            </a:r>
            <a:r>
              <a:rPr lang="en-US" sz="1600" b="0" i="0" dirty="0">
                <a:solidFill>
                  <a:srgbClr val="E6E8F0"/>
                </a:solidFill>
                <a:effectLst/>
                <a:latin typeface="Google Sans"/>
              </a:rPr>
              <a:t> is </a:t>
            </a:r>
            <a:r>
              <a:rPr lang="en-US" sz="1600" dirty="0"/>
              <a:t>a reference tool—either a book or a digital database—that groups words with </a:t>
            </a:r>
            <a:r>
              <a:rPr lang="en-US" sz="1600" b="1" dirty="0">
                <a:effectLst/>
              </a:rPr>
              <a:t>similar </a:t>
            </a:r>
            <a:r>
              <a:rPr lang="en-US" sz="1400" b="1" dirty="0">
                <a:effectLst/>
              </a:rPr>
              <a:t>meanings</a:t>
            </a:r>
            <a:r>
              <a:rPr lang="en-US" sz="1400" dirty="0"/>
              <a:t> (synonyms) and </a:t>
            </a:r>
            <a:r>
              <a:rPr lang="en-US" sz="1400" b="1" dirty="0">
                <a:effectLst/>
              </a:rPr>
              <a:t>opposite meanings</a:t>
            </a:r>
            <a:r>
              <a:rPr lang="en-US" sz="1400" dirty="0"/>
              <a:t> (antonyms) together.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2AF56-CCE3-A9D6-9979-5A88DD576BEA}"/>
              </a:ext>
            </a:extLst>
          </p:cNvPr>
          <p:cNvSpPr txBox="1"/>
          <p:nvPr/>
        </p:nvSpPr>
        <p:spPr>
          <a:xfrm>
            <a:off x="6954253" y="2102053"/>
            <a:ext cx="52377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99C3FF"/>
                </a:solidFill>
                <a:effectLst/>
                <a:latin typeface="Google Sans"/>
                <a:hlinkClick r:id="rId3"/>
              </a:rPr>
              <a:t>WordNet</a:t>
            </a:r>
            <a:r>
              <a:rPr lang="en-US" sz="1400" b="0" i="0" dirty="0">
                <a:solidFill>
                  <a:srgbClr val="E6E8F0"/>
                </a:solidFill>
                <a:effectLst/>
                <a:latin typeface="Google Sans"/>
              </a:rPr>
              <a:t> is </a:t>
            </a:r>
            <a:r>
              <a:rPr lang="en-US" sz="1400" dirty="0"/>
              <a:t>a large, publicly available lexical database of English that serves as a cross between a dictionary and a thesaurus.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128B6-6FA6-EB94-0DB3-031965C9C14F}"/>
              </a:ext>
            </a:extLst>
          </p:cNvPr>
          <p:cNvSpPr txBox="1"/>
          <p:nvPr/>
        </p:nvSpPr>
        <p:spPr>
          <a:xfrm>
            <a:off x="6954253" y="2625273"/>
            <a:ext cx="52377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/>
              <a:t>Word Sense Disambiguation (WSD)</a:t>
            </a:r>
            <a:r>
              <a:rPr lang="en-US" sz="1200" u="sng" dirty="0"/>
              <a:t>: </a:t>
            </a:r>
            <a:r>
              <a:rPr lang="en-US" sz="1200" dirty="0"/>
              <a:t>It helps an AI determine which specific meaning of a word is intended based on the surrounding context.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1C1861-DF2D-09D7-0F96-6520BEBF1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916" y="3064111"/>
            <a:ext cx="4985085" cy="38517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202924-2612-4ABB-5BEC-D7EE88BC40EB}"/>
              </a:ext>
            </a:extLst>
          </p:cNvPr>
          <p:cNvSpPr txBox="1"/>
          <p:nvPr/>
        </p:nvSpPr>
        <p:spPr>
          <a:xfrm>
            <a:off x="818147" y="1043112"/>
            <a:ext cx="57029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 </a:t>
            </a:r>
            <a:r>
              <a:rPr lang="en-US" b="1" dirty="0"/>
              <a:t>lexical database</a:t>
            </a:r>
            <a:r>
              <a:rPr lang="en-US" dirty="0"/>
              <a:t> is </a:t>
            </a:r>
            <a:r>
              <a:rPr lang="en-US" sz="1400" dirty="0"/>
              <a:t>a structured, machine-readable collection of words (lexemes) and the information associated with them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24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Words as Features - The Bag of Words Model</a:t>
            </a:r>
            <a:endParaRPr lang="en-US" sz="3200" b="0" dirty="0">
              <a:solidFill>
                <a:srgbClr val="FFFFFF"/>
              </a:solidFill>
              <a:latin typeface="Source Code Pro"/>
            </a:endParaRPr>
          </a:p>
          <a:p>
            <a:pPr algn="l"/>
            <a:r>
              <a:rPr lang="en-US" sz="3200" dirty="0">
                <a:solidFill>
                  <a:srgbClr val="FFFFFF"/>
                </a:solidFill>
                <a:latin typeface="Source Code Pro"/>
              </a:rPr>
              <a:t>(Vectorization technique)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 train a model,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must become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simplest way is the Bag of Words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model.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Core idea: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Build a vocabulary of all unique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Represent each document as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word counts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Ignore grammar and word order — just count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1: "I love NLP"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2: "I love Python"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Vocabulary: [I, love, NLP, Python]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1 vector: [1, 1, 1, 0]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2 vector: [1, 1, 0, 1]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matrix is called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Document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Term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row = one document.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column = one word in vocabulary.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cell = how many times that word appears.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Limitations of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Ignores </a:t>
            </a:r>
            <a:r>
              <a:rPr sz="1400" b="1" dirty="0" err="1">
                <a:solidFill>
                  <a:srgbClr val="EC7955"/>
                </a:solidFill>
                <a:latin typeface="Source Code Pro"/>
              </a:rPr>
              <a:t>wordorder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("dog bites man" = "man bites dog")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Common words dominate ("the", "is" get high counts)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Large vocabulary = very large sparse matrix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Despite limitations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still widely used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Spam detection, sentiment analysis, topic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TF-IDF</a:t>
            </a:r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 (vectorization Technique)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- Smarter Word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treats all words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equally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TF-IDF does not.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TF-IDF stands for Term Frequency -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Inverse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Document Frequency.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gives higher scores to words that are: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Frequent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THIS document (important here)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Rare across ALL documents (unique, not generic)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parts of the formula: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TF (Term Frequency):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How often a word appears in THIS document.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TF = (word count in doc) / (total words in doc)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IDF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Inverse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Document Frequency):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How rare the word is across ALL documents.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IDF = log(total docs / docs containing the word)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score: TF-IDF = TF × IDF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 "the" → appears everywhere → low IDF → low TF-IDF score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 "blockchain" → rare in dataset → high IDF → high TF-IDF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Common words get punished. Rare meaningful words get rewarded.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gives much better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than plain Bag of Words.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sklearn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TfidfVectorizer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handles all of this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0449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Feature Selection - Choosing What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1" y="1195416"/>
            <a:ext cx="1193596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vectorization you may have thousands of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 all features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useful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Many add noise.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Feature selection removes irrelevant or redundant features.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Fewer features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training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Less noise → better model accuracy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Easier to interpret what the model learned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techniques in NLP: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Frequency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Filtering: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Remove words that appear too rarely (&lt; 2 times) or too often (&gt; 90% of docs)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Chi-Square Test: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(used when data is categorical not continuous numbers)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Measures how strongly a word is associated with a specific class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   //It is a tool used to determine if there is a significant relationship between two categorical variables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Mutual Information: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//</a:t>
            </a:r>
            <a:r>
              <a:rPr lang="en-US" sz="1200" dirty="0">
                <a:solidFill>
                  <a:srgbClr val="E7E7E7"/>
                </a:solidFill>
                <a:latin typeface="Source Code Pro"/>
              </a:rPr>
              <a:t>a way to measure how much knowing the value of one variable reduces uncertainty about another.</a:t>
            </a:r>
            <a:endParaRPr sz="12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statistical method that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Measures how much knowing a word tells you about the class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   High MI value-&gt; Agar word "excellent" review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mein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aaya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hai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toh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MI score high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hoga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kyunki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humein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90%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pata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hai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ke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review Positive hi </a:t>
            </a:r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hoga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Threshold: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Remove features that barely change across documents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sklearn.feature_selection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chi2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selector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SelectKBest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(chi2, k=100)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X_selected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selector.fit_transform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(X,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 of thumb: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Start with TF-IDF → apply frequency filter → then chi-square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Good feature selection can improve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10-20%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9B9F-0E20-5EB0-5ECB-B4C01802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in detailed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26E49FE-033E-18F2-3AA2-FF09FE15648E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268204" y="1679738"/>
            <a:ext cx="11674642" cy="3498522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Chi-Square 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is a statistical method ("filter“): used to find the strongest links between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and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categories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(like Spam vs. Not Spam).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/>
              <a:t>The Goal:</a:t>
            </a:r>
            <a:r>
              <a:rPr lang="en-US" dirty="0"/>
              <a:t> To identify </a:t>
            </a:r>
            <a:r>
              <a:rPr lang="en-US" b="1" dirty="0"/>
              <a:t>highly predictive words</a:t>
            </a:r>
            <a:r>
              <a:rPr lang="en-US" dirty="0"/>
              <a:t> and throw away "noise" words that don't help the model learn.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Key Takeaways: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Feature Selection: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It’s used to shrink massive datasets. Instead of 10,000 words, you keep only the top 500 with the highest scores.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Independence Check: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6E8F0"/>
              </a:solidFill>
              <a:effectLst/>
              <a:uLnTx/>
              <a:uFillTx/>
              <a:latin typeface="Google Sans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High Score: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The word and category are 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dependent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(e.g., "Win" is heavily linked to "Spam"). 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Keep this word.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6E8F0"/>
              </a:solidFill>
              <a:effectLst/>
              <a:uLnTx/>
              <a:uFillTx/>
              <a:latin typeface="Google Sans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Low Score: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The word is 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independent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(e.g., "The" appears everywhere). 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Discard this word.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6E8F0"/>
              </a:solidFill>
              <a:effectLst/>
              <a:uLnTx/>
              <a:uFillTx/>
              <a:latin typeface="Google Sans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Efficiency: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6E8F0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It makes machine learning models faster and more accurate by focusing only on the "meaningful" vocabulary.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D4BF841-FF1F-ADA5-FF41-C09C34ADD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33BED4FF-F6B4-60B5-F478-D09F0FAC2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1173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094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0449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Feature Extraction - Deep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Feature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extraction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goes beyond counting words.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creates NEW compressed representations that capture meaning.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main approaches: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Word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(Word2Vec,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GloVe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Each word → dense vector of 100-300 numbers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Similar words → similar 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"king - man + woman = queen"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Captures semantic meaning, not just frequency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Document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(Doc2Vec):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Entire document → one single vector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Useful for document similarity and classification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Transformer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Embeddings (BERT, GPT):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Context-aware → same word gets different vector based on sentence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"bank" in "river bank" ≠ "bank" in "bank account"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* Current state of the art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vs Embeddings: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sparse, no meaning, large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dense, meaning-aware, compact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 practice: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 datasets → TF-IDF works fine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Large datasets → use pre-trained embeddings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Production AI → transformer-based embeddings always win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Document Similarity - How Alike Are Two Texts?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Document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how related two pieces of text are.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Used everywhere in real NLP systems: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Search engines → find most relevant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documents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Plagiarism detectors → how similar are two essays?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Recommendation systems → suggest similar articles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Duplicate detection → find repeated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content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Most common method — Cosine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Represent both documents as TF-IDF 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Measure the angle between the two 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Score of 1.0 = identical, 0.0 = completely different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similarity = cos(θ) = (A · B) / (|A| × |B|)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A: "I love machine learning and NLP"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B: "I enjoy NLP and deep learning"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Doc C: "I love pizza and burgers"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vs B similarity → HIGH (share NLP, learning topics)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vs C similarity → LOW (no common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topic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Python: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sklearn.metrics.pairwise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cosine_similarity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score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cosine_similarity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vec_A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vec_B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the foundation of: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Google Search ranking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ChatGPT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retrieval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systems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Resume matching tools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3439</Words>
  <Application>Microsoft Office PowerPoint</Application>
  <PresentationFormat>Widescreen</PresentationFormat>
  <Paragraphs>397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Arial</vt:lpstr>
      <vt:lpstr>Bebas Neue</vt:lpstr>
      <vt:lpstr>Calibri</vt:lpstr>
      <vt:lpstr>Comfortaa</vt:lpstr>
      <vt:lpstr>Fira Code</vt:lpstr>
      <vt:lpstr>Google Sans</vt:lpstr>
      <vt:lpstr>Google Sans Text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Chi-Square Test in detailed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71</cp:revision>
  <dcterms:created xsi:type="dcterms:W3CDTF">2026-03-05T18:59:57Z</dcterms:created>
  <dcterms:modified xsi:type="dcterms:W3CDTF">2026-03-31T06:27:03Z</dcterms:modified>
</cp:coreProperties>
</file>