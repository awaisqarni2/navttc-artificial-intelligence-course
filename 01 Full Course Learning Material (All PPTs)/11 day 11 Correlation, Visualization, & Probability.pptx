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8" r:id="rId3"/>
    <p:sldId id="271" r:id="rId4"/>
    <p:sldId id="257" r:id="rId5"/>
    <p:sldId id="263" r:id="rId6"/>
    <p:sldId id="272" r:id="rId7"/>
    <p:sldId id="274" r:id="rId8"/>
    <p:sldId id="275" r:id="rId9"/>
    <p:sldId id="27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4660"/>
  </p:normalViewPr>
  <p:slideViewPr>
    <p:cSldViewPr snapToGrid="0">
      <p:cViewPr varScale="1">
        <p:scale>
          <a:sx n="58" d="100"/>
          <a:sy n="58" d="100"/>
        </p:scale>
        <p:origin x="34" y="1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C3F0E-CB91-44A4-A65C-78B595A841C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29299-3067-472C-A359-710672C1A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5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F45219-9278-79FE-FC69-08E71569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8FDB54E-3BA8-38AE-16B5-B66773D56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C578104-2F47-D8B7-F308-90592F48D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79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9CAADB4-2772-16E7-7861-142E6C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1AA40E2-3370-E340-2FFF-96365505A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1908573-AFF8-1F16-B4AA-55930B211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944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21E38A0-FB29-BB87-7136-898ADB56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5EBFE2D-1A87-6F37-E474-135C1E630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EB9C112-26DD-CDCD-CA75-5DE51AA8F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1833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FCB7A36-8047-12C3-92CC-068E4A52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82EE1D3-87A3-A2A0-1C50-B02DA8BE8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652F72-4832-C66D-8F11-F6F60FAFE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194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442C-A62F-F8A2-F269-EDC7A6A8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AE005-23D3-8C25-7D70-69CBEB63B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EADB-7A15-2EDE-2457-AE6242B5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5A9D-D8A2-3B2F-3B8D-704BA4C9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8A5F3-F83E-6284-6E2F-8EE763F1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6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CB6-D1E2-644B-1925-03505617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8A80-AC0B-209A-2DFA-F53A22B0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8C3F9-9A8F-CF44-9737-726B8274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C5F0-CB5A-0D7B-B1C1-19D9864E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380BB-C7F5-9172-8DDD-20C43213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FA2A-BD14-4DFB-FA3A-0528F736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9DDBF-A193-2D42-4A23-4A473D48F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E0F90-AFA9-7C2C-D6EF-ECD4D1FA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E41B-7CE0-FBA4-D794-F99253D0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E242-44AF-A9EA-C77D-945FAEE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1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F4A7-82FD-85AF-B7A3-F7D48B1F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58DE-95E9-FA1B-E055-8C5A96083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E5591-6A2E-9689-7142-7D349B83F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C1238-EB1D-A8C1-59DA-F2F46A98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88CA6-813D-9960-F5CC-5073C91F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2D92-E3E7-2E7F-B69A-6D956F3F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9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B5FB-5942-0BC6-D411-2C66DFE0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EF6ED-469B-38C1-1AE7-A4D01C2B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63597-3170-6381-4EE3-C3688C27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2D96D-CB8E-6120-7EDE-B2442D19C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B07A4-1C35-042C-61CA-4DD06E6B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FA367-A95F-833B-C80A-BAF0CE42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8EB63-1B51-4416-32CB-124D2A0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BDC82-678C-DBB6-77D1-1859C9F8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2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EE1C-7F56-7CA3-3D7F-2B17D1AC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5192-32BD-ACA3-BF08-59FCE2BB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F6246-B4A5-F629-6CBC-14BB771D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08AE2-72F1-7033-0CC4-34190A8E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7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642CC-7DBF-40EA-8514-D7B5A7D9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8AC84-63FE-55C8-98C9-C5B030A6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E5DF6-2996-2F15-267E-C4E62419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F859-D38D-0A06-6CCF-9C6BE0F9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64EA-5AEB-7D49-90C9-312E26BC8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49366-48D9-D17F-19A9-8168B2421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E774B-B3FE-ED27-7438-F20E7125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F8E81-5D40-BD79-CC91-6361CFC8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5AFA0-A3B2-B37D-C599-79E37A36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2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02AB-7B6A-EB62-BC19-C58EDEF2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2BEC1-8D3D-2D17-619C-02C43930E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CC08C-0808-D326-0289-43D2F20D6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8B077-2226-FC48-C6BF-949F6BBE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99AEE-88A4-2D5E-DC99-640E172D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E8D13-0280-6D41-864F-1B84BF50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5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BC17-8D54-D4A3-9366-53F7D55D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2433A-8DB5-E749-3DF6-B49B516AE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5825-AE88-AD85-DBE6-09C9CC78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43354-37B7-91EB-D928-447E3B24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851BE-99AE-8443-2F6E-E2831B54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E0B60C-E5BB-9082-FEF7-C388DD7F8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F822-6388-B513-24D4-CB6844BC1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4C85-EEBC-140A-AE8F-23F8D007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E9F70-0D7B-6CB2-A4FE-68467312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57EC2-5D02-A28A-4C75-2740E38E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8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9710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335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04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7125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872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6926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97991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516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370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90540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8784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7947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36121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01121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1127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0219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2651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1156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6033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78474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030322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875741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87796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05587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94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DBFBD-B2B3-C53F-75E1-96769D97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67711-32FB-28E5-CAD7-4956C95C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EB99-AFFD-A6A0-F55B-FD4A3BE43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5823-89E2-8376-2093-5B266E5B6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A2CF2-DD39-ADE1-7662-9C19EE6C7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15332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Relationships: Correlation, Visualization, &amp; Probability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072014" y="2445836"/>
            <a:ext cx="9708621" cy="23132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Numbers tell a story, but relationships reveal the plot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61532967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Correlation Coefficient (Connecting the dots).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Univariate, Bivariate, and Multivariate Plots.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Probability in AI.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the automated pipeline.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Correlation: </a:t>
            </a:r>
            <a:r>
              <a:rPr lang="en-US" sz="1600" dirty="0"/>
              <a:t>A statistical measure (ranging from -1.0 to +1.0) that calculates the strength and direction of the relationship between two variables.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Positive Correlation: (+1.0)</a:t>
            </a:r>
          </a:p>
          <a:p>
            <a:pPr marL="0" indent="0"/>
            <a:r>
              <a:rPr lang="en-US" sz="1600" dirty="0"/>
              <a:t>As study hours go UP, exam scores go UP. (Normal, expected behavior)As social media followers go UP, sponsored deals often go UP.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Negative Correlation: (-1.0)</a:t>
            </a:r>
          </a:p>
          <a:p>
            <a:pPr marL="0" indent="0"/>
            <a:r>
              <a:rPr lang="en-US" sz="1600" dirty="0"/>
              <a:t>As time spent on video games goes UP, battery of your phone goes DOWN.As distance from the fridge goes UP, snack consumption goes DOWN.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Zero Correlation: (0.0) </a:t>
            </a:r>
          </a:p>
          <a:p>
            <a:pPr marL="0" indent="0"/>
            <a:r>
              <a:rPr lang="en-US" sz="1600" dirty="0"/>
              <a:t>Favorite ice cream flavor vs. math test score. (No logical link)Number of pets vs. amount of sleep last night.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4185920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The Correlation Coefficient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109F372-3B7C-9C64-F296-A391B98C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CB2799E9-10C5-7BA7-4696-C7BEA5A757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A3747559-7005-8CB7-87D4-FBB1A1534597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538358BE-8F32-3D9F-FD26-257D56C7D251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9A6B3BC-BC25-8420-3D17-CFDC3298D91F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6A8F7-4648-55C7-E791-1B4EE4588938}"/>
              </a:ext>
            </a:extLst>
          </p:cNvPr>
          <p:cNvSpPr txBox="1"/>
          <p:nvPr/>
        </p:nvSpPr>
        <p:spPr>
          <a:xfrm>
            <a:off x="4185920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The Correlation Coefficient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D57A6-278E-12EF-C234-25DB5108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23" y="2296167"/>
            <a:ext cx="6937610" cy="21424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A06B49-2026-CFAA-EDD2-C59D8D529093}"/>
              </a:ext>
            </a:extLst>
          </p:cNvPr>
          <p:cNvSpPr txBox="1"/>
          <p:nvPr/>
        </p:nvSpPr>
        <p:spPr>
          <a:xfrm>
            <a:off x="1520999" y="4999533"/>
            <a:ext cx="9587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 part (Numerator) is just checking if X and Y move in the same direction. The bottom part (Denominator) normalizes the score so the final answer is always trapped perfectly between -1.0 and +1.0."</a:t>
            </a:r>
          </a:p>
        </p:txBody>
      </p:sp>
    </p:spTree>
    <p:extLst>
      <p:ext uri="{BB962C8B-B14F-4D97-AF65-F5344CB8AC3E}">
        <p14:creationId xmlns:p14="http://schemas.microsoft.com/office/powerpoint/2010/main" val="311386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38FA42A-638E-9E11-2C71-EF85284E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752914A-A5CC-0CE0-D520-9AD71BD8E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0FBC940-6ED1-DA20-2D19-E6443865A86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Univariate (One Variable):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Looking at just one thing. (e.g., A histogram of just Wealth).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the spread and outliers.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Bivariate (Two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two things to see their correlation.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the X-axis, Taxes Paid on the Y-axis).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relationships.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Multivariate (Three+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many things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X, Taxes on Y, and colored dots based on their City).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complex AI patterns.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D31B8C02-4692-5119-A8B3-D7988F7787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ED990103-3EDF-002F-086F-1FB0D70631D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90AC662A-7EEF-DED3-ADF5-20B1675D6BD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0B81CABB-50A1-8BEA-5F4F-0E10EEEF8BC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95F8A-6CD7-13CB-37AF-C74A34FEB557}"/>
              </a:ext>
            </a:extLst>
          </p:cNvPr>
          <p:cNvSpPr txBox="1"/>
          <p:nvPr/>
        </p:nvSpPr>
        <p:spPr>
          <a:xfrm>
            <a:off x="3099241" y="16635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Univariate, Bivariate, &amp; Multivariate Plots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4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D62908C-44D1-526C-49B9-2D7797C7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8A09C902-8A2E-A271-7763-A3288FEF7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B1932FA4-35DE-6C90-39A4-5822679CDBB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Univariate (One Variable):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Looking at just one thing. (e.g., A histogram of just Wealth).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the spread and outliers.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Bivariate (Two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two things to see their correlation.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the X-axis, Taxes Paid on the Y-axis).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relationships.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Multivariate (Three+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many things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X, Taxes on Y, and colored dots based on their City).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complex AI patterns.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163BF1B-88B2-49F5-DDE9-17D1B77A399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2C9F137A-241A-193F-A83E-3AEC1E7F14F3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F9E026E-9152-1BBB-EA30-2330FF9F7ED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3720F380-D65E-5607-8A88-8B7BA03DF8C8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F3473-2E8E-0CE3-87D3-EFC490FB5D1B}"/>
              </a:ext>
            </a:extLst>
          </p:cNvPr>
          <p:cNvSpPr txBox="1"/>
          <p:nvPr/>
        </p:nvSpPr>
        <p:spPr>
          <a:xfrm>
            <a:off x="3099241" y="16635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Univariate, Bivariate, &amp; Multivariate Plots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82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E05FF2B-E160-4883-2B9C-191B0EE0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440DE52-5B00-AB32-1D3D-21525FB0E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DF7BECD-D5B8-4011-5860-7D1ADC7C14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The mathematical calculation of how likely an event is to occur, expressed as a number between 0 (impossible) and 1 (guaranteed).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We have 10,000 tax returns. We know historically that 500 of them contain errors, and 100 of them are intentional fraud.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If we randomly select one tax return, what is the Probability it is fraudulent?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AI doesn't make absolute statements. An AI doesn't say "This guy is guilty." An AI says, "Based on his </a:t>
            </a:r>
            <a:r>
              <a:rPr lang="en-US" sz="1600" dirty="0">
                <a:solidFill>
                  <a:schemeClr val="accent1"/>
                </a:solidFill>
              </a:rPr>
              <a:t>Correlation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dirty="0">
                <a:solidFill>
                  <a:schemeClr val="accent3"/>
                </a:solidFill>
              </a:rPr>
              <a:t>Z-Score</a:t>
            </a:r>
            <a:r>
              <a:rPr lang="en-US" sz="1600" dirty="0">
                <a:solidFill>
                  <a:schemeClr val="tx1"/>
                </a:solidFill>
              </a:rPr>
              <a:t>, there is a </a:t>
            </a:r>
            <a:r>
              <a:rPr lang="en-US" sz="1600" dirty="0">
                <a:solidFill>
                  <a:schemeClr val="accent4"/>
                </a:solidFill>
              </a:rPr>
              <a:t>94% Probability </a:t>
            </a:r>
            <a:r>
              <a:rPr lang="en-US" sz="1600" dirty="0">
                <a:solidFill>
                  <a:schemeClr val="tx1"/>
                </a:solidFill>
              </a:rPr>
              <a:t>this return is fraudulent."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E2F1443F-667D-5A89-8276-165F1F4078A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8ED4346-DC3C-C2B2-2414-5448684F8626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2F7DD9C-A71F-F020-135A-9249F131B029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1B6B7FD-0077-4932-D231-2741C6812337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DCFB5-192B-ECAF-A21F-A41AF82B45FA}"/>
              </a:ext>
            </a:extLst>
          </p:cNvPr>
          <p:cNvSpPr txBox="1"/>
          <p:nvPr/>
        </p:nvSpPr>
        <p:spPr>
          <a:xfrm>
            <a:off x="3205258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Introduction to Probability in AI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E3506-6A74-5870-21E5-A910C752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55" y="5663311"/>
            <a:ext cx="3505689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740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7</cp:revision>
  <dcterms:created xsi:type="dcterms:W3CDTF">2026-03-01T20:13:12Z</dcterms:created>
  <dcterms:modified xsi:type="dcterms:W3CDTF">2026-03-01T21:45:21Z</dcterms:modified>
</cp:coreProperties>
</file>