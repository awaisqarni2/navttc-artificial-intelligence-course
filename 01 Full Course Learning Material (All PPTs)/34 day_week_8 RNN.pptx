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258" r:id="rId3"/>
    <p:sldId id="257" r:id="rId4"/>
    <p:sldId id="275" r:id="rId5"/>
    <p:sldId id="28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259"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6" d="100"/>
          <a:sy n="86" d="100"/>
        </p:scale>
        <p:origin x="102"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C99B2F-13C3-4916-9AE2-773954F7FF95}"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32A58F-A9F4-4EDD-94B3-A9547EE997E3}" type="slidenum">
              <a:rPr lang="en-US" smtClean="0"/>
              <a:t>‹#›</a:t>
            </a:fld>
            <a:endParaRPr lang="en-US"/>
          </a:p>
        </p:txBody>
      </p:sp>
    </p:spTree>
    <p:extLst>
      <p:ext uri="{BB962C8B-B14F-4D97-AF65-F5344CB8AC3E}">
        <p14:creationId xmlns:p14="http://schemas.microsoft.com/office/powerpoint/2010/main" val="169520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6" name="Google Shape;23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13be7910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213be7910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44510CBC-CBD4-7FA5-5018-FDCB3BD85A88}"/>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AD33713A-80D5-8FCF-C31F-CBCBB27531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EDEF5084-F53F-BF3C-FDE4-1399D44B45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13037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FE530A6E-4ED8-E9CF-A35E-5E4D5D6A74DF}"/>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9B113993-6107-7FFF-7333-55BA15A75E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BBE5FD32-9CB6-EE0E-E53B-C1546F2140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6053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56E969B7-6F75-CE90-6A16-984ED28ED280}"/>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AC2E1510-867B-EB03-A300-F1FF4F9CD9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150C90C2-45B3-8425-5F47-78C518C557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7037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CD3114DA-BBD7-ED99-D76A-70912B434CD1}"/>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05FCC17A-30CA-2550-B49F-03F6CB98C7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E85F304B-CCA3-9440-F724-E5B6DA9A3D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64278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3D8B0565-75A3-F535-0EA8-CC2E522A6CE3}"/>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2512EBAE-AE71-8F9C-3EDD-372B78F6BF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88FF6ED5-8345-F226-24C5-877E114CC1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7176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6CA1DB0C-82FE-C63B-FB02-FE7343001E90}"/>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08014724-6500-186E-0FD8-AD929F82C7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54D8D34E-7C9D-7CA7-FCF1-B146CA37E8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85602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44CB25CC-BC15-9B8A-E286-AE800567E4F8}"/>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51D05371-8019-5763-9498-1212B58F9E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A2B6F66A-6261-792A-D532-768F2C741E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1080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7E7DDBF9-1A5A-33F1-D0CB-13C465ACF34A}"/>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E2A10DB2-44B2-D632-706E-C49D0AF33B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C33AAC0D-1E59-5DAF-B0EC-E6232E7B42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08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48AE23D3-3AFA-700B-BA11-278ABED8FEAD}"/>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15BBAB68-F5FC-8041-9989-0179F5EB1D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30AEDA3A-5C2C-0247-72B0-33E810FD3E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75422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F8A2789B-3A5F-2984-7DE6-35BCAB9E7B70}"/>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25B830D0-39EC-C6DA-D645-890B9D736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757FDA8D-6E02-AEEE-EFD4-34AA6DCC34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73391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272C0525-07DB-3B26-898F-57C09690BF29}"/>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84D538AC-FD26-FA97-8B41-167C897F37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96F463FA-6E68-A106-C48D-FEAFEE5E4E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950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B7C98704-AB38-C5CE-1952-C0899088EBA8}"/>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2F8234D1-F285-BBBF-70A9-FCBA699CF3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8EEAE7EA-73AE-4897-C74A-204FAE75DE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4898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C880650F-860B-A929-93DE-2214F7A2210A}"/>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A2550BE7-95E6-5E35-6B78-A560FFE96B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6E45347D-6EC2-214D-4A46-8A316500A5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63285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B1F74EAF-512E-545B-1219-E035D8C69B06}"/>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7B3A5979-972B-62D2-9C5D-FEF155034E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B03462FA-6685-7879-A088-AE9EFB0AB4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6703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9E90E776-8815-E979-51A4-A3D12AD722BB}"/>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6B016115-0E07-F4BC-D24B-C4FA4C9C17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A0644ECD-21BF-9BA8-11D6-E2EF56CC31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336520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BC0BB458-3BE5-0878-CC6F-AEF439103B19}"/>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B61A955E-17B3-FACA-A27C-69B619149C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D4F30843-E15E-75D1-2ECC-A72F6BCA7A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62067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578D44AB-36DE-59C8-59FE-B79ADB027D8A}"/>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0E468273-DB0D-6CFB-4D86-5EF75A901D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33ACE41F-76CE-1C9D-4E61-24574D90B5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4543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32533ED8-A19E-3C1D-E238-BE2F564E7A91}"/>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A6216B74-07A8-3103-2057-1C2C504B10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BD321187-28B2-F976-48E6-F43F186DBE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6896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F6266D6F-821B-F616-E1A1-588D9E71BF12}"/>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EFB8CC54-157E-2335-B763-0BAF37FD16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5419230F-DAFB-F7C1-8C46-07396AFE8C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7773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73F6FFB6-D5DD-3312-E448-7771105B799D}"/>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77BE4343-2CC7-50BC-EADB-89449244CF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2D106C40-2EA3-3D34-9B66-5EC6D31892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596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80DEDFDA-8E45-EB32-BC0B-0328E9ECB957}"/>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33FE1F80-FDE1-CB83-49B6-20B8D89D4A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658AB297-99FA-B996-EA45-039F4F237C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51716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488F5A01-CC2F-7EB9-CA6D-6FCF69411563}"/>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6E79AAF8-289E-727D-E260-67F864D545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426CAA68-8A83-5F6A-0669-EAB0C698D7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17877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F3B9D76F-BCFD-8A4E-A6BD-573B65539801}"/>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0D193BC2-C038-A9EC-E722-38C11AC27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A4DC1DFC-806B-0DDA-2EB1-ABC3435830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79962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B90CFB86-0C6E-DB33-7D0F-804F2CB10808}"/>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DAEDEF9F-8C72-41B5-8795-B7A1753912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F9B30C8B-A4AB-4A91-1DB9-0BDA9CAC1E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72665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714819E7-FDC4-D84C-8428-A15B63B52D22}"/>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61F37266-45C6-DF3E-CE65-BB0D1C4C60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26061031-9D7A-1670-7A7D-8E3C70E50F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90146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50" name="Google Shape;35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047651" y="3021933"/>
            <a:ext cx="8847600" cy="16032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3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3" name="Google Shape;13;p3"/>
          <p:cNvSpPr txBox="1">
            <a:spLocks noGrp="1"/>
          </p:cNvSpPr>
          <p:nvPr>
            <p:ph type="title" idx="2" hasCustomPrompt="1"/>
          </p:nvPr>
        </p:nvSpPr>
        <p:spPr>
          <a:xfrm>
            <a:off x="1317484" y="1800733"/>
            <a:ext cx="2202800" cy="1221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latin typeface="Fira Code"/>
                <a:ea typeface="Fira Code"/>
                <a:cs typeface="Fira Code"/>
                <a:sym typeface="Fira Code"/>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4" name="Google Shape;14;p3"/>
          <p:cNvSpPr txBox="1">
            <a:spLocks noGrp="1"/>
          </p:cNvSpPr>
          <p:nvPr>
            <p:ph type="subTitle" idx="1"/>
          </p:nvPr>
        </p:nvSpPr>
        <p:spPr>
          <a:xfrm>
            <a:off x="2773533" y="4625133"/>
            <a:ext cx="8058400" cy="3776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 name="Google Shape;15;p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 name="Google Shape;16;p3"/>
          <p:cNvGrpSpPr/>
          <p:nvPr/>
        </p:nvGrpSpPr>
        <p:grpSpPr>
          <a:xfrm>
            <a:off x="11085100" y="470668"/>
            <a:ext cx="630800" cy="248667"/>
            <a:chOff x="7059675" y="514525"/>
            <a:chExt cx="473100" cy="186500"/>
          </a:xfrm>
        </p:grpSpPr>
        <p:cxnSp>
          <p:nvCxnSpPr>
            <p:cNvPr id="17" name="Google Shape;17;p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9" name="Google Shape;19;p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786883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 name="Google Shape;22;p4"/>
          <p:cNvGrpSpPr/>
          <p:nvPr/>
        </p:nvGrpSpPr>
        <p:grpSpPr>
          <a:xfrm>
            <a:off x="11186383" y="239909"/>
            <a:ext cx="648524" cy="167587"/>
            <a:chOff x="-890300" y="1406550"/>
            <a:chExt cx="806088" cy="208200"/>
          </a:xfrm>
        </p:grpSpPr>
        <p:sp>
          <p:nvSpPr>
            <p:cNvPr id="23" name="Google Shape;23;p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6" name="Google Shape;26;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7" name="Google Shape;27;p4"/>
          <p:cNvSpPr txBox="1">
            <a:spLocks noGrp="1"/>
          </p:cNvSpPr>
          <p:nvPr>
            <p:ph type="body" idx="1"/>
          </p:nvPr>
        </p:nvSpPr>
        <p:spPr>
          <a:xfrm>
            <a:off x="960000" y="1621000"/>
            <a:ext cx="10272000" cy="3751600"/>
          </a:xfrm>
          <a:prstGeom prst="rect">
            <a:avLst/>
          </a:prstGeom>
        </p:spPr>
        <p:txBody>
          <a:bodyPr spcFirstLastPara="1" wrap="square" lIns="91425" tIns="91425" rIns="91425" bIns="91425" anchor="t" anchorCtr="0">
            <a:noAutofit/>
          </a:bodyPr>
          <a:lstStyle>
            <a:lvl1pPr marL="609570" lvl="0" indent="-423312" rtl="0">
              <a:spcBef>
                <a:spcPts val="0"/>
              </a:spcBef>
              <a:spcAft>
                <a:spcPts val="0"/>
              </a:spcAft>
              <a:buSzPts val="1400"/>
              <a:buFont typeface="Nunito Light"/>
              <a:buChar char="●"/>
              <a:defRPr sz="1600"/>
            </a:lvl1pPr>
            <a:lvl2pPr marL="1219140" lvl="1" indent="-423312" rtl="0">
              <a:lnSpc>
                <a:spcPct val="100000"/>
              </a:lnSpc>
              <a:spcBef>
                <a:spcPts val="0"/>
              </a:spcBef>
              <a:spcAft>
                <a:spcPts val="0"/>
              </a:spcAft>
              <a:buSzPts val="1400"/>
              <a:buFont typeface="Nunito Light"/>
              <a:buChar char="○"/>
              <a:defRPr/>
            </a:lvl2pPr>
            <a:lvl3pPr marL="1828709" lvl="2" indent="-423312" rtl="0">
              <a:lnSpc>
                <a:spcPct val="100000"/>
              </a:lnSpc>
              <a:spcBef>
                <a:spcPts val="0"/>
              </a:spcBef>
              <a:spcAft>
                <a:spcPts val="0"/>
              </a:spcAft>
              <a:buSzPts val="1400"/>
              <a:buFont typeface="Nunito Light"/>
              <a:buChar char="■"/>
              <a:defRPr/>
            </a:lvl3pPr>
            <a:lvl4pPr marL="2438278" lvl="3" indent="-423312" rtl="0">
              <a:lnSpc>
                <a:spcPct val="100000"/>
              </a:lnSpc>
              <a:spcBef>
                <a:spcPts val="0"/>
              </a:spcBef>
              <a:spcAft>
                <a:spcPts val="0"/>
              </a:spcAft>
              <a:buSzPts val="1400"/>
              <a:buFont typeface="Nunito Light"/>
              <a:buChar char="●"/>
              <a:defRPr/>
            </a:lvl4pPr>
            <a:lvl5pPr marL="3047848" lvl="4" indent="-423312" rtl="0">
              <a:lnSpc>
                <a:spcPct val="100000"/>
              </a:lnSpc>
              <a:spcBef>
                <a:spcPts val="0"/>
              </a:spcBef>
              <a:spcAft>
                <a:spcPts val="0"/>
              </a:spcAft>
              <a:buSzPts val="1400"/>
              <a:buFont typeface="Nunito Light"/>
              <a:buChar char="○"/>
              <a:defRPr/>
            </a:lvl5pPr>
            <a:lvl6pPr marL="3657418" lvl="5" indent="-423312" rtl="0">
              <a:lnSpc>
                <a:spcPct val="100000"/>
              </a:lnSpc>
              <a:spcBef>
                <a:spcPts val="0"/>
              </a:spcBef>
              <a:spcAft>
                <a:spcPts val="0"/>
              </a:spcAft>
              <a:buSzPts val="1400"/>
              <a:buFont typeface="Nunito Light"/>
              <a:buChar char="■"/>
              <a:defRPr/>
            </a:lvl6pPr>
            <a:lvl7pPr marL="4266987" lvl="6" indent="-423312" rtl="0">
              <a:lnSpc>
                <a:spcPct val="100000"/>
              </a:lnSpc>
              <a:spcBef>
                <a:spcPts val="0"/>
              </a:spcBef>
              <a:spcAft>
                <a:spcPts val="0"/>
              </a:spcAft>
              <a:buSzPts val="1400"/>
              <a:buFont typeface="Nunito Light"/>
              <a:buChar char="●"/>
              <a:defRPr/>
            </a:lvl7pPr>
            <a:lvl8pPr marL="4876557" lvl="7" indent="-423312" rtl="0">
              <a:lnSpc>
                <a:spcPct val="100000"/>
              </a:lnSpc>
              <a:spcBef>
                <a:spcPts val="0"/>
              </a:spcBef>
              <a:spcAft>
                <a:spcPts val="0"/>
              </a:spcAft>
              <a:buSzPts val="1400"/>
              <a:buFont typeface="Nunito Light"/>
              <a:buChar char="○"/>
              <a:defRPr/>
            </a:lvl8pPr>
            <a:lvl9pPr marL="5486126" lvl="8" indent="-423312" rtl="0">
              <a:lnSpc>
                <a:spcPct val="100000"/>
              </a:lnSpc>
              <a:spcBef>
                <a:spcPts val="0"/>
              </a:spcBef>
              <a:spcAft>
                <a:spcPts val="0"/>
              </a:spcAft>
              <a:buSzPts val="14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4204056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29" name="Google Shape;29;p5"/>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0" name="Google Shape;30;p5"/>
          <p:cNvGrpSpPr/>
          <p:nvPr/>
        </p:nvGrpSpPr>
        <p:grpSpPr>
          <a:xfrm>
            <a:off x="11186383" y="239909"/>
            <a:ext cx="648524" cy="167587"/>
            <a:chOff x="-890300" y="1406550"/>
            <a:chExt cx="806088" cy="208200"/>
          </a:xfrm>
        </p:grpSpPr>
        <p:sp>
          <p:nvSpPr>
            <p:cNvPr id="31" name="Google Shape;31;p5"/>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5"/>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5"/>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 name="Google Shape;34;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5" name="Google Shape;35;p5"/>
          <p:cNvSpPr txBox="1">
            <a:spLocks noGrp="1"/>
          </p:cNvSpPr>
          <p:nvPr>
            <p:ph type="subTitle" idx="1"/>
          </p:nvPr>
        </p:nvSpPr>
        <p:spPr>
          <a:xfrm>
            <a:off x="705672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6" name="Google Shape;36;p5"/>
          <p:cNvSpPr txBox="1">
            <a:spLocks noGrp="1"/>
          </p:cNvSpPr>
          <p:nvPr>
            <p:ph type="subTitle" idx="2"/>
          </p:nvPr>
        </p:nvSpPr>
        <p:spPr>
          <a:xfrm>
            <a:off x="211426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7" name="Google Shape;37;p5"/>
          <p:cNvSpPr txBox="1">
            <a:spLocks noGrp="1"/>
          </p:cNvSpPr>
          <p:nvPr>
            <p:ph type="subTitle" idx="3"/>
          </p:nvPr>
        </p:nvSpPr>
        <p:spPr>
          <a:xfrm>
            <a:off x="6651249"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38" name="Google Shape;38;p5"/>
          <p:cNvSpPr txBox="1">
            <a:spLocks noGrp="1"/>
          </p:cNvSpPr>
          <p:nvPr>
            <p:ph type="subTitle" idx="4"/>
          </p:nvPr>
        </p:nvSpPr>
        <p:spPr>
          <a:xfrm>
            <a:off x="1708483"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1684302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9"/>
        <p:cNvGrpSpPr/>
        <p:nvPr/>
      </p:nvGrpSpPr>
      <p:grpSpPr>
        <a:xfrm>
          <a:off x="0" y="0"/>
          <a:ext cx="0" cy="0"/>
          <a:chOff x="0" y="0"/>
          <a:chExt cx="0" cy="0"/>
        </a:xfrm>
      </p:grpSpPr>
      <p:sp>
        <p:nvSpPr>
          <p:cNvPr id="40" name="Google Shape;40;p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1" name="Google Shape;41;p6"/>
          <p:cNvGrpSpPr/>
          <p:nvPr/>
        </p:nvGrpSpPr>
        <p:grpSpPr>
          <a:xfrm>
            <a:off x="11186383" y="239909"/>
            <a:ext cx="648524" cy="167587"/>
            <a:chOff x="-890300" y="1406550"/>
            <a:chExt cx="806088" cy="208200"/>
          </a:xfrm>
        </p:grpSpPr>
        <p:sp>
          <p:nvSpPr>
            <p:cNvPr id="42" name="Google Shape;42;p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 name="Google Shape;45;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1672967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4"/>
        <p:cNvGrpSpPr/>
        <p:nvPr/>
      </p:nvGrpSpPr>
      <p:grpSpPr>
        <a:xfrm>
          <a:off x="0" y="0"/>
          <a:ext cx="0" cy="0"/>
          <a:chOff x="0" y="0"/>
          <a:chExt cx="0" cy="0"/>
        </a:xfrm>
      </p:grpSpPr>
      <p:sp>
        <p:nvSpPr>
          <p:cNvPr id="55" name="Google Shape;55;p8"/>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6" name="Google Shape;56;p8"/>
          <p:cNvGrpSpPr/>
          <p:nvPr/>
        </p:nvGrpSpPr>
        <p:grpSpPr>
          <a:xfrm>
            <a:off x="10746533" y="595001"/>
            <a:ext cx="630800" cy="248667"/>
            <a:chOff x="7059675" y="514525"/>
            <a:chExt cx="473100" cy="186500"/>
          </a:xfrm>
        </p:grpSpPr>
        <p:cxnSp>
          <p:nvCxnSpPr>
            <p:cNvPr id="57" name="Google Shape;57;p8"/>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8"/>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9" name="Google Shape;59;p8"/>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0" name="Google Shape;60;p8"/>
          <p:cNvSpPr txBox="1">
            <a:spLocks noGrp="1"/>
          </p:cNvSpPr>
          <p:nvPr>
            <p:ph type="title"/>
          </p:nvPr>
        </p:nvSpPr>
        <p:spPr>
          <a:xfrm>
            <a:off x="5807000" y="1742800"/>
            <a:ext cx="54340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96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1088490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9"/>
        <p:cNvGrpSpPr/>
        <p:nvPr/>
      </p:nvGrpSpPr>
      <p:grpSpPr>
        <a:xfrm>
          <a:off x="0" y="0"/>
          <a:ext cx="0" cy="0"/>
          <a:chOff x="0" y="0"/>
          <a:chExt cx="0" cy="0"/>
        </a:xfrm>
      </p:grpSpPr>
      <p:sp>
        <p:nvSpPr>
          <p:cNvPr id="70" name="Google Shape;70;p10"/>
          <p:cNvSpPr>
            <a:spLocks noGrp="1"/>
          </p:cNvSpPr>
          <p:nvPr>
            <p:ph type="pic" idx="2"/>
          </p:nvPr>
        </p:nvSpPr>
        <p:spPr>
          <a:xfrm>
            <a:off x="-33" y="-18300"/>
            <a:ext cx="12192000" cy="6876400"/>
          </a:xfrm>
          <a:prstGeom prst="rect">
            <a:avLst/>
          </a:prstGeom>
          <a:noFill/>
          <a:ln>
            <a:noFill/>
          </a:ln>
        </p:spPr>
        <p:txBody>
          <a:bodyPr/>
          <a:lstStyle/>
          <a:p>
            <a:r>
              <a:rPr lang="en-US"/>
              <a:t>Click icon to add picture</a:t>
            </a:r>
          </a:p>
        </p:txBody>
      </p:sp>
      <p:sp>
        <p:nvSpPr>
          <p:cNvPr id="71" name="Google Shape;71;p10"/>
          <p:cNvSpPr txBox="1">
            <a:spLocks noGrp="1"/>
          </p:cNvSpPr>
          <p:nvPr>
            <p:ph type="title"/>
          </p:nvPr>
        </p:nvSpPr>
        <p:spPr>
          <a:xfrm>
            <a:off x="960000" y="5352600"/>
            <a:ext cx="10272000" cy="7636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3500"/>
              <a:buNone/>
              <a:defRPr sz="3733"/>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25248036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72"/>
        <p:cNvGrpSpPr/>
        <p:nvPr/>
      </p:nvGrpSpPr>
      <p:grpSpPr>
        <a:xfrm>
          <a:off x="0" y="0"/>
          <a:ext cx="0" cy="0"/>
          <a:chOff x="0" y="0"/>
          <a:chExt cx="0" cy="0"/>
        </a:xfrm>
      </p:grpSpPr>
      <p:sp>
        <p:nvSpPr>
          <p:cNvPr id="73" name="Google Shape;73;p11"/>
          <p:cNvSpPr txBox="1">
            <a:spLocks noGrp="1"/>
          </p:cNvSpPr>
          <p:nvPr>
            <p:ph type="title" hasCustomPrompt="1"/>
          </p:nvPr>
        </p:nvSpPr>
        <p:spPr>
          <a:xfrm>
            <a:off x="1360817" y="1780133"/>
            <a:ext cx="9470400" cy="21044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solidFill>
                  <a:schemeClr val="accent4"/>
                </a:solidFill>
              </a:defRPr>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74" name="Google Shape;74;p11"/>
          <p:cNvSpPr txBox="1">
            <a:spLocks noGrp="1"/>
          </p:cNvSpPr>
          <p:nvPr>
            <p:ph type="subTitle" idx="1"/>
          </p:nvPr>
        </p:nvSpPr>
        <p:spPr>
          <a:xfrm>
            <a:off x="1360784" y="4125967"/>
            <a:ext cx="9470400" cy="6204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1600"/>
              <a:buNone/>
              <a:defRPr sz="25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
        <p:nvSpPr>
          <p:cNvPr id="75" name="Google Shape;75;p1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6" name="Google Shape;76;p11"/>
          <p:cNvGrpSpPr/>
          <p:nvPr/>
        </p:nvGrpSpPr>
        <p:grpSpPr>
          <a:xfrm>
            <a:off x="10746533" y="595001"/>
            <a:ext cx="630800" cy="248667"/>
            <a:chOff x="7059675" y="514525"/>
            <a:chExt cx="473100" cy="186500"/>
          </a:xfrm>
        </p:grpSpPr>
        <p:cxnSp>
          <p:nvCxnSpPr>
            <p:cNvPr id="77" name="Google Shape;77;p1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8" name="Google Shape;78;p1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9" name="Google Shape;79;p1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6356967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0"/>
        <p:cNvGrpSpPr/>
        <p:nvPr/>
      </p:nvGrpSpPr>
      <p:grpSpPr>
        <a:xfrm>
          <a:off x="0" y="0"/>
          <a:ext cx="0" cy="0"/>
          <a:chOff x="0" y="0"/>
          <a:chExt cx="0" cy="0"/>
        </a:xfrm>
      </p:grpSpPr>
    </p:spTree>
    <p:extLst>
      <p:ext uri="{BB962C8B-B14F-4D97-AF65-F5344CB8AC3E}">
        <p14:creationId xmlns:p14="http://schemas.microsoft.com/office/powerpoint/2010/main" val="497405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1"/>
        <p:cNvGrpSpPr/>
        <p:nvPr/>
      </p:nvGrpSpPr>
      <p:grpSpPr>
        <a:xfrm>
          <a:off x="0" y="0"/>
          <a:ext cx="0" cy="0"/>
          <a:chOff x="0" y="0"/>
          <a:chExt cx="0" cy="0"/>
        </a:xfrm>
      </p:grpSpPr>
      <p:sp>
        <p:nvSpPr>
          <p:cNvPr id="82" name="Google Shape;82;p1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3" name="Google Shape;83;p13"/>
          <p:cNvGrpSpPr/>
          <p:nvPr/>
        </p:nvGrpSpPr>
        <p:grpSpPr>
          <a:xfrm>
            <a:off x="11186383" y="239909"/>
            <a:ext cx="648524" cy="167587"/>
            <a:chOff x="-890300" y="1406550"/>
            <a:chExt cx="806088" cy="208200"/>
          </a:xfrm>
        </p:grpSpPr>
        <p:sp>
          <p:nvSpPr>
            <p:cNvPr id="84" name="Google Shape;84;p13"/>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13"/>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13"/>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7" name="Google Shape;87;p13"/>
          <p:cNvSpPr txBox="1">
            <a:spLocks noGrp="1"/>
          </p:cNvSpPr>
          <p:nvPr>
            <p:ph type="title"/>
          </p:nvPr>
        </p:nvSpPr>
        <p:spPr>
          <a:xfrm>
            <a:off x="950967" y="593367"/>
            <a:ext cx="1028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88" name="Google Shape;88;p13"/>
          <p:cNvSpPr txBox="1">
            <a:spLocks noGrp="1"/>
          </p:cNvSpPr>
          <p:nvPr>
            <p:ph type="subTitle" idx="1"/>
          </p:nvPr>
        </p:nvSpPr>
        <p:spPr>
          <a:xfrm>
            <a:off x="3296000" y="244393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9" name="Google Shape;89;p13"/>
          <p:cNvSpPr txBox="1">
            <a:spLocks noGrp="1"/>
          </p:cNvSpPr>
          <p:nvPr>
            <p:ph type="subTitle" idx="2"/>
          </p:nvPr>
        </p:nvSpPr>
        <p:spPr>
          <a:xfrm>
            <a:off x="4234001" y="377790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0" name="Google Shape;90;p13"/>
          <p:cNvSpPr txBox="1">
            <a:spLocks noGrp="1"/>
          </p:cNvSpPr>
          <p:nvPr>
            <p:ph type="subTitle" idx="3"/>
          </p:nvPr>
        </p:nvSpPr>
        <p:spPr>
          <a:xfrm>
            <a:off x="4672036" y="5112331"/>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1" name="Google Shape;91;p13"/>
          <p:cNvSpPr txBox="1">
            <a:spLocks noGrp="1"/>
          </p:cNvSpPr>
          <p:nvPr>
            <p:ph type="title" idx="4" hasCustomPrompt="1"/>
          </p:nvPr>
        </p:nvSpPr>
        <p:spPr>
          <a:xfrm>
            <a:off x="2493200" y="19607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2" name="Google Shape;92;p13"/>
          <p:cNvSpPr txBox="1">
            <a:spLocks noGrp="1"/>
          </p:cNvSpPr>
          <p:nvPr>
            <p:ph type="title" idx="5" hasCustomPrompt="1"/>
          </p:nvPr>
        </p:nvSpPr>
        <p:spPr>
          <a:xfrm>
            <a:off x="3431200" y="33099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3" name="Google Shape;93;p13"/>
          <p:cNvSpPr txBox="1">
            <a:spLocks noGrp="1"/>
          </p:cNvSpPr>
          <p:nvPr>
            <p:ph type="title" idx="6" hasCustomPrompt="1"/>
          </p:nvPr>
        </p:nvSpPr>
        <p:spPr>
          <a:xfrm>
            <a:off x="3855033" y="4659100"/>
            <a:ext cx="802800" cy="438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4" name="Google Shape;94;p13"/>
          <p:cNvSpPr txBox="1">
            <a:spLocks noGrp="1"/>
          </p:cNvSpPr>
          <p:nvPr>
            <p:ph type="subTitle" idx="7"/>
          </p:nvPr>
        </p:nvSpPr>
        <p:spPr>
          <a:xfrm>
            <a:off x="3296000" y="19607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95" name="Google Shape;95;p13"/>
          <p:cNvSpPr txBox="1">
            <a:spLocks noGrp="1"/>
          </p:cNvSpPr>
          <p:nvPr>
            <p:ph type="subTitle" idx="8"/>
          </p:nvPr>
        </p:nvSpPr>
        <p:spPr>
          <a:xfrm>
            <a:off x="4234000" y="33099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96" name="Google Shape;96;p13"/>
          <p:cNvSpPr txBox="1">
            <a:spLocks noGrp="1"/>
          </p:cNvSpPr>
          <p:nvPr>
            <p:ph type="subTitle" idx="9"/>
          </p:nvPr>
        </p:nvSpPr>
        <p:spPr>
          <a:xfrm>
            <a:off x="4672033" y="46591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21373016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3583367" y="4619000"/>
            <a:ext cx="7658000" cy="882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solidFill>
                  <a:schemeClr val="dk2"/>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99" name="Google Shape;99;p14"/>
          <p:cNvSpPr txBox="1">
            <a:spLocks noGrp="1"/>
          </p:cNvSpPr>
          <p:nvPr>
            <p:ph type="subTitle" idx="1"/>
          </p:nvPr>
        </p:nvSpPr>
        <p:spPr>
          <a:xfrm>
            <a:off x="3583219" y="2134600"/>
            <a:ext cx="7658000" cy="248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2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sp>
        <p:nvSpPr>
          <p:cNvPr id="100" name="Google Shape;100;p1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1" name="Google Shape;101;p14"/>
          <p:cNvGrpSpPr/>
          <p:nvPr/>
        </p:nvGrpSpPr>
        <p:grpSpPr>
          <a:xfrm>
            <a:off x="10746533" y="595001"/>
            <a:ext cx="630800" cy="248667"/>
            <a:chOff x="7059675" y="514525"/>
            <a:chExt cx="473100" cy="186500"/>
          </a:xfrm>
        </p:grpSpPr>
        <p:cxnSp>
          <p:nvCxnSpPr>
            <p:cNvPr id="102" name="Google Shape;102;p14"/>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3" name="Google Shape;103;p14"/>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4" name="Google Shape;104;p14"/>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765395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05"/>
        <p:cNvGrpSpPr/>
        <p:nvPr/>
      </p:nvGrpSpPr>
      <p:grpSpPr>
        <a:xfrm>
          <a:off x="0" y="0"/>
          <a:ext cx="0" cy="0"/>
          <a:chOff x="0" y="0"/>
          <a:chExt cx="0" cy="0"/>
        </a:xfrm>
      </p:grpSpPr>
      <p:sp>
        <p:nvSpPr>
          <p:cNvPr id="106" name="Google Shape;106;p15"/>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7" name="Google Shape;107;p15"/>
          <p:cNvGrpSpPr/>
          <p:nvPr/>
        </p:nvGrpSpPr>
        <p:grpSpPr>
          <a:xfrm>
            <a:off x="10746533" y="595001"/>
            <a:ext cx="630800" cy="248667"/>
            <a:chOff x="7059675" y="514525"/>
            <a:chExt cx="473100" cy="186500"/>
          </a:xfrm>
        </p:grpSpPr>
        <p:cxnSp>
          <p:nvCxnSpPr>
            <p:cNvPr id="108" name="Google Shape;108;p15"/>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9" name="Google Shape;109;p15"/>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10" name="Google Shape;110;p15"/>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11" name="Google Shape;111;p15"/>
          <p:cNvSpPr txBox="1">
            <a:spLocks noGrp="1"/>
          </p:cNvSpPr>
          <p:nvPr>
            <p:ph type="title"/>
          </p:nvPr>
        </p:nvSpPr>
        <p:spPr>
          <a:xfrm>
            <a:off x="950967" y="714200"/>
            <a:ext cx="4221200" cy="3171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2" name="Google Shape;112;p15"/>
          <p:cNvSpPr txBox="1">
            <a:spLocks noGrp="1"/>
          </p:cNvSpPr>
          <p:nvPr>
            <p:ph type="subTitle" idx="1"/>
          </p:nvPr>
        </p:nvSpPr>
        <p:spPr>
          <a:xfrm>
            <a:off x="950967" y="3885400"/>
            <a:ext cx="4221200" cy="225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3" name="Google Shape;113;p15"/>
          <p:cNvSpPr>
            <a:spLocks noGrp="1"/>
          </p:cNvSpPr>
          <p:nvPr>
            <p:ph type="pic" idx="2"/>
          </p:nvPr>
        </p:nvSpPr>
        <p:spPr>
          <a:xfrm>
            <a:off x="6377667" y="709417"/>
            <a:ext cx="3880000" cy="5434400"/>
          </a:xfrm>
          <a:prstGeom prst="rect">
            <a:avLst/>
          </a:prstGeom>
          <a:noFill/>
          <a:ln>
            <a:noFill/>
          </a:ln>
        </p:spPr>
        <p:txBody>
          <a:bodyPr/>
          <a:lstStyle/>
          <a:p>
            <a:r>
              <a:rPr lang="en-US"/>
              <a:t>Click icon to add picture</a:t>
            </a:r>
          </a:p>
        </p:txBody>
      </p:sp>
    </p:spTree>
    <p:extLst>
      <p:ext uri="{BB962C8B-B14F-4D97-AF65-F5344CB8AC3E}">
        <p14:creationId xmlns:p14="http://schemas.microsoft.com/office/powerpoint/2010/main" val="2421811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14"/>
        <p:cNvGrpSpPr/>
        <p:nvPr/>
      </p:nvGrpSpPr>
      <p:grpSpPr>
        <a:xfrm>
          <a:off x="0" y="0"/>
          <a:ext cx="0" cy="0"/>
          <a:chOff x="0" y="0"/>
          <a:chExt cx="0" cy="0"/>
        </a:xfrm>
      </p:grpSpPr>
      <p:sp>
        <p:nvSpPr>
          <p:cNvPr id="115" name="Google Shape;115;p16"/>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16"/>
          <p:cNvSpPr txBox="1">
            <a:spLocks noGrp="1"/>
          </p:cNvSpPr>
          <p:nvPr>
            <p:ph type="title"/>
          </p:nvPr>
        </p:nvSpPr>
        <p:spPr>
          <a:xfrm>
            <a:off x="950967" y="1870467"/>
            <a:ext cx="4332000" cy="1417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7" name="Google Shape;117;p16"/>
          <p:cNvSpPr txBox="1">
            <a:spLocks noGrp="1"/>
          </p:cNvSpPr>
          <p:nvPr>
            <p:ph type="subTitle" idx="1"/>
          </p:nvPr>
        </p:nvSpPr>
        <p:spPr>
          <a:xfrm>
            <a:off x="950967" y="3288067"/>
            <a:ext cx="4332000" cy="1866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912076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18"/>
        <p:cNvGrpSpPr/>
        <p:nvPr/>
      </p:nvGrpSpPr>
      <p:grpSpPr>
        <a:xfrm>
          <a:off x="0" y="0"/>
          <a:ext cx="0" cy="0"/>
          <a:chOff x="0" y="0"/>
          <a:chExt cx="0" cy="0"/>
        </a:xfrm>
      </p:grpSpPr>
      <p:sp>
        <p:nvSpPr>
          <p:cNvPr id="119" name="Google Shape;119;p17"/>
          <p:cNvSpPr/>
          <p:nvPr/>
        </p:nvSpPr>
        <p:spPr>
          <a:xfrm>
            <a:off x="0" y="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0" name="Google Shape;120;p17"/>
          <p:cNvSpPr txBox="1">
            <a:spLocks noGrp="1"/>
          </p:cNvSpPr>
          <p:nvPr>
            <p:ph type="title"/>
          </p:nvPr>
        </p:nvSpPr>
        <p:spPr>
          <a:xfrm>
            <a:off x="6449600" y="2001600"/>
            <a:ext cx="4791200" cy="141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21" name="Google Shape;121;p17"/>
          <p:cNvSpPr txBox="1">
            <a:spLocks noGrp="1"/>
          </p:cNvSpPr>
          <p:nvPr>
            <p:ph type="subTitle" idx="1"/>
          </p:nvPr>
        </p:nvSpPr>
        <p:spPr>
          <a:xfrm>
            <a:off x="6449828" y="3416000"/>
            <a:ext cx="4791200" cy="1440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384931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22"/>
        <p:cNvGrpSpPr/>
        <p:nvPr/>
      </p:nvGrpSpPr>
      <p:grpSpPr>
        <a:xfrm>
          <a:off x="0" y="0"/>
          <a:ext cx="0" cy="0"/>
          <a:chOff x="0" y="0"/>
          <a:chExt cx="0" cy="0"/>
        </a:xfrm>
      </p:grpSpPr>
      <p:sp>
        <p:nvSpPr>
          <p:cNvPr id="123" name="Google Shape;123;p18"/>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4" name="Google Shape;124;p18"/>
          <p:cNvGrpSpPr/>
          <p:nvPr/>
        </p:nvGrpSpPr>
        <p:grpSpPr>
          <a:xfrm>
            <a:off x="11186383" y="239909"/>
            <a:ext cx="648524" cy="167587"/>
            <a:chOff x="-890300" y="1406550"/>
            <a:chExt cx="806088" cy="208200"/>
          </a:xfrm>
        </p:grpSpPr>
        <p:sp>
          <p:nvSpPr>
            <p:cNvPr id="125" name="Google Shape;125;p18"/>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18"/>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18"/>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8" name="Google Shape;128;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29" name="Google Shape;129;p18"/>
          <p:cNvSpPr txBox="1">
            <a:spLocks noGrp="1"/>
          </p:cNvSpPr>
          <p:nvPr>
            <p:ph type="subTitle" idx="1"/>
          </p:nvPr>
        </p:nvSpPr>
        <p:spPr>
          <a:xfrm>
            <a:off x="6985135"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0" name="Google Shape;130;p18"/>
          <p:cNvSpPr txBox="1">
            <a:spLocks noGrp="1"/>
          </p:cNvSpPr>
          <p:nvPr>
            <p:ph type="subTitle" idx="2"/>
          </p:nvPr>
        </p:nvSpPr>
        <p:spPr>
          <a:xfrm>
            <a:off x="2276900"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1" name="Google Shape;131;p18"/>
          <p:cNvSpPr txBox="1">
            <a:spLocks noGrp="1"/>
          </p:cNvSpPr>
          <p:nvPr>
            <p:ph type="subTitle" idx="3"/>
          </p:nvPr>
        </p:nvSpPr>
        <p:spPr>
          <a:xfrm>
            <a:off x="1882268"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32" name="Google Shape;132;p18"/>
          <p:cNvSpPr txBox="1">
            <a:spLocks noGrp="1"/>
          </p:cNvSpPr>
          <p:nvPr>
            <p:ph type="subTitle" idx="4"/>
          </p:nvPr>
        </p:nvSpPr>
        <p:spPr>
          <a:xfrm>
            <a:off x="6590509"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4935239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33"/>
        <p:cNvGrpSpPr/>
        <p:nvPr/>
      </p:nvGrpSpPr>
      <p:grpSpPr>
        <a:xfrm>
          <a:off x="0" y="0"/>
          <a:ext cx="0" cy="0"/>
          <a:chOff x="0" y="0"/>
          <a:chExt cx="0" cy="0"/>
        </a:xfrm>
      </p:grpSpPr>
      <p:sp>
        <p:nvSpPr>
          <p:cNvPr id="134" name="Google Shape;134;p19"/>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5" name="Google Shape;135;p19"/>
          <p:cNvGrpSpPr/>
          <p:nvPr/>
        </p:nvGrpSpPr>
        <p:grpSpPr>
          <a:xfrm>
            <a:off x="11186383" y="239909"/>
            <a:ext cx="648524" cy="167587"/>
            <a:chOff x="-890300" y="1406550"/>
            <a:chExt cx="806088" cy="208200"/>
          </a:xfrm>
        </p:grpSpPr>
        <p:sp>
          <p:nvSpPr>
            <p:cNvPr id="136" name="Google Shape;136;p19"/>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9"/>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9"/>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9" name="Google Shape;139;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0" name="Google Shape;140;p19"/>
          <p:cNvSpPr txBox="1">
            <a:spLocks noGrp="1"/>
          </p:cNvSpPr>
          <p:nvPr>
            <p:ph type="subTitle" idx="1"/>
          </p:nvPr>
        </p:nvSpPr>
        <p:spPr>
          <a:xfrm>
            <a:off x="642919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41" name="Google Shape;141;p19"/>
          <p:cNvSpPr txBox="1">
            <a:spLocks noGrp="1"/>
          </p:cNvSpPr>
          <p:nvPr>
            <p:ph type="subTitle" idx="2"/>
          </p:nvPr>
        </p:nvSpPr>
        <p:spPr>
          <a:xfrm>
            <a:off x="85866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9361005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42"/>
        <p:cNvGrpSpPr/>
        <p:nvPr/>
      </p:nvGrpSpPr>
      <p:grpSpPr>
        <a:xfrm>
          <a:off x="0" y="0"/>
          <a:ext cx="0" cy="0"/>
          <a:chOff x="0" y="0"/>
          <a:chExt cx="0" cy="0"/>
        </a:xfrm>
      </p:grpSpPr>
      <p:sp>
        <p:nvSpPr>
          <p:cNvPr id="143" name="Google Shape;143;p20"/>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4" name="Google Shape;144;p20"/>
          <p:cNvGrpSpPr/>
          <p:nvPr/>
        </p:nvGrpSpPr>
        <p:grpSpPr>
          <a:xfrm>
            <a:off x="11186383" y="239909"/>
            <a:ext cx="648524" cy="167587"/>
            <a:chOff x="-890300" y="1406550"/>
            <a:chExt cx="806088" cy="208200"/>
          </a:xfrm>
        </p:grpSpPr>
        <p:sp>
          <p:nvSpPr>
            <p:cNvPr id="145" name="Google Shape;145;p20"/>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20"/>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20"/>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8" name="Google Shape;148;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9" name="Google Shape;149;p20"/>
          <p:cNvSpPr txBox="1">
            <a:spLocks noGrp="1"/>
          </p:cNvSpPr>
          <p:nvPr>
            <p:ph type="subTitle" idx="1"/>
          </p:nvPr>
        </p:nvSpPr>
        <p:spPr>
          <a:xfrm>
            <a:off x="1330267" y="279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0" name="Google Shape;150;p20"/>
          <p:cNvSpPr txBox="1">
            <a:spLocks noGrp="1"/>
          </p:cNvSpPr>
          <p:nvPr>
            <p:ph type="subTitle" idx="2"/>
          </p:nvPr>
        </p:nvSpPr>
        <p:spPr>
          <a:xfrm>
            <a:off x="4697316" y="367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1" name="Google Shape;151;p20"/>
          <p:cNvSpPr txBox="1">
            <a:spLocks noGrp="1"/>
          </p:cNvSpPr>
          <p:nvPr>
            <p:ph type="subTitle" idx="3"/>
          </p:nvPr>
        </p:nvSpPr>
        <p:spPr>
          <a:xfrm>
            <a:off x="8068311" y="43234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2" name="Google Shape;152;p20"/>
          <p:cNvSpPr txBox="1">
            <a:spLocks noGrp="1"/>
          </p:cNvSpPr>
          <p:nvPr>
            <p:ph type="subTitle" idx="4"/>
          </p:nvPr>
        </p:nvSpPr>
        <p:spPr>
          <a:xfrm>
            <a:off x="960000" y="191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3" name="Google Shape;153;p20"/>
          <p:cNvSpPr txBox="1">
            <a:spLocks noGrp="1"/>
          </p:cNvSpPr>
          <p:nvPr>
            <p:ph type="subTitle" idx="5"/>
          </p:nvPr>
        </p:nvSpPr>
        <p:spPr>
          <a:xfrm>
            <a:off x="4389396" y="279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4" name="Google Shape;154;p20"/>
          <p:cNvSpPr txBox="1">
            <a:spLocks noGrp="1"/>
          </p:cNvSpPr>
          <p:nvPr>
            <p:ph type="subTitle" idx="6"/>
          </p:nvPr>
        </p:nvSpPr>
        <p:spPr>
          <a:xfrm>
            <a:off x="7822725" y="34434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11306908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55"/>
        <p:cNvGrpSpPr/>
        <p:nvPr/>
      </p:nvGrpSpPr>
      <p:grpSpPr>
        <a:xfrm>
          <a:off x="0" y="0"/>
          <a:ext cx="0" cy="0"/>
          <a:chOff x="0" y="0"/>
          <a:chExt cx="0" cy="0"/>
        </a:xfrm>
      </p:grpSpPr>
      <p:sp>
        <p:nvSpPr>
          <p:cNvPr id="156" name="Google Shape;156;p2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7" name="Google Shape;157;p21"/>
          <p:cNvGrpSpPr/>
          <p:nvPr/>
        </p:nvGrpSpPr>
        <p:grpSpPr>
          <a:xfrm>
            <a:off x="11186383" y="239909"/>
            <a:ext cx="648524" cy="167587"/>
            <a:chOff x="-890300" y="1406550"/>
            <a:chExt cx="806088" cy="208200"/>
          </a:xfrm>
        </p:grpSpPr>
        <p:sp>
          <p:nvSpPr>
            <p:cNvPr id="158" name="Google Shape;158;p21"/>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21"/>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21"/>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1" name="Google Shape;161;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62" name="Google Shape;162;p21"/>
          <p:cNvSpPr txBox="1">
            <a:spLocks noGrp="1"/>
          </p:cNvSpPr>
          <p:nvPr>
            <p:ph type="subTitle" idx="1"/>
          </p:nvPr>
        </p:nvSpPr>
        <p:spPr>
          <a:xfrm>
            <a:off x="4667467"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3" name="Google Shape;163;p21"/>
          <p:cNvSpPr txBox="1">
            <a:spLocks noGrp="1"/>
          </p:cNvSpPr>
          <p:nvPr>
            <p:ph type="subTitle" idx="2"/>
          </p:nvPr>
        </p:nvSpPr>
        <p:spPr>
          <a:xfrm>
            <a:off x="8594388"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4" name="Google Shape;164;p21"/>
          <p:cNvSpPr txBox="1">
            <a:spLocks noGrp="1"/>
          </p:cNvSpPr>
          <p:nvPr>
            <p:ph type="subTitle" idx="3"/>
          </p:nvPr>
        </p:nvSpPr>
        <p:spPr>
          <a:xfrm>
            <a:off x="4667467"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5" name="Google Shape;165;p21"/>
          <p:cNvSpPr txBox="1">
            <a:spLocks noGrp="1"/>
          </p:cNvSpPr>
          <p:nvPr>
            <p:ph type="subTitle" idx="4"/>
          </p:nvPr>
        </p:nvSpPr>
        <p:spPr>
          <a:xfrm>
            <a:off x="8594388"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6" name="Google Shape;166;p21"/>
          <p:cNvSpPr txBox="1">
            <a:spLocks noGrp="1"/>
          </p:cNvSpPr>
          <p:nvPr>
            <p:ph type="subTitle" idx="5"/>
          </p:nvPr>
        </p:nvSpPr>
        <p:spPr>
          <a:xfrm>
            <a:off x="42592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67" name="Google Shape;167;p21"/>
          <p:cNvSpPr txBox="1">
            <a:spLocks noGrp="1"/>
          </p:cNvSpPr>
          <p:nvPr>
            <p:ph type="subTitle" idx="6"/>
          </p:nvPr>
        </p:nvSpPr>
        <p:spPr>
          <a:xfrm>
            <a:off x="42592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68" name="Google Shape;168;p21"/>
          <p:cNvSpPr txBox="1">
            <a:spLocks noGrp="1"/>
          </p:cNvSpPr>
          <p:nvPr>
            <p:ph type="subTitle" idx="7"/>
          </p:nvPr>
        </p:nvSpPr>
        <p:spPr>
          <a:xfrm>
            <a:off x="81861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69" name="Google Shape;169;p21"/>
          <p:cNvSpPr txBox="1">
            <a:spLocks noGrp="1"/>
          </p:cNvSpPr>
          <p:nvPr>
            <p:ph type="subTitle" idx="8"/>
          </p:nvPr>
        </p:nvSpPr>
        <p:spPr>
          <a:xfrm>
            <a:off x="81861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42752964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70"/>
        <p:cNvGrpSpPr/>
        <p:nvPr/>
      </p:nvGrpSpPr>
      <p:grpSpPr>
        <a:xfrm>
          <a:off x="0" y="0"/>
          <a:ext cx="0" cy="0"/>
          <a:chOff x="0" y="0"/>
          <a:chExt cx="0" cy="0"/>
        </a:xfrm>
      </p:grpSpPr>
      <p:sp>
        <p:nvSpPr>
          <p:cNvPr id="171" name="Google Shape;171;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72" name="Google Shape;172;p22"/>
          <p:cNvSpPr txBox="1">
            <a:spLocks noGrp="1"/>
          </p:cNvSpPr>
          <p:nvPr>
            <p:ph type="subTitle" idx="1"/>
          </p:nvPr>
        </p:nvSpPr>
        <p:spPr>
          <a:xfrm>
            <a:off x="1859867"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3" name="Google Shape;173;p22"/>
          <p:cNvSpPr txBox="1">
            <a:spLocks noGrp="1"/>
          </p:cNvSpPr>
          <p:nvPr>
            <p:ph type="subTitle" idx="2"/>
          </p:nvPr>
        </p:nvSpPr>
        <p:spPr>
          <a:xfrm>
            <a:off x="5153000"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4" name="Google Shape;174;p22"/>
          <p:cNvSpPr txBox="1">
            <a:spLocks noGrp="1"/>
          </p:cNvSpPr>
          <p:nvPr>
            <p:ph type="subTitle" idx="3"/>
          </p:nvPr>
        </p:nvSpPr>
        <p:spPr>
          <a:xfrm>
            <a:off x="1859867"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5" name="Google Shape;175;p22"/>
          <p:cNvSpPr txBox="1">
            <a:spLocks noGrp="1"/>
          </p:cNvSpPr>
          <p:nvPr>
            <p:ph type="subTitle" idx="4"/>
          </p:nvPr>
        </p:nvSpPr>
        <p:spPr>
          <a:xfrm>
            <a:off x="5153000"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6" name="Google Shape;176;p22"/>
          <p:cNvSpPr txBox="1">
            <a:spLocks noGrp="1"/>
          </p:cNvSpPr>
          <p:nvPr>
            <p:ph type="subTitle" idx="5"/>
          </p:nvPr>
        </p:nvSpPr>
        <p:spPr>
          <a:xfrm>
            <a:off x="8446132"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7" name="Google Shape;177;p22"/>
          <p:cNvSpPr txBox="1">
            <a:spLocks noGrp="1"/>
          </p:cNvSpPr>
          <p:nvPr>
            <p:ph type="subTitle" idx="6"/>
          </p:nvPr>
        </p:nvSpPr>
        <p:spPr>
          <a:xfrm>
            <a:off x="8446132"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8" name="Google Shape;178;p22"/>
          <p:cNvSpPr txBox="1">
            <a:spLocks noGrp="1"/>
          </p:cNvSpPr>
          <p:nvPr>
            <p:ph type="subTitle" idx="7"/>
          </p:nvPr>
        </p:nvSpPr>
        <p:spPr>
          <a:xfrm>
            <a:off x="1484069"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79" name="Google Shape;179;p22"/>
          <p:cNvSpPr txBox="1">
            <a:spLocks noGrp="1"/>
          </p:cNvSpPr>
          <p:nvPr>
            <p:ph type="subTitle" idx="8"/>
          </p:nvPr>
        </p:nvSpPr>
        <p:spPr>
          <a:xfrm>
            <a:off x="4777200"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0" name="Google Shape;180;p22"/>
          <p:cNvSpPr txBox="1">
            <a:spLocks noGrp="1"/>
          </p:cNvSpPr>
          <p:nvPr>
            <p:ph type="subTitle" idx="9"/>
          </p:nvPr>
        </p:nvSpPr>
        <p:spPr>
          <a:xfrm>
            <a:off x="8070331"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1" name="Google Shape;181;p22"/>
          <p:cNvSpPr txBox="1">
            <a:spLocks noGrp="1"/>
          </p:cNvSpPr>
          <p:nvPr>
            <p:ph type="subTitle" idx="13"/>
          </p:nvPr>
        </p:nvSpPr>
        <p:spPr>
          <a:xfrm>
            <a:off x="1484069"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2" name="Google Shape;182;p22"/>
          <p:cNvSpPr txBox="1">
            <a:spLocks noGrp="1"/>
          </p:cNvSpPr>
          <p:nvPr>
            <p:ph type="subTitle" idx="14"/>
          </p:nvPr>
        </p:nvSpPr>
        <p:spPr>
          <a:xfrm>
            <a:off x="4777200"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3" name="Google Shape;183;p22"/>
          <p:cNvSpPr txBox="1">
            <a:spLocks noGrp="1"/>
          </p:cNvSpPr>
          <p:nvPr>
            <p:ph type="subTitle" idx="15"/>
          </p:nvPr>
        </p:nvSpPr>
        <p:spPr>
          <a:xfrm>
            <a:off x="8070331"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34922488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84"/>
        <p:cNvGrpSpPr/>
        <p:nvPr/>
      </p:nvGrpSpPr>
      <p:grpSpPr>
        <a:xfrm>
          <a:off x="0" y="0"/>
          <a:ext cx="0" cy="0"/>
          <a:chOff x="0" y="0"/>
          <a:chExt cx="0" cy="0"/>
        </a:xfrm>
      </p:grpSpPr>
      <p:sp>
        <p:nvSpPr>
          <p:cNvPr id="185" name="Google Shape;185;p23"/>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6" name="Google Shape;186;p23"/>
          <p:cNvGrpSpPr/>
          <p:nvPr/>
        </p:nvGrpSpPr>
        <p:grpSpPr>
          <a:xfrm>
            <a:off x="10746533" y="595001"/>
            <a:ext cx="630800" cy="248667"/>
            <a:chOff x="7059675" y="514525"/>
            <a:chExt cx="473100" cy="186500"/>
          </a:xfrm>
        </p:grpSpPr>
        <p:cxnSp>
          <p:nvCxnSpPr>
            <p:cNvPr id="187" name="Google Shape;187;p2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8" name="Google Shape;188;p2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9" name="Google Shape;189;p2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90" name="Google Shape;190;p23"/>
          <p:cNvSpPr txBox="1">
            <a:spLocks noGrp="1"/>
          </p:cNvSpPr>
          <p:nvPr>
            <p:ph type="title" hasCustomPrompt="1"/>
          </p:nvPr>
        </p:nvSpPr>
        <p:spPr>
          <a:xfrm>
            <a:off x="5402633" y="84076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1" name="Google Shape;191;p23"/>
          <p:cNvSpPr txBox="1">
            <a:spLocks noGrp="1"/>
          </p:cNvSpPr>
          <p:nvPr>
            <p:ph type="subTitle" idx="1"/>
          </p:nvPr>
        </p:nvSpPr>
        <p:spPr>
          <a:xfrm>
            <a:off x="5878073" y="173422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92" name="Google Shape;192;p23"/>
          <p:cNvSpPr txBox="1">
            <a:spLocks noGrp="1"/>
          </p:cNvSpPr>
          <p:nvPr>
            <p:ph type="title" idx="2" hasCustomPrompt="1"/>
          </p:nvPr>
        </p:nvSpPr>
        <p:spPr>
          <a:xfrm>
            <a:off x="5402633" y="264378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3" name="Google Shape;193;p23"/>
          <p:cNvSpPr txBox="1">
            <a:spLocks noGrp="1"/>
          </p:cNvSpPr>
          <p:nvPr>
            <p:ph type="subTitle" idx="3"/>
          </p:nvPr>
        </p:nvSpPr>
        <p:spPr>
          <a:xfrm>
            <a:off x="5878073" y="353724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94" name="Google Shape;194;p23"/>
          <p:cNvSpPr txBox="1">
            <a:spLocks noGrp="1"/>
          </p:cNvSpPr>
          <p:nvPr>
            <p:ph type="title" idx="4" hasCustomPrompt="1"/>
          </p:nvPr>
        </p:nvSpPr>
        <p:spPr>
          <a:xfrm>
            <a:off x="5402633" y="444680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5"/>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5" name="Google Shape;195;p23"/>
          <p:cNvSpPr txBox="1">
            <a:spLocks noGrp="1"/>
          </p:cNvSpPr>
          <p:nvPr>
            <p:ph type="subTitle" idx="5"/>
          </p:nvPr>
        </p:nvSpPr>
        <p:spPr>
          <a:xfrm>
            <a:off x="5878073" y="534026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Tree>
    <p:extLst>
      <p:ext uri="{BB962C8B-B14F-4D97-AF65-F5344CB8AC3E}">
        <p14:creationId xmlns:p14="http://schemas.microsoft.com/office/powerpoint/2010/main" val="20448289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96"/>
        <p:cNvGrpSpPr/>
        <p:nvPr/>
      </p:nvGrpSpPr>
      <p:grpSpPr>
        <a:xfrm>
          <a:off x="0" y="0"/>
          <a:ext cx="0" cy="0"/>
          <a:chOff x="0" y="0"/>
          <a:chExt cx="0" cy="0"/>
        </a:xfrm>
      </p:grpSpPr>
      <p:sp>
        <p:nvSpPr>
          <p:cNvPr id="197" name="Google Shape;197;p2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8" name="Google Shape;198;p24"/>
          <p:cNvGrpSpPr/>
          <p:nvPr/>
        </p:nvGrpSpPr>
        <p:grpSpPr>
          <a:xfrm>
            <a:off x="11186383" y="239909"/>
            <a:ext cx="648524" cy="167587"/>
            <a:chOff x="-890300" y="1406550"/>
            <a:chExt cx="806088" cy="208200"/>
          </a:xfrm>
        </p:grpSpPr>
        <p:sp>
          <p:nvSpPr>
            <p:cNvPr id="199" name="Google Shape;199;p2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 name="Google Shape;200;p2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2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2" name="Google Shape;202;p24"/>
          <p:cNvSpPr txBox="1">
            <a:spLocks noGrp="1"/>
          </p:cNvSpPr>
          <p:nvPr>
            <p:ph type="title" hasCustomPrompt="1"/>
          </p:nvPr>
        </p:nvSpPr>
        <p:spPr>
          <a:xfrm>
            <a:off x="1179800" y="25209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3" name="Google Shape;203;p24"/>
          <p:cNvSpPr txBox="1">
            <a:spLocks noGrp="1"/>
          </p:cNvSpPr>
          <p:nvPr>
            <p:ph type="subTitle" idx="1"/>
          </p:nvPr>
        </p:nvSpPr>
        <p:spPr>
          <a:xfrm>
            <a:off x="1307167"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204" name="Google Shape;204;p24"/>
          <p:cNvSpPr txBox="1">
            <a:spLocks noGrp="1"/>
          </p:cNvSpPr>
          <p:nvPr>
            <p:ph type="subTitle" idx="2"/>
          </p:nvPr>
        </p:nvSpPr>
        <p:spPr>
          <a:xfrm>
            <a:off x="960000"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05" name="Google Shape;205;p24"/>
          <p:cNvSpPr txBox="1">
            <a:spLocks noGrp="1"/>
          </p:cNvSpPr>
          <p:nvPr>
            <p:ph type="title" idx="3" hasCustomPrompt="1"/>
          </p:nvPr>
        </p:nvSpPr>
        <p:spPr>
          <a:xfrm>
            <a:off x="4787984" y="2521267"/>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6" name="Google Shape;206;p24"/>
          <p:cNvSpPr txBox="1">
            <a:spLocks noGrp="1"/>
          </p:cNvSpPr>
          <p:nvPr>
            <p:ph type="subTitle" idx="4"/>
          </p:nvPr>
        </p:nvSpPr>
        <p:spPr>
          <a:xfrm>
            <a:off x="4785591"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207" name="Google Shape;207;p24"/>
          <p:cNvSpPr txBox="1">
            <a:spLocks noGrp="1"/>
          </p:cNvSpPr>
          <p:nvPr>
            <p:ph type="subTitle" idx="5"/>
          </p:nvPr>
        </p:nvSpPr>
        <p:spPr>
          <a:xfrm>
            <a:off x="4560001"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08" name="Google Shape;208;p24"/>
          <p:cNvSpPr txBox="1">
            <a:spLocks noGrp="1"/>
          </p:cNvSpPr>
          <p:nvPr>
            <p:ph type="title" idx="6" hasCustomPrompt="1"/>
          </p:nvPr>
        </p:nvSpPr>
        <p:spPr>
          <a:xfrm>
            <a:off x="8395700" y="25214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9" name="Google Shape;209;p24"/>
          <p:cNvSpPr txBox="1">
            <a:spLocks noGrp="1"/>
          </p:cNvSpPr>
          <p:nvPr>
            <p:ph type="subTitle" idx="7"/>
          </p:nvPr>
        </p:nvSpPr>
        <p:spPr>
          <a:xfrm>
            <a:off x="8264015"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210" name="Google Shape;210;p24"/>
          <p:cNvSpPr txBox="1">
            <a:spLocks noGrp="1"/>
          </p:cNvSpPr>
          <p:nvPr>
            <p:ph type="subTitle" idx="8"/>
          </p:nvPr>
        </p:nvSpPr>
        <p:spPr>
          <a:xfrm>
            <a:off x="8160003"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11" name="Google Shape;211;p24"/>
          <p:cNvSpPr txBox="1">
            <a:spLocks noGrp="1"/>
          </p:cNvSpPr>
          <p:nvPr>
            <p:ph type="title" idx="9"/>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5368403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16"/>
        <p:cNvGrpSpPr/>
        <p:nvPr/>
      </p:nvGrpSpPr>
      <p:grpSpPr>
        <a:xfrm>
          <a:off x="0" y="0"/>
          <a:ext cx="0" cy="0"/>
          <a:chOff x="0" y="0"/>
          <a:chExt cx="0" cy="0"/>
        </a:xfrm>
      </p:grpSpPr>
      <p:sp>
        <p:nvSpPr>
          <p:cNvPr id="217" name="Google Shape;217;p2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8" name="Google Shape;218;p26"/>
          <p:cNvGrpSpPr/>
          <p:nvPr/>
        </p:nvGrpSpPr>
        <p:grpSpPr>
          <a:xfrm>
            <a:off x="11186383" y="239909"/>
            <a:ext cx="648524" cy="167587"/>
            <a:chOff x="-890300" y="1406550"/>
            <a:chExt cx="806088" cy="208200"/>
          </a:xfrm>
        </p:grpSpPr>
        <p:sp>
          <p:nvSpPr>
            <p:cNvPr id="219" name="Google Shape;219;p2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2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2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1187346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22"/>
        <p:cNvGrpSpPr/>
        <p:nvPr/>
      </p:nvGrpSpPr>
      <p:grpSpPr>
        <a:xfrm>
          <a:off x="0" y="0"/>
          <a:ext cx="0" cy="0"/>
          <a:chOff x="0" y="0"/>
          <a:chExt cx="0" cy="0"/>
        </a:xfrm>
      </p:grpSpPr>
      <p:sp>
        <p:nvSpPr>
          <p:cNvPr id="223" name="Google Shape;223;p27"/>
          <p:cNvSpPr/>
          <p:nvPr/>
        </p:nvSpPr>
        <p:spPr>
          <a:xfrm>
            <a:off x="5899667" y="-2400"/>
            <a:ext cx="62924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4" name="Google Shape;224;p27"/>
          <p:cNvGrpSpPr/>
          <p:nvPr/>
        </p:nvGrpSpPr>
        <p:grpSpPr>
          <a:xfrm>
            <a:off x="10924156" y="595001"/>
            <a:ext cx="553275" cy="248667"/>
            <a:chOff x="7059675" y="514525"/>
            <a:chExt cx="473100" cy="186500"/>
          </a:xfrm>
        </p:grpSpPr>
        <p:cxnSp>
          <p:nvCxnSpPr>
            <p:cNvPr id="225" name="Google Shape;225;p27"/>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6" name="Google Shape;226;p27"/>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7" name="Google Shape;227;p27"/>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9241422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647333" y="1678467"/>
            <a:ext cx="7730000" cy="27184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3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3647333" y="4396867"/>
            <a:ext cx="7730000" cy="587600"/>
          </a:xfrm>
          <a:prstGeom prst="rect">
            <a:avLst/>
          </a:prstGeom>
          <a:solidFill>
            <a:schemeClr val="accent6"/>
          </a:solidFill>
        </p:spPr>
        <p:txBody>
          <a:bodyPr spcFirstLastPara="1" wrap="square" lIns="91425" tIns="91425" rIns="91425" bIns="91425" anchor="t" anchorCtr="0">
            <a:noAutofit/>
          </a:bodyPr>
          <a:lstStyle>
            <a:lvl1pPr lvl="0" algn="ctr">
              <a:spcBef>
                <a:spcPts val="0"/>
              </a:spcBef>
              <a:spcAft>
                <a:spcPts val="0"/>
              </a:spcAft>
              <a:buSzPts val="14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17314538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1"/>
        <p:cNvGrpSpPr/>
        <p:nvPr/>
      </p:nvGrpSpPr>
      <p:grpSpPr>
        <a:xfrm>
          <a:off x="0" y="0"/>
          <a:ext cx="0" cy="0"/>
          <a:chOff x="0" y="0"/>
          <a:chExt cx="0" cy="0"/>
        </a:xfrm>
      </p:grpSpPr>
      <p:sp>
        <p:nvSpPr>
          <p:cNvPr id="62" name="Google Shape;62;p9"/>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3" name="Google Shape;63;p9"/>
          <p:cNvGrpSpPr/>
          <p:nvPr/>
        </p:nvGrpSpPr>
        <p:grpSpPr>
          <a:xfrm>
            <a:off x="10746533" y="595001"/>
            <a:ext cx="630800" cy="248667"/>
            <a:chOff x="7059675" y="514525"/>
            <a:chExt cx="473100" cy="186500"/>
          </a:xfrm>
        </p:grpSpPr>
        <p:cxnSp>
          <p:nvCxnSpPr>
            <p:cNvPr id="64" name="Google Shape;64;p9"/>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5" name="Google Shape;65;p9"/>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6" name="Google Shape;66;p9"/>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7" name="Google Shape;67;p9"/>
          <p:cNvSpPr txBox="1">
            <a:spLocks noGrp="1"/>
          </p:cNvSpPr>
          <p:nvPr>
            <p:ph type="title"/>
          </p:nvPr>
        </p:nvSpPr>
        <p:spPr>
          <a:xfrm>
            <a:off x="5630800" y="1597933"/>
            <a:ext cx="5608000" cy="2619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1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68" name="Google Shape;68;p9"/>
          <p:cNvSpPr txBox="1">
            <a:spLocks noGrp="1"/>
          </p:cNvSpPr>
          <p:nvPr>
            <p:ph type="subTitle" idx="1"/>
          </p:nvPr>
        </p:nvSpPr>
        <p:spPr>
          <a:xfrm>
            <a:off x="5630800" y="4217133"/>
            <a:ext cx="5608000" cy="1421600"/>
          </a:xfrm>
          <a:prstGeom prst="rect">
            <a:avLst/>
          </a:prstGeom>
          <a:solidFill>
            <a:schemeClr val="accent6"/>
          </a:solid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0993127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6"/>
        <p:cNvGrpSpPr/>
        <p:nvPr/>
      </p:nvGrpSpPr>
      <p:grpSpPr>
        <a:xfrm>
          <a:off x="0" y="0"/>
          <a:ext cx="0" cy="0"/>
          <a:chOff x="0" y="0"/>
          <a:chExt cx="0" cy="0"/>
        </a:xfrm>
      </p:grpSpPr>
      <p:sp>
        <p:nvSpPr>
          <p:cNvPr id="47" name="Google Shape;47;p7"/>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8" name="Google Shape;48;p7"/>
          <p:cNvGrpSpPr/>
          <p:nvPr/>
        </p:nvGrpSpPr>
        <p:grpSpPr>
          <a:xfrm>
            <a:off x="11186383" y="239909"/>
            <a:ext cx="648524" cy="167587"/>
            <a:chOff x="-890300" y="1406550"/>
            <a:chExt cx="806088" cy="208200"/>
          </a:xfrm>
        </p:grpSpPr>
        <p:sp>
          <p:nvSpPr>
            <p:cNvPr id="49" name="Google Shape;49;p7"/>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7"/>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7"/>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 name="Google Shape;52;p7"/>
          <p:cNvSpPr txBox="1">
            <a:spLocks noGrp="1"/>
          </p:cNvSpPr>
          <p:nvPr>
            <p:ph type="title"/>
          </p:nvPr>
        </p:nvSpPr>
        <p:spPr>
          <a:xfrm>
            <a:off x="960000" y="593367"/>
            <a:ext cx="10281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53" name="Google Shape;53;p7"/>
          <p:cNvSpPr txBox="1">
            <a:spLocks noGrp="1"/>
          </p:cNvSpPr>
          <p:nvPr>
            <p:ph type="subTitle" idx="1"/>
          </p:nvPr>
        </p:nvSpPr>
        <p:spPr>
          <a:xfrm>
            <a:off x="4620300" y="2038667"/>
            <a:ext cx="6620800" cy="4100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spTree>
    <p:extLst>
      <p:ext uri="{BB962C8B-B14F-4D97-AF65-F5344CB8AC3E}">
        <p14:creationId xmlns:p14="http://schemas.microsoft.com/office/powerpoint/2010/main" val="1720853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theme" Target="../theme/theme2.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2026/5/5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1pPr>
            <a:lvl2pPr lvl="1"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2pPr>
            <a:lvl3pPr lvl="2"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3pPr>
            <a:lvl4pPr lvl="3"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4pPr>
            <a:lvl5pPr lvl="4"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5pPr>
            <a:lvl6pPr lvl="5"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6pPr>
            <a:lvl7pPr lvl="6"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7pPr>
            <a:lvl8pPr lvl="7"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8pPr>
            <a:lvl9pPr lvl="8"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9pPr>
          </a:lstStyle>
          <a:p>
            <a:endParaRPr/>
          </a:p>
        </p:txBody>
      </p:sp>
    </p:spTree>
    <p:extLst>
      <p:ext uri="{BB962C8B-B14F-4D97-AF65-F5344CB8AC3E}">
        <p14:creationId xmlns:p14="http://schemas.microsoft.com/office/powerpoint/2010/main" val="347028760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ctrTitle"/>
          </p:nvPr>
        </p:nvSpPr>
        <p:spPr>
          <a:prstGeom prst="rect">
            <a:avLst/>
          </a:prstGeom>
        </p:spPr>
        <p:txBody>
          <a:bodyPr spcFirstLastPara="1" wrap="square" lIns="121900" tIns="121900" rIns="121900" bIns="121900" anchor="b" anchorCtr="0">
            <a:noAutofit/>
          </a:bodyPr>
          <a:lstStyle/>
          <a:p>
            <a:r>
              <a:rPr lang="en-US" sz="5400" dirty="0"/>
              <a:t>Artificial Intelligence</a:t>
            </a:r>
            <a:br>
              <a:rPr lang="en-US" sz="6000" dirty="0"/>
            </a:br>
            <a:r>
              <a:rPr lang="en" sz="2800" dirty="0">
                <a:solidFill>
                  <a:schemeClr val="accent4"/>
                </a:solidFill>
              </a:rPr>
              <a:t>(Machine Learning &amp; Deep Learning)</a:t>
            </a:r>
            <a:endParaRPr sz="2800" dirty="0"/>
          </a:p>
        </p:txBody>
      </p:sp>
      <p:sp>
        <p:nvSpPr>
          <p:cNvPr id="239" name="Google Shape;239;p31"/>
          <p:cNvSpPr txBox="1">
            <a:spLocks noGrp="1"/>
          </p:cNvSpPr>
          <p:nvPr>
            <p:ph type="subTitle" idx="1"/>
          </p:nvPr>
        </p:nvSpPr>
        <p:spPr>
          <a:xfrm>
            <a:off x="3217849" y="4473517"/>
            <a:ext cx="8487720" cy="567052"/>
          </a:xfrm>
          <a:prstGeom prst="rect">
            <a:avLst/>
          </a:prstGeom>
        </p:spPr>
        <p:txBody>
          <a:bodyPr spcFirstLastPara="1" wrap="square" lIns="121900" tIns="121900" rIns="121900" bIns="121900" anchor="t" anchorCtr="0">
            <a:noAutofit/>
          </a:bodyPr>
          <a:lstStyle/>
          <a:p>
            <a:pPr marL="0" indent="0"/>
            <a:r>
              <a:rPr lang="en-US" sz="1867" dirty="0"/>
              <a:t>Recurrent Neural Network (RNN) </a:t>
            </a:r>
          </a:p>
        </p:txBody>
      </p:sp>
      <p:sp>
        <p:nvSpPr>
          <p:cNvPr id="240" name="Google Shape;240;p31"/>
          <p:cNvSpPr txBox="1"/>
          <p:nvPr/>
        </p:nvSpPr>
        <p:spPr>
          <a:xfrm>
            <a:off x="2796400" y="761333"/>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a:ln>
                <a:noFill/>
              </a:ln>
              <a:solidFill>
                <a:srgbClr val="E81A81"/>
              </a:solidFill>
              <a:effectLst/>
              <a:uLnTx/>
              <a:uFillTx/>
              <a:latin typeface="Comfortaa"/>
              <a:ea typeface="Comfortaa"/>
              <a:cs typeface="Comfortaa"/>
              <a:sym typeface="Comfortaa"/>
            </a:endParaRPr>
          </a:p>
        </p:txBody>
      </p:sp>
      <p:sp>
        <p:nvSpPr>
          <p:cNvPr id="241" name="Google Shape;241;p31"/>
          <p:cNvSpPr txBox="1"/>
          <p:nvPr/>
        </p:nvSpPr>
        <p:spPr>
          <a:xfrm>
            <a:off x="11450667" y="5335900"/>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a:ln>
                <a:noFill/>
              </a:ln>
              <a:solidFill>
                <a:srgbClr val="4CAE97"/>
              </a:solidFill>
              <a:effectLst/>
              <a:uLnTx/>
              <a:uFillTx/>
              <a:latin typeface="Comfortaa"/>
              <a:ea typeface="Comfortaa"/>
              <a:cs typeface="Comfortaa"/>
              <a:sym typeface="Comfortaa"/>
            </a:endParaRPr>
          </a:p>
        </p:txBody>
      </p:sp>
      <p:sp>
        <p:nvSpPr>
          <p:cNvPr id="242" name="Google Shape;242;p31"/>
          <p:cNvSpPr txBox="1"/>
          <p:nvPr/>
        </p:nvSpPr>
        <p:spPr>
          <a:xfrm>
            <a:off x="3796500" y="5477887"/>
            <a:ext cx="1930000" cy="728400"/>
          </a:xfrm>
          <a:prstGeom prst="rect">
            <a:avLst/>
          </a:prstGeom>
          <a:noFill/>
          <a:ln>
            <a:noFill/>
          </a:ln>
        </p:spPr>
        <p:txBody>
          <a:bodyPr spcFirstLastPara="1" wrap="square" lIns="121900" tIns="121900" rIns="121900" bIns="12190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a:ln>
                  <a:noFill/>
                </a:ln>
                <a:solidFill>
                  <a:srgbClr val="94EE6B"/>
                </a:solidFill>
                <a:effectLst/>
                <a:uLnTx/>
                <a:uFillTx/>
                <a:latin typeface="Fira Code"/>
                <a:ea typeface="Fira Code"/>
                <a:cs typeface="Fira Code"/>
                <a:sym typeface="Fira Code"/>
              </a:rPr>
              <a:t>...</a:t>
            </a:r>
            <a:endParaRPr kumimoji="0" sz="6667" b="0" i="0" u="none" strike="noStrike" kern="0" cap="none" spc="0" normalizeH="0" baseline="0" noProof="0">
              <a:ln>
                <a:noFill/>
              </a:ln>
              <a:solidFill>
                <a:srgbClr val="94EE6B"/>
              </a:solidFill>
              <a:effectLst/>
              <a:uLnTx/>
              <a:uFillTx/>
              <a:latin typeface="Arial"/>
              <a:ea typeface="+mn-ea"/>
              <a:cs typeface="Arial"/>
              <a:sym typeface="Arial"/>
            </a:endParaRPr>
          </a:p>
        </p:txBody>
      </p:sp>
      <p:grpSp>
        <p:nvGrpSpPr>
          <p:cNvPr id="243" name="Google Shape;243;p31"/>
          <p:cNvGrpSpPr/>
          <p:nvPr/>
        </p:nvGrpSpPr>
        <p:grpSpPr>
          <a:xfrm>
            <a:off x="10746533" y="595001"/>
            <a:ext cx="630800" cy="248667"/>
            <a:chOff x="7059675" y="514525"/>
            <a:chExt cx="473100" cy="186500"/>
          </a:xfrm>
        </p:grpSpPr>
        <p:cxnSp>
          <p:nvCxnSpPr>
            <p:cNvPr id="244" name="Google Shape;244;p3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5" name="Google Shape;245;p3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6" name="Google Shape;246;p3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grpSp>
        <p:nvGrpSpPr>
          <p:cNvPr id="247" name="Google Shape;247;p31"/>
          <p:cNvGrpSpPr/>
          <p:nvPr/>
        </p:nvGrpSpPr>
        <p:grpSpPr>
          <a:xfrm>
            <a:off x="340175" y="928586"/>
            <a:ext cx="3170543" cy="5210084"/>
            <a:chOff x="5" y="747463"/>
            <a:chExt cx="2377907" cy="3907563"/>
          </a:xfrm>
        </p:grpSpPr>
        <p:sp>
          <p:nvSpPr>
            <p:cNvPr id="248" name="Google Shape;248;p31"/>
            <p:cNvSpPr/>
            <p:nvPr/>
          </p:nvSpPr>
          <p:spPr>
            <a:xfrm>
              <a:off x="5" y="756038"/>
              <a:ext cx="3549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9" name="Google Shape;249;p31"/>
            <p:cNvSpPr/>
            <p:nvPr/>
          </p:nvSpPr>
          <p:spPr>
            <a:xfrm>
              <a:off x="486329" y="747463"/>
              <a:ext cx="3549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0" name="Google Shape;250;p31"/>
            <p:cNvSpPr/>
            <p:nvPr/>
          </p:nvSpPr>
          <p:spPr>
            <a:xfrm>
              <a:off x="5" y="1068263"/>
              <a:ext cx="3549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1" name="Google Shape;251;p31"/>
            <p:cNvSpPr/>
            <p:nvPr/>
          </p:nvSpPr>
          <p:spPr>
            <a:xfrm>
              <a:off x="5" y="1394975"/>
              <a:ext cx="3549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2" name="Google Shape;252;p31"/>
            <p:cNvSpPr/>
            <p:nvPr/>
          </p:nvSpPr>
          <p:spPr>
            <a:xfrm>
              <a:off x="5" y="1721713"/>
              <a:ext cx="3549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3" name="Google Shape;253;p31"/>
            <p:cNvSpPr/>
            <p:nvPr/>
          </p:nvSpPr>
          <p:spPr>
            <a:xfrm>
              <a:off x="434858" y="1721713"/>
              <a:ext cx="454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4" name="Google Shape;254;p31"/>
            <p:cNvSpPr/>
            <p:nvPr/>
          </p:nvSpPr>
          <p:spPr>
            <a:xfrm>
              <a:off x="934654" y="1721722"/>
              <a:ext cx="2607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5" name="Google Shape;255;p31"/>
            <p:cNvSpPr/>
            <p:nvPr/>
          </p:nvSpPr>
          <p:spPr>
            <a:xfrm>
              <a:off x="5" y="2032288"/>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6" name="Google Shape;256;p31"/>
            <p:cNvSpPr/>
            <p:nvPr/>
          </p:nvSpPr>
          <p:spPr>
            <a:xfrm>
              <a:off x="5" y="2375138"/>
              <a:ext cx="327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7" name="Google Shape;257;p31"/>
            <p:cNvSpPr/>
            <p:nvPr/>
          </p:nvSpPr>
          <p:spPr>
            <a:xfrm>
              <a:off x="5" y="26840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8" name="Google Shape;258;p31"/>
            <p:cNvSpPr/>
            <p:nvPr/>
          </p:nvSpPr>
          <p:spPr>
            <a:xfrm>
              <a:off x="5" y="2992988"/>
              <a:ext cx="32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9" name="Google Shape;259;p31"/>
            <p:cNvSpPr/>
            <p:nvPr/>
          </p:nvSpPr>
          <p:spPr>
            <a:xfrm>
              <a:off x="13726" y="37739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0" name="Google Shape;260;p31"/>
            <p:cNvSpPr/>
            <p:nvPr/>
          </p:nvSpPr>
          <p:spPr>
            <a:xfrm>
              <a:off x="434858" y="2032288"/>
              <a:ext cx="3276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1" name="Google Shape;261;p31"/>
            <p:cNvSpPr/>
            <p:nvPr/>
          </p:nvSpPr>
          <p:spPr>
            <a:xfrm>
              <a:off x="395919" y="23751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2" name="Google Shape;262;p31"/>
            <p:cNvSpPr/>
            <p:nvPr/>
          </p:nvSpPr>
          <p:spPr>
            <a:xfrm>
              <a:off x="434858" y="2684063"/>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3" name="Google Shape;263;p31"/>
            <p:cNvSpPr/>
            <p:nvPr/>
          </p:nvSpPr>
          <p:spPr>
            <a:xfrm>
              <a:off x="434858" y="300995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4" name="Google Shape;264;p31"/>
            <p:cNvSpPr/>
            <p:nvPr/>
          </p:nvSpPr>
          <p:spPr>
            <a:xfrm>
              <a:off x="434858" y="3335838"/>
              <a:ext cx="3276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5" name="Google Shape;265;p31"/>
            <p:cNvSpPr/>
            <p:nvPr/>
          </p:nvSpPr>
          <p:spPr>
            <a:xfrm>
              <a:off x="838550" y="2032296"/>
              <a:ext cx="465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6" name="Google Shape;266;p31"/>
            <p:cNvSpPr/>
            <p:nvPr/>
          </p:nvSpPr>
          <p:spPr>
            <a:xfrm>
              <a:off x="838550" y="2375145"/>
              <a:ext cx="65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7" name="Google Shape;267;p31"/>
            <p:cNvSpPr/>
            <p:nvPr/>
          </p:nvSpPr>
          <p:spPr>
            <a:xfrm>
              <a:off x="861466" y="2684069"/>
              <a:ext cx="757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8" name="Google Shape;268;p31"/>
            <p:cNvSpPr/>
            <p:nvPr/>
          </p:nvSpPr>
          <p:spPr>
            <a:xfrm>
              <a:off x="861466" y="3028567"/>
              <a:ext cx="7572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9" name="Google Shape;269;p31"/>
            <p:cNvSpPr/>
            <p:nvPr/>
          </p:nvSpPr>
          <p:spPr>
            <a:xfrm>
              <a:off x="861466" y="3335841"/>
              <a:ext cx="7572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0" name="Google Shape;270;p31"/>
            <p:cNvSpPr/>
            <p:nvPr/>
          </p:nvSpPr>
          <p:spPr>
            <a:xfrm>
              <a:off x="1360349" y="2032296"/>
              <a:ext cx="424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1" name="Google Shape;271;p31"/>
            <p:cNvSpPr/>
            <p:nvPr/>
          </p:nvSpPr>
          <p:spPr>
            <a:xfrm>
              <a:off x="1573836" y="2358182"/>
              <a:ext cx="4242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2" name="Google Shape;272;p31"/>
            <p:cNvSpPr/>
            <p:nvPr/>
          </p:nvSpPr>
          <p:spPr>
            <a:xfrm>
              <a:off x="1697856" y="2684094"/>
              <a:ext cx="2607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3" name="Google Shape;273;p31"/>
            <p:cNvSpPr/>
            <p:nvPr/>
          </p:nvSpPr>
          <p:spPr>
            <a:xfrm>
              <a:off x="1697856" y="3335891"/>
              <a:ext cx="2607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4" name="Google Shape;274;p31"/>
            <p:cNvSpPr/>
            <p:nvPr/>
          </p:nvSpPr>
          <p:spPr>
            <a:xfrm>
              <a:off x="13726" y="4013038"/>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5" name="Google Shape;275;p31"/>
            <p:cNvSpPr/>
            <p:nvPr/>
          </p:nvSpPr>
          <p:spPr>
            <a:xfrm>
              <a:off x="395919" y="42965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6" name="Google Shape;276;p31"/>
            <p:cNvSpPr/>
            <p:nvPr/>
          </p:nvSpPr>
          <p:spPr>
            <a:xfrm>
              <a:off x="875884" y="4296538"/>
              <a:ext cx="385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7" name="Google Shape;277;p31"/>
            <p:cNvSpPr/>
            <p:nvPr/>
          </p:nvSpPr>
          <p:spPr>
            <a:xfrm>
              <a:off x="1360349" y="4296538"/>
              <a:ext cx="4869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8" name="Google Shape;278;p31"/>
            <p:cNvSpPr/>
            <p:nvPr/>
          </p:nvSpPr>
          <p:spPr>
            <a:xfrm>
              <a:off x="1912083" y="4296538"/>
              <a:ext cx="17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9" name="Google Shape;279;p31"/>
            <p:cNvSpPr/>
            <p:nvPr/>
          </p:nvSpPr>
          <p:spPr>
            <a:xfrm>
              <a:off x="395919" y="4505063"/>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0" name="Google Shape;280;p31"/>
            <p:cNvSpPr/>
            <p:nvPr/>
          </p:nvSpPr>
          <p:spPr>
            <a:xfrm>
              <a:off x="875884" y="4505063"/>
              <a:ext cx="6135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1" name="Google Shape;281;p31"/>
            <p:cNvSpPr/>
            <p:nvPr/>
          </p:nvSpPr>
          <p:spPr>
            <a:xfrm>
              <a:off x="1570204" y="4505063"/>
              <a:ext cx="26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2" name="Google Shape;282;p31"/>
            <p:cNvSpPr/>
            <p:nvPr/>
          </p:nvSpPr>
          <p:spPr>
            <a:xfrm>
              <a:off x="894657" y="75937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3" name="Google Shape;283;p31"/>
            <p:cNvSpPr/>
            <p:nvPr/>
          </p:nvSpPr>
          <p:spPr>
            <a:xfrm>
              <a:off x="486348" y="106828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4" name="Google Shape;284;p31"/>
            <p:cNvSpPr/>
            <p:nvPr/>
          </p:nvSpPr>
          <p:spPr>
            <a:xfrm>
              <a:off x="1169818" y="1064149"/>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5" name="Google Shape;285;p31"/>
            <p:cNvSpPr/>
            <p:nvPr/>
          </p:nvSpPr>
          <p:spPr>
            <a:xfrm>
              <a:off x="486342" y="1395013"/>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6" name="Google Shape;286;p31"/>
            <p:cNvSpPr/>
            <p:nvPr/>
          </p:nvSpPr>
          <p:spPr>
            <a:xfrm>
              <a:off x="1254423" y="1719659"/>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7" name="Google Shape;287;p31"/>
            <p:cNvSpPr/>
            <p:nvPr/>
          </p:nvSpPr>
          <p:spPr>
            <a:xfrm>
              <a:off x="1697859" y="3028567"/>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8" name="Google Shape;288;p31"/>
            <p:cNvSpPr/>
            <p:nvPr/>
          </p:nvSpPr>
          <p:spPr>
            <a:xfrm>
              <a:off x="1840717" y="2032296"/>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9" name="Google Shape;289;p31"/>
            <p:cNvSpPr/>
            <p:nvPr/>
          </p:nvSpPr>
          <p:spPr>
            <a:xfrm>
              <a:off x="2037810" y="2684069"/>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0" name="Google Shape;290;p31"/>
            <p:cNvSpPr/>
            <p:nvPr/>
          </p:nvSpPr>
          <p:spPr>
            <a:xfrm>
              <a:off x="1912311" y="450712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1" name="Google Shape;291;p31"/>
            <p:cNvSpPr/>
            <p:nvPr/>
          </p:nvSpPr>
          <p:spPr>
            <a:xfrm>
              <a:off x="434873" y="39876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2" name="Google Shape;292;p31"/>
            <p:cNvSpPr/>
            <p:nvPr/>
          </p:nvSpPr>
          <p:spPr>
            <a:xfrm>
              <a:off x="434873" y="37575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2"/>
          <p:cNvSpPr txBox="1">
            <a:spLocks noGrp="1"/>
          </p:cNvSpPr>
          <p:nvPr>
            <p:ph type="title"/>
          </p:nvPr>
        </p:nvSpPr>
        <p:spPr>
          <a:prstGeom prst="rect">
            <a:avLst/>
          </a:prstGeom>
        </p:spPr>
        <p:txBody>
          <a:bodyPr spcFirstLastPara="1" wrap="square" lIns="121900" tIns="121900" rIns="121900" bIns="121900" anchor="t" anchorCtr="0">
            <a:noAutofit/>
          </a:bodyPr>
          <a:lstStyle/>
          <a:p>
            <a:r>
              <a:rPr lang="en" dirty="0"/>
              <a:t>Contents </a:t>
            </a:r>
            <a:r>
              <a:rPr lang="en" dirty="0">
                <a:solidFill>
                  <a:schemeClr val="accent4"/>
                </a:solidFill>
              </a:rPr>
              <a:t>of Week 8</a:t>
            </a:r>
            <a:br>
              <a:rPr lang="en" dirty="0">
                <a:solidFill>
                  <a:schemeClr val="accent4"/>
                </a:solidFill>
              </a:rPr>
            </a:br>
            <a:endParaRPr dirty="0">
              <a:solidFill>
                <a:schemeClr val="accent4"/>
              </a:solidFill>
            </a:endParaRPr>
          </a:p>
        </p:txBody>
      </p:sp>
      <p:graphicFrame>
        <p:nvGraphicFramePr>
          <p:cNvPr id="299" name="Google Shape;299;p32"/>
          <p:cNvGraphicFramePr/>
          <p:nvPr>
            <p:extLst>
              <p:ext uri="{D42A27DB-BD31-4B8C-83A1-F6EECF244321}">
                <p14:modId xmlns:p14="http://schemas.microsoft.com/office/powerpoint/2010/main" val="511188643"/>
              </p:ext>
            </p:extLst>
          </p:nvPr>
        </p:nvGraphicFramePr>
        <p:xfrm>
          <a:off x="968901" y="2328148"/>
          <a:ext cx="10272000" cy="3563292"/>
        </p:xfrm>
        <a:graphic>
          <a:graphicData uri="http://schemas.openxmlformats.org/drawingml/2006/table">
            <a:tbl>
              <a:tblPr>
                <a:noFill/>
              </a:tblPr>
              <a:tblGrid>
                <a:gridCol w="3326100">
                  <a:extLst>
                    <a:ext uri="{9D8B030D-6E8A-4147-A177-3AD203B41FA5}">
                      <a16:colId xmlns:a16="http://schemas.microsoft.com/office/drawing/2014/main" val="20000"/>
                    </a:ext>
                  </a:extLst>
                </a:gridCol>
                <a:gridCol w="6945900">
                  <a:extLst>
                    <a:ext uri="{9D8B030D-6E8A-4147-A177-3AD203B41FA5}">
                      <a16:colId xmlns:a16="http://schemas.microsoft.com/office/drawing/2014/main" val="20001"/>
                    </a:ext>
                  </a:extLst>
                </a:gridCol>
              </a:tblGrid>
              <a:tr h="586023">
                <a:tc>
                  <a:txBody>
                    <a:bodyPr/>
                    <a:lstStyle/>
                    <a:p>
                      <a:pPr marL="0" lvl="0" indent="0" algn="l" rtl="0">
                        <a:spcBef>
                          <a:spcPts val="0"/>
                        </a:spcBef>
                        <a:spcAft>
                          <a:spcPts val="0"/>
                        </a:spcAft>
                        <a:buNone/>
                      </a:pPr>
                      <a:r>
                        <a:rPr lang="en" sz="1500" dirty="0">
                          <a:solidFill>
                            <a:schemeClr val="dk2"/>
                          </a:solidFill>
                          <a:uFill>
                            <a:noFill/>
                          </a:uFill>
                          <a:latin typeface="Source Code Pro"/>
                          <a:ea typeface="Source Code Pro"/>
                          <a:cs typeface="Source Code Pro"/>
                          <a:sym typeface="Source Code Pro"/>
                        </a:rPr>
                        <a:t>Recap &amp; introduction</a:t>
                      </a:r>
                      <a:endParaRPr sz="1500" dirty="0">
                        <a:solidFill>
                          <a:schemeClr val="dk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a:buNone/>
                      </a:pPr>
                      <a:r>
                        <a:rPr lang="en-US" sz="1300" dirty="0">
                          <a:latin typeface="Source Code Pro" panose="020B0509030403020204" pitchFamily="49" charset="0"/>
                          <a:ea typeface="Source Code Pro" panose="020B0509030403020204" pitchFamily="49" charset="0"/>
                        </a:rPr>
                        <a:t>Moving from Python OOP to Data Science. Why AI needs data.</a:t>
                      </a: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0"/>
                  </a:ext>
                </a:extLst>
              </a:tr>
              <a:tr h="1219200">
                <a:tc>
                  <a:txBody>
                    <a:bodyPr/>
                    <a:lstStyle/>
                    <a:p>
                      <a:pPr marL="0" lvl="0" indent="0" algn="l" rtl="0">
                        <a:spcBef>
                          <a:spcPts val="0"/>
                        </a:spcBef>
                        <a:spcAft>
                          <a:spcPts val="0"/>
                        </a:spcAft>
                        <a:buNone/>
                      </a:pPr>
                      <a:r>
                        <a:rPr lang="en" sz="1500" dirty="0">
                          <a:solidFill>
                            <a:schemeClr val="accent2"/>
                          </a:solidFill>
                          <a:uFill>
                            <a:noFill/>
                          </a:uFill>
                          <a:latin typeface="Source Code Pro"/>
                          <a:ea typeface="Source Code Pro"/>
                          <a:cs typeface="Source Code Pro"/>
                          <a:sym typeface="Source Code Pro"/>
                        </a:rPr>
                        <a:t>Core Thoery</a:t>
                      </a:r>
                      <a:endParaRPr sz="1500" dirty="0">
                        <a:solidFill>
                          <a:schemeClr val="accent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r>
                        <a:rPr lang="en-US" sz="1300" b="1" dirty="0">
                          <a:solidFill>
                            <a:schemeClr val="tx1"/>
                          </a:solidFill>
                          <a:latin typeface="Source Code Pro" panose="020B0509030403020204" pitchFamily="49" charset="0"/>
                          <a:ea typeface="Source Code Pro" panose="020B0509030403020204" pitchFamily="49" charset="0"/>
                        </a:rPr>
                        <a:t>Introduction Recurrent Neural Network (RNN) </a:t>
                      </a: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586023">
                <a:tc>
                  <a:txBody>
                    <a:bodyPr/>
                    <a:lstStyle/>
                    <a:p>
                      <a:pPr marL="0" lvl="0" indent="0" algn="l" rtl="0">
                        <a:spcBef>
                          <a:spcPts val="0"/>
                        </a:spcBef>
                        <a:spcAft>
                          <a:spcPts val="0"/>
                        </a:spcAft>
                        <a:buNone/>
                      </a:pPr>
                      <a:r>
                        <a:rPr lang="en" sz="1500" dirty="0">
                          <a:solidFill>
                            <a:schemeClr val="accent4"/>
                          </a:solidFill>
                          <a:uFill>
                            <a:noFill/>
                          </a:uFill>
                          <a:latin typeface="Source Code Pro"/>
                          <a:ea typeface="Source Code Pro"/>
                          <a:cs typeface="Source Code Pro"/>
                          <a:sym typeface="Source Code Pro"/>
                        </a:rPr>
                        <a:t>Lab Practice</a:t>
                      </a:r>
                      <a:endParaRPr sz="1500" dirty="0">
                        <a:solidFill>
                          <a:schemeClr val="accent4"/>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Practical coding tasks implementing method</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586023">
                <a:tc>
                  <a:txBody>
                    <a:bodyPr/>
                    <a:lstStyle/>
                    <a:p>
                      <a:pPr marL="0" lvl="0" indent="0" algn="l" rtl="0">
                        <a:spcBef>
                          <a:spcPts val="0"/>
                        </a:spcBef>
                        <a:spcAft>
                          <a:spcPts val="0"/>
                        </a:spcAft>
                        <a:buNone/>
                      </a:pPr>
                      <a:r>
                        <a:rPr lang="en" sz="1500">
                          <a:solidFill>
                            <a:schemeClr val="accent5"/>
                          </a:solidFill>
                          <a:uFill>
                            <a:noFill/>
                          </a:uFill>
                          <a:latin typeface="Source Code Pro"/>
                          <a:ea typeface="Source Code Pro"/>
                          <a:cs typeface="Source Code Pro"/>
                          <a:sym typeface="Source Code Pro"/>
                        </a:rPr>
                        <a:t>Advance Lab</a:t>
                      </a:r>
                      <a:endParaRPr sz="1500" dirty="0">
                        <a:solidFill>
                          <a:schemeClr val="accent5"/>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Understanding the logic with real world examples.</a:t>
                      </a: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586023">
                <a:tc>
                  <a:txBody>
                    <a:bodyPr/>
                    <a:lstStyle/>
                    <a:p>
                      <a:pPr marL="0" lvl="0" indent="0" algn="l" rtl="0">
                        <a:spcBef>
                          <a:spcPts val="0"/>
                        </a:spcBef>
                        <a:spcAft>
                          <a:spcPts val="0"/>
                        </a:spcAft>
                        <a:buNone/>
                      </a:pPr>
                      <a:r>
                        <a:rPr lang="en" sz="1500">
                          <a:solidFill>
                            <a:schemeClr val="accent1"/>
                          </a:solidFill>
                          <a:uFill>
                            <a:noFill/>
                          </a:uFill>
                          <a:latin typeface="Source Code Pro"/>
                          <a:ea typeface="Source Code Pro"/>
                          <a:cs typeface="Source Code Pro"/>
                          <a:sym typeface="Source Code Pro"/>
                        </a:rPr>
                        <a:t>Wrap-up &amp; Q&amp;A</a:t>
                      </a:r>
                      <a:endParaRPr sz="1500" dirty="0">
                        <a:solidFill>
                          <a:schemeClr val="accent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US" sz="1300" dirty="0">
                          <a:solidFill>
                            <a:schemeClr val="dk1"/>
                          </a:solidFill>
                          <a:latin typeface="Source Code Pro"/>
                          <a:ea typeface="Source Code Pro"/>
                          <a:cs typeface="Source Code Pro"/>
                          <a:sym typeface="Source Code Pro"/>
                        </a:rPr>
                        <a:t>Debugging tips along with Q&amp;A and suggestion</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0" name="Google Shape;300;p32"/>
          <p:cNvSpPr txBox="1"/>
          <p:nvPr/>
        </p:nvSpPr>
        <p:spPr>
          <a:xfrm>
            <a:off x="951099" y="5523067"/>
            <a:ext cx="4085200" cy="615600"/>
          </a:xfrm>
          <a:prstGeom prst="rect">
            <a:avLst/>
          </a:prstGeom>
          <a:noFill/>
          <a:ln>
            <a:noFill/>
          </a:ln>
        </p:spPr>
        <p:txBody>
          <a:bodyPr spcFirstLastPara="1" wrap="square" lIns="121900" tIns="121900" rIns="121900" bIns="121900" anchor="t" anchorCtr="0">
            <a:noAutofit/>
          </a:bodyPr>
          <a:lstStyle/>
          <a:p>
            <a:endParaRPr sz="1467" dirty="0">
              <a:solidFill>
                <a:schemeClr val="accent3"/>
              </a:solidFill>
              <a:latin typeface="Source Code Pro"/>
              <a:ea typeface="Source Code Pro"/>
              <a:cs typeface="Source Code Pro"/>
              <a:sym typeface="Source Code Pr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478E5AC7-4524-6A51-8B39-8D8899921CA8}"/>
            </a:ext>
          </a:extLst>
        </p:cNvPr>
        <p:cNvGrpSpPr/>
        <p:nvPr/>
      </p:nvGrpSpPr>
      <p:grpSpPr>
        <a:xfrm>
          <a:off x="0" y="0"/>
          <a:ext cx="0" cy="0"/>
          <a:chOff x="0" y="0"/>
          <a:chExt cx="0" cy="0"/>
        </a:xfrm>
      </p:grpSpPr>
      <p:sp>
        <p:nvSpPr>
          <p:cNvPr id="2" name="TextBox 1"/>
          <p:cNvSpPr txBox="1"/>
          <p:nvPr/>
        </p:nvSpPr>
        <p:spPr>
          <a:xfrm>
            <a:off x="457199" y="365760"/>
            <a:ext cx="10838985" cy="584775"/>
          </a:xfrm>
          <a:prstGeom prst="rect">
            <a:avLst/>
          </a:prstGeom>
          <a:noFill/>
        </p:spPr>
        <p:txBody>
          <a:bodyPr wrap="square">
            <a:spAutoFit/>
          </a:bodyPr>
          <a:lstStyle/>
          <a:p>
            <a:pPr algn="l"/>
            <a:r>
              <a:rPr sz="3200" b="0" dirty="0">
                <a:solidFill>
                  <a:srgbClr val="FFFFFF"/>
                </a:solidFill>
                <a:latin typeface="Source Code Pro"/>
              </a:rPr>
              <a:t>What is a Recurrent Neural Network?</a:t>
            </a:r>
          </a:p>
        </p:txBody>
      </p:sp>
      <p:sp>
        <p:nvSpPr>
          <p:cNvPr id="3" name="TextBox 2"/>
          <p:cNvSpPr txBox="1"/>
          <p:nvPr/>
        </p:nvSpPr>
        <p:spPr>
          <a:xfrm>
            <a:off x="457199" y="1652611"/>
            <a:ext cx="8229600" cy="3108543"/>
          </a:xfrm>
          <a:prstGeom prst="rect">
            <a:avLst/>
          </a:prstGeom>
          <a:noFill/>
        </p:spPr>
        <p:txBody>
          <a:bodyPr wrap="square">
            <a:spAutoFit/>
          </a:bodyPr>
          <a:lstStyle/>
          <a:p>
            <a:pPr algn="l"/>
            <a:r>
              <a:rPr lang="en-US" sz="1400" dirty="0"/>
              <a:t>RRN is a type of deep learning model designed for sequential data—such as text, time series, or speech—where context and order matter. Unlike feedforward networks, RNNs have loops and hidden states, allowing them to pass information from previous time steps to influence the current input and output, acting as a form of "memory"</a:t>
            </a:r>
            <a:endParaRPr lang="en-US" sz="1400" dirty="0">
              <a:solidFill>
                <a:srgbClr val="E7E7E7"/>
              </a:solidFill>
              <a:latin typeface="Source Code Pro"/>
            </a:endParaRPr>
          </a:p>
          <a:p>
            <a:pPr algn="l"/>
            <a:endParaRPr lang="en-US" sz="1400" dirty="0">
              <a:solidFill>
                <a:srgbClr val="E7E7E7"/>
              </a:solidFill>
              <a:latin typeface="Source Code Pro"/>
            </a:endParaRPr>
          </a:p>
          <a:p>
            <a:pPr algn="l"/>
            <a:endParaRPr lang="en-US" sz="1400" dirty="0">
              <a:solidFill>
                <a:srgbClr val="E7E7E7"/>
              </a:solidFill>
              <a:latin typeface="Source Code Pro"/>
            </a:endParaRPr>
          </a:p>
          <a:p>
            <a:pPr algn="l"/>
            <a:r>
              <a:rPr sz="1400" dirty="0">
                <a:solidFill>
                  <a:srgbClr val="E7E7E7"/>
                </a:solidFill>
                <a:latin typeface="Source Code Pro"/>
              </a:rPr>
              <a:t>A </a:t>
            </a:r>
            <a:r>
              <a:rPr sz="1400" b="1" dirty="0">
                <a:solidFill>
                  <a:srgbClr val="EC7955"/>
                </a:solidFill>
                <a:latin typeface="Source Code Pro"/>
              </a:rPr>
              <a:t>Recurrent</a:t>
            </a:r>
            <a:r>
              <a:rPr sz="1400" dirty="0">
                <a:solidFill>
                  <a:srgbClr val="E7E7E7"/>
                </a:solidFill>
                <a:latin typeface="Source Code Pro"/>
              </a:rPr>
              <a:t> </a:t>
            </a:r>
            <a:r>
              <a:rPr sz="1400" b="1" dirty="0">
                <a:solidFill>
                  <a:srgbClr val="E7E7E7"/>
                </a:solidFill>
                <a:latin typeface="Source Code Pro"/>
              </a:rPr>
              <a:t>Neural</a:t>
            </a:r>
            <a:r>
              <a:rPr sz="1400" dirty="0">
                <a:solidFill>
                  <a:srgbClr val="E7E7E7"/>
                </a:solidFill>
                <a:latin typeface="Source Code Pro"/>
              </a:rPr>
              <a:t> </a:t>
            </a:r>
            <a:r>
              <a:rPr sz="1400" b="1" dirty="0">
                <a:solidFill>
                  <a:srgbClr val="E7E7E7"/>
                </a:solidFill>
                <a:latin typeface="Source Code Pro"/>
              </a:rPr>
              <a:t>Network</a:t>
            </a:r>
            <a:r>
              <a:rPr sz="1400" dirty="0">
                <a:solidFill>
                  <a:srgbClr val="E7E7E7"/>
                </a:solidFill>
                <a:latin typeface="Source Code Pro"/>
              </a:rPr>
              <a:t> (</a:t>
            </a:r>
            <a:r>
              <a:rPr sz="1400" b="1" dirty="0">
                <a:solidFill>
                  <a:srgbClr val="EC7955"/>
                </a:solidFill>
                <a:latin typeface="Source Code Pro"/>
              </a:rPr>
              <a:t>RNN</a:t>
            </a:r>
            <a:r>
              <a:rPr sz="1400" dirty="0">
                <a:solidFill>
                  <a:srgbClr val="E7E7E7"/>
                </a:solidFill>
                <a:latin typeface="Source Code Pro"/>
              </a:rPr>
              <a:t>) is a </a:t>
            </a:r>
            <a:r>
              <a:rPr sz="1400" b="1" dirty="0">
                <a:solidFill>
                  <a:srgbClr val="E7E7E7"/>
                </a:solidFill>
                <a:latin typeface="Source Code Pro"/>
              </a:rPr>
              <a:t>neural</a:t>
            </a:r>
            <a:r>
              <a:rPr sz="1400" dirty="0">
                <a:solidFill>
                  <a:srgbClr val="E7E7E7"/>
                </a:solidFill>
                <a:latin typeface="Source Code Pro"/>
              </a:rPr>
              <a:t> </a:t>
            </a:r>
            <a:r>
              <a:rPr sz="1400" b="1" dirty="0">
                <a:solidFill>
                  <a:srgbClr val="E7E7E7"/>
                </a:solidFill>
                <a:latin typeface="Source Code Pro"/>
              </a:rPr>
              <a:t>network</a:t>
            </a:r>
            <a:r>
              <a:rPr sz="1400" dirty="0">
                <a:solidFill>
                  <a:srgbClr val="E7E7E7"/>
                </a:solidFill>
                <a:latin typeface="Source Code Pro"/>
              </a:rPr>
              <a:t> designed for </a:t>
            </a:r>
            <a:r>
              <a:rPr sz="1400" b="1" dirty="0">
                <a:solidFill>
                  <a:srgbClr val="E7E7E7"/>
                </a:solidFill>
                <a:latin typeface="Source Code Pro"/>
              </a:rPr>
              <a:t>sequences</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Unlike dense networks (one input → one output), RNNs process </a:t>
            </a:r>
            <a:r>
              <a:rPr sz="1400" b="1" dirty="0">
                <a:solidFill>
                  <a:srgbClr val="E7E7E7"/>
                </a:solidFill>
                <a:latin typeface="Source Code Pro"/>
              </a:rPr>
              <a:t>sequences</a:t>
            </a:r>
            <a:r>
              <a:rPr sz="1400" dirty="0">
                <a:solidFill>
                  <a:srgbClr val="E7E7E7"/>
                </a:solidFill>
                <a:latin typeface="Source Code Pro"/>
              </a:rPr>
              <a:t> </a:t>
            </a:r>
            <a:r>
              <a:rPr sz="1400" b="1" dirty="0">
                <a:solidFill>
                  <a:srgbClr val="E81A81"/>
                </a:solidFill>
                <a:latin typeface="Source Code Pro"/>
              </a:rPr>
              <a:t>step</a:t>
            </a:r>
            <a:r>
              <a:rPr sz="1400" dirty="0">
                <a:solidFill>
                  <a:srgbClr val="E7E7E7"/>
                </a:solidFill>
                <a:latin typeface="Source Code Pro"/>
              </a:rPr>
              <a:t>-by-</a:t>
            </a:r>
            <a:r>
              <a:rPr sz="1400" b="1" dirty="0">
                <a:solidFill>
                  <a:srgbClr val="FD4A4A"/>
                </a:solidFill>
                <a:latin typeface="Source Code Pro"/>
              </a:rPr>
              <a:t>step</a:t>
            </a:r>
            <a:r>
              <a:rPr sz="1400" dirty="0">
                <a:solidFill>
                  <a:srgbClr val="E7E7E7"/>
                </a:solidFill>
                <a:latin typeface="Source Code Pro"/>
              </a:rPr>
              <a:t>.</a:t>
            </a:r>
          </a:p>
          <a:p>
            <a:pPr algn="l"/>
            <a:r>
              <a:rPr sz="1400" dirty="0">
                <a:solidFill>
                  <a:srgbClr val="E7E7E7"/>
                </a:solidFill>
                <a:latin typeface="Source Code Pro"/>
              </a:rPr>
              <a:t>Each </a:t>
            </a:r>
            <a:r>
              <a:rPr sz="1400" b="1" dirty="0">
                <a:solidFill>
                  <a:srgbClr val="E7E7E7"/>
                </a:solidFill>
                <a:latin typeface="Source Code Pro"/>
              </a:rPr>
              <a:t>timestep</a:t>
            </a:r>
            <a:r>
              <a:rPr sz="1400" dirty="0">
                <a:solidFill>
                  <a:srgbClr val="E7E7E7"/>
                </a:solidFill>
                <a:latin typeface="Source Code Pro"/>
              </a:rPr>
              <a:t> takes input + </a:t>
            </a:r>
            <a:r>
              <a:rPr sz="1400" b="1" dirty="0">
                <a:solidFill>
                  <a:srgbClr val="E7E7E7"/>
                </a:solidFill>
                <a:latin typeface="Source Code Pro"/>
              </a:rPr>
              <a:t>previous</a:t>
            </a:r>
            <a:r>
              <a:rPr sz="1400" dirty="0">
                <a:solidFill>
                  <a:srgbClr val="E7E7E7"/>
                </a:solidFill>
                <a:latin typeface="Source Code Pro"/>
              </a:rPr>
              <a:t> </a:t>
            </a:r>
            <a:r>
              <a:rPr sz="1400" b="1" dirty="0">
                <a:solidFill>
                  <a:srgbClr val="E7E7E7"/>
                </a:solidFill>
                <a:latin typeface="Source Code Pro"/>
              </a:rPr>
              <a:t>hidden</a:t>
            </a:r>
            <a:r>
              <a:rPr sz="1400" dirty="0">
                <a:solidFill>
                  <a:srgbClr val="E7E7E7"/>
                </a:solidFill>
                <a:latin typeface="Source Code Pro"/>
              </a:rPr>
              <a:t> </a:t>
            </a:r>
            <a:r>
              <a:rPr sz="1400" b="1" dirty="0">
                <a:solidFill>
                  <a:srgbClr val="BD64B5"/>
                </a:solidFill>
                <a:latin typeface="Source Code Pro"/>
              </a:rPr>
              <a:t>state</a:t>
            </a:r>
            <a:r>
              <a:rPr sz="1400" dirty="0">
                <a:solidFill>
                  <a:srgbClr val="E7E7E7"/>
                </a:solidFill>
                <a:latin typeface="Source Code Pro"/>
              </a:rPr>
              <a:t> → new </a:t>
            </a:r>
            <a:r>
              <a:rPr sz="1400" b="1" dirty="0">
                <a:solidFill>
                  <a:srgbClr val="E7E7E7"/>
                </a:solidFill>
                <a:latin typeface="Source Code Pro"/>
              </a:rPr>
              <a:t>hidden</a:t>
            </a:r>
            <a:r>
              <a:rPr sz="1400" dirty="0">
                <a:solidFill>
                  <a:srgbClr val="E7E7E7"/>
                </a:solidFill>
                <a:latin typeface="Source Code Pro"/>
              </a:rPr>
              <a:t> </a:t>
            </a:r>
            <a:r>
              <a:rPr sz="1400" b="1" dirty="0">
                <a:solidFill>
                  <a:srgbClr val="EC7955"/>
                </a:solidFill>
                <a:latin typeface="Source Code Pro"/>
              </a:rPr>
              <a:t>state</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Key insight: RNNs have </a:t>
            </a:r>
            <a:r>
              <a:rPr sz="1400" b="1" dirty="0">
                <a:solidFill>
                  <a:srgbClr val="EC7955"/>
                </a:solidFill>
                <a:latin typeface="Source Code Pro"/>
              </a:rPr>
              <a:t>memory</a:t>
            </a:r>
            <a:r>
              <a:rPr sz="1400" dirty="0">
                <a:solidFill>
                  <a:srgbClr val="E7E7E7"/>
                </a:solidFill>
                <a:latin typeface="Source Code Pro"/>
              </a:rPr>
              <a:t>. They remember </a:t>
            </a:r>
            <a:r>
              <a:rPr sz="1400" b="1" dirty="0">
                <a:solidFill>
                  <a:srgbClr val="E7E7E7"/>
                </a:solidFill>
                <a:latin typeface="Source Code Pro"/>
              </a:rPr>
              <a:t>previous</a:t>
            </a:r>
            <a:r>
              <a:rPr sz="1400" dirty="0">
                <a:solidFill>
                  <a:srgbClr val="E7E7E7"/>
                </a:solidFill>
                <a:latin typeface="Source Code Pro"/>
              </a:rPr>
              <a:t> inputs.</a:t>
            </a:r>
          </a:p>
        </p:txBody>
      </p:sp>
    </p:spTree>
    <p:extLst>
      <p:ext uri="{BB962C8B-B14F-4D97-AF65-F5344CB8AC3E}">
        <p14:creationId xmlns:p14="http://schemas.microsoft.com/office/powerpoint/2010/main" val="2300154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FAE09901-1EA4-1281-E9D0-75400B0345C0}"/>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Why RNN Instead of Dense Networks?</a:t>
            </a:r>
          </a:p>
        </p:txBody>
      </p:sp>
      <p:sp>
        <p:nvSpPr>
          <p:cNvPr id="3" name="TextBox 2"/>
          <p:cNvSpPr txBox="1"/>
          <p:nvPr/>
        </p:nvSpPr>
        <p:spPr>
          <a:xfrm>
            <a:off x="256032" y="1463040"/>
            <a:ext cx="8229600" cy="2031325"/>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Dense </a:t>
            </a:r>
            <a:r>
              <a:rPr sz="1400" b="1" dirty="0">
                <a:solidFill>
                  <a:srgbClr val="E81A81"/>
                </a:solidFill>
                <a:latin typeface="Source Code Pro"/>
              </a:rPr>
              <a:t>network</a:t>
            </a:r>
            <a:r>
              <a:rPr sz="1400" dirty="0">
                <a:solidFill>
                  <a:srgbClr val="E7E7E7"/>
                </a:solidFill>
                <a:latin typeface="Source Code Pro"/>
              </a:rPr>
              <a:t>: Treats each </a:t>
            </a:r>
            <a:r>
              <a:rPr sz="1400" b="1" dirty="0">
                <a:solidFill>
                  <a:srgbClr val="E7E7E7"/>
                </a:solidFill>
                <a:latin typeface="Source Code Pro"/>
              </a:rPr>
              <a:t>word</a:t>
            </a:r>
            <a:r>
              <a:rPr sz="1400" dirty="0">
                <a:solidFill>
                  <a:srgbClr val="E7E7E7"/>
                </a:solidFill>
                <a:latin typeface="Source Code Pro"/>
              </a:rPr>
              <a:t> independently. "The cat sat" loses </a:t>
            </a:r>
            <a:r>
              <a:rPr sz="1400" b="1" dirty="0">
                <a:solidFill>
                  <a:srgbClr val="E81A81"/>
                </a:solidFill>
                <a:latin typeface="Source Code Pro"/>
              </a:rPr>
              <a:t>order</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RNN: Processes </a:t>
            </a:r>
            <a:r>
              <a:rPr sz="1400" b="1" dirty="0">
                <a:solidFill>
                  <a:srgbClr val="E7E7E7"/>
                </a:solidFill>
                <a:latin typeface="Source Code Pro"/>
              </a:rPr>
              <a:t>word</a:t>
            </a:r>
            <a:r>
              <a:rPr sz="1400" dirty="0">
                <a:solidFill>
                  <a:srgbClr val="E7E7E7"/>
                </a:solidFill>
                <a:latin typeface="Source Code Pro"/>
              </a:rPr>
              <a:t>-by-</a:t>
            </a:r>
            <a:r>
              <a:rPr sz="1400" b="1" dirty="0">
                <a:solidFill>
                  <a:srgbClr val="E7E7E7"/>
                </a:solidFill>
                <a:latin typeface="Source Code Pro"/>
              </a:rPr>
              <a:t>word</a:t>
            </a:r>
            <a:r>
              <a:rPr sz="1400" dirty="0">
                <a:solidFill>
                  <a:srgbClr val="E7E7E7"/>
                </a:solidFill>
                <a:latin typeface="Source Code Pro"/>
              </a:rPr>
              <a:t>, remembers </a:t>
            </a:r>
            <a:r>
              <a:rPr sz="1400" b="1" dirty="0">
                <a:solidFill>
                  <a:srgbClr val="E7E7E7"/>
                </a:solidFill>
                <a:latin typeface="Source Code Pro"/>
              </a:rPr>
              <a:t>previous</a:t>
            </a:r>
            <a:r>
              <a:rPr sz="1400" dirty="0">
                <a:solidFill>
                  <a:srgbClr val="E7E7E7"/>
                </a:solidFill>
                <a:latin typeface="Source Code Pro"/>
              </a:rPr>
              <a:t> </a:t>
            </a:r>
            <a:r>
              <a:rPr sz="1400" b="1" dirty="0">
                <a:solidFill>
                  <a:srgbClr val="E81A81"/>
                </a:solidFill>
                <a:latin typeface="Source Code Pro"/>
              </a:rPr>
              <a:t>words</a:t>
            </a:r>
            <a:r>
              <a:rPr sz="1400" dirty="0">
                <a:solidFill>
                  <a:srgbClr val="E7E7E7"/>
                </a:solidFill>
                <a:latin typeface="Source Code Pro"/>
              </a:rPr>
              <a:t>.</a:t>
            </a:r>
          </a:p>
          <a:p>
            <a:pPr algn="l"/>
            <a:r>
              <a:rPr sz="1400" dirty="0">
                <a:solidFill>
                  <a:srgbClr val="E7E7E7"/>
                </a:solidFill>
                <a:latin typeface="Source Code Pro"/>
              </a:rPr>
              <a:t>"The" → </a:t>
            </a:r>
            <a:r>
              <a:rPr sz="1400" b="1" dirty="0">
                <a:solidFill>
                  <a:srgbClr val="E7E7E7"/>
                </a:solidFill>
                <a:latin typeface="Source Code Pro"/>
              </a:rPr>
              <a:t>hidden</a:t>
            </a:r>
            <a:r>
              <a:rPr sz="1400" dirty="0">
                <a:solidFill>
                  <a:srgbClr val="E7E7E7"/>
                </a:solidFill>
                <a:latin typeface="Source Code Pro"/>
              </a:rPr>
              <a:t> state → "cat" → </a:t>
            </a:r>
            <a:r>
              <a:rPr sz="1400" b="1" dirty="0">
                <a:solidFill>
                  <a:srgbClr val="E7E7E7"/>
                </a:solidFill>
                <a:latin typeface="Source Code Pro"/>
              </a:rPr>
              <a:t>hidden</a:t>
            </a:r>
            <a:r>
              <a:rPr sz="1400" dirty="0">
                <a:solidFill>
                  <a:srgbClr val="E7E7E7"/>
                </a:solidFill>
                <a:latin typeface="Source Code Pro"/>
              </a:rPr>
              <a:t> state → "sat"</a:t>
            </a:r>
          </a:p>
          <a:p>
            <a:pPr algn="l"/>
            <a:endParaRPr sz="1400" dirty="0">
              <a:solidFill>
                <a:srgbClr val="E7E7E7"/>
              </a:solidFill>
              <a:latin typeface="Source Code Pro"/>
            </a:endParaRPr>
          </a:p>
          <a:p>
            <a:pPr algn="l"/>
            <a:r>
              <a:rPr sz="1400" dirty="0">
                <a:solidFill>
                  <a:srgbClr val="E7E7E7"/>
                </a:solidFill>
                <a:latin typeface="Source Code Pro"/>
              </a:rPr>
              <a:t>Result: RNN understands </a:t>
            </a:r>
            <a:r>
              <a:rPr sz="1400" b="1" dirty="0">
                <a:solidFill>
                  <a:srgbClr val="E7E7E7"/>
                </a:solidFill>
                <a:latin typeface="Source Code Pro"/>
              </a:rPr>
              <a:t>sequences</a:t>
            </a:r>
            <a:r>
              <a:rPr sz="1400" dirty="0">
                <a:solidFill>
                  <a:srgbClr val="E7E7E7"/>
                </a:solidFill>
                <a:latin typeface="Source Code Pro"/>
              </a:rPr>
              <a:t>, </a:t>
            </a:r>
            <a:r>
              <a:rPr sz="1400" b="1" dirty="0">
                <a:solidFill>
                  <a:srgbClr val="E7E7E7"/>
                </a:solidFill>
                <a:latin typeface="Source Code Pro"/>
              </a:rPr>
              <a:t>context</a:t>
            </a:r>
            <a:r>
              <a:rPr sz="1400" dirty="0">
                <a:solidFill>
                  <a:srgbClr val="E7E7E7"/>
                </a:solidFill>
                <a:latin typeface="Source Code Pro"/>
              </a:rPr>
              <a:t>, </a:t>
            </a:r>
            <a:r>
              <a:rPr sz="1400" b="1" dirty="0">
                <a:solidFill>
                  <a:srgbClr val="BD64B5"/>
                </a:solidFill>
                <a:latin typeface="Source Code Pro"/>
              </a:rPr>
              <a:t>relationships</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Perfect for: Text, </a:t>
            </a:r>
            <a:r>
              <a:rPr sz="1400" b="1" dirty="0">
                <a:solidFill>
                  <a:srgbClr val="94EE6B"/>
                </a:solidFill>
                <a:latin typeface="Source Code Pro"/>
              </a:rPr>
              <a:t>time</a:t>
            </a:r>
            <a:r>
              <a:rPr sz="1400" dirty="0">
                <a:solidFill>
                  <a:srgbClr val="E7E7E7"/>
                </a:solidFill>
                <a:latin typeface="Source Code Pro"/>
              </a:rPr>
              <a:t>-</a:t>
            </a:r>
            <a:r>
              <a:rPr sz="1400" b="1" dirty="0">
                <a:solidFill>
                  <a:srgbClr val="E7E7E7"/>
                </a:solidFill>
                <a:latin typeface="Source Code Pro"/>
              </a:rPr>
              <a:t>series</a:t>
            </a:r>
            <a:r>
              <a:rPr sz="1400" dirty="0">
                <a:solidFill>
                  <a:srgbClr val="E7E7E7"/>
                </a:solidFill>
                <a:latin typeface="Source Code Pro"/>
              </a:rPr>
              <a:t>, </a:t>
            </a:r>
            <a:r>
              <a:rPr sz="1400" b="1" dirty="0">
                <a:solidFill>
                  <a:srgbClr val="E7E7E7"/>
                </a:solidFill>
                <a:latin typeface="Source Code Pro"/>
              </a:rPr>
              <a:t>speech</a:t>
            </a:r>
            <a:r>
              <a:rPr sz="1400" dirty="0">
                <a:solidFill>
                  <a:srgbClr val="E7E7E7"/>
                </a:solidFill>
                <a:latin typeface="Source Code Pro"/>
              </a:rPr>
              <a:t>, </a:t>
            </a:r>
            <a:r>
              <a:rPr sz="1400" b="1" dirty="0">
                <a:solidFill>
                  <a:srgbClr val="E7E7E7"/>
                </a:solidFill>
                <a:latin typeface="Source Code Pro"/>
              </a:rPr>
              <a:t>video</a:t>
            </a:r>
            <a:r>
              <a:rPr sz="1400" dirty="0">
                <a:solidFill>
                  <a:srgbClr val="E7E7E7"/>
                </a:solidFill>
                <a:latin typeface="Source Code Pro"/>
              </a:rPr>
              <a:t>.</a:t>
            </a:r>
          </a:p>
        </p:txBody>
      </p:sp>
    </p:spTree>
    <p:extLst>
      <p:ext uri="{BB962C8B-B14F-4D97-AF65-F5344CB8AC3E}">
        <p14:creationId xmlns:p14="http://schemas.microsoft.com/office/powerpoint/2010/main" val="3664333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B93EF743-37DF-61A5-E507-BEE9CB679660}"/>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RNN Architecture - Forward Pass</a:t>
            </a:r>
          </a:p>
        </p:txBody>
      </p:sp>
      <p:sp>
        <p:nvSpPr>
          <p:cNvPr id="3" name="TextBox 2"/>
          <p:cNvSpPr txBox="1"/>
          <p:nvPr/>
        </p:nvSpPr>
        <p:spPr>
          <a:xfrm>
            <a:off x="256032" y="1463040"/>
            <a:ext cx="8229600" cy="3539430"/>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Input </a:t>
            </a:r>
            <a:r>
              <a:rPr sz="1400" b="1" dirty="0">
                <a:solidFill>
                  <a:srgbClr val="E7E7E7"/>
                </a:solidFill>
                <a:latin typeface="Source Code Pro"/>
              </a:rPr>
              <a:t>sequence</a:t>
            </a:r>
            <a:r>
              <a:rPr sz="1400" dirty="0">
                <a:solidFill>
                  <a:srgbClr val="E7E7E7"/>
                </a:solidFill>
                <a:latin typeface="Source Code Pro"/>
              </a:rPr>
              <a:t>: [x1, x2, x3, x4, x5] (5 </a:t>
            </a:r>
            <a:r>
              <a:rPr sz="1400" b="1" dirty="0">
                <a:solidFill>
                  <a:srgbClr val="4CAE97"/>
                </a:solidFill>
                <a:latin typeface="Source Code Pro"/>
              </a:rPr>
              <a:t>timesteps</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At each </a:t>
            </a:r>
            <a:r>
              <a:rPr sz="1400" b="1" dirty="0">
                <a:solidFill>
                  <a:srgbClr val="4CAE97"/>
                </a:solidFill>
                <a:latin typeface="Source Code Pro"/>
              </a:rPr>
              <a:t>timestep</a:t>
            </a:r>
            <a:r>
              <a:rPr sz="1400" dirty="0">
                <a:solidFill>
                  <a:srgbClr val="E7E7E7"/>
                </a:solidFill>
                <a:latin typeface="Source Code Pro"/>
              </a:rPr>
              <a:t> t:</a:t>
            </a:r>
          </a:p>
          <a:p>
            <a:pPr algn="l"/>
            <a:r>
              <a:rPr sz="1400" dirty="0">
                <a:solidFill>
                  <a:srgbClr val="E7E7E7"/>
                </a:solidFill>
                <a:latin typeface="Source Code Pro"/>
              </a:rPr>
              <a:t>  </a:t>
            </a:r>
            <a:r>
              <a:rPr sz="1400" dirty="0" err="1">
                <a:solidFill>
                  <a:srgbClr val="E7E7E7"/>
                </a:solidFill>
                <a:latin typeface="Source Code Pro"/>
              </a:rPr>
              <a:t>hidden_state</a:t>
            </a:r>
            <a:r>
              <a:rPr sz="1400" dirty="0">
                <a:solidFill>
                  <a:srgbClr val="E7E7E7"/>
                </a:solidFill>
                <a:latin typeface="Source Code Pro"/>
              </a:rPr>
              <a:t>[t] = activation(</a:t>
            </a:r>
            <a:r>
              <a:rPr sz="1400" dirty="0" err="1">
                <a:solidFill>
                  <a:srgbClr val="E7E7E7"/>
                </a:solidFill>
                <a:latin typeface="Source Code Pro"/>
              </a:rPr>
              <a:t>W_h</a:t>
            </a:r>
            <a:r>
              <a:rPr sz="1400" dirty="0">
                <a:solidFill>
                  <a:srgbClr val="E7E7E7"/>
                </a:solidFill>
                <a:latin typeface="Source Code Pro"/>
              </a:rPr>
              <a:t> × </a:t>
            </a:r>
            <a:r>
              <a:rPr sz="1400" dirty="0" err="1">
                <a:solidFill>
                  <a:srgbClr val="E7E7E7"/>
                </a:solidFill>
                <a:latin typeface="Source Code Pro"/>
              </a:rPr>
              <a:t>hidden_state</a:t>
            </a:r>
            <a:r>
              <a:rPr sz="1400" dirty="0">
                <a:solidFill>
                  <a:srgbClr val="E7E7E7"/>
                </a:solidFill>
                <a:latin typeface="Source Code Pro"/>
              </a:rPr>
              <a:t>[t-1] + </a:t>
            </a:r>
            <a:r>
              <a:rPr sz="1400" dirty="0" err="1">
                <a:solidFill>
                  <a:srgbClr val="E7E7E7"/>
                </a:solidFill>
                <a:latin typeface="Source Code Pro"/>
              </a:rPr>
              <a:t>W_x</a:t>
            </a:r>
            <a:r>
              <a:rPr sz="1400" dirty="0">
                <a:solidFill>
                  <a:srgbClr val="E7E7E7"/>
                </a:solidFill>
                <a:latin typeface="Source Code Pro"/>
              </a:rPr>
              <a:t> × input[t] + b)</a:t>
            </a:r>
          </a:p>
          <a:p>
            <a:pPr algn="l"/>
            <a:r>
              <a:rPr sz="1400" dirty="0">
                <a:solidFill>
                  <a:srgbClr val="E7E7E7"/>
                </a:solidFill>
                <a:latin typeface="Source Code Pro"/>
              </a:rPr>
              <a:t>  output[t] = </a:t>
            </a:r>
            <a:r>
              <a:rPr sz="1400" dirty="0" err="1">
                <a:solidFill>
                  <a:srgbClr val="E7E7E7"/>
                </a:solidFill>
                <a:latin typeface="Source Code Pro"/>
              </a:rPr>
              <a:t>W_y</a:t>
            </a:r>
            <a:r>
              <a:rPr sz="1400" dirty="0">
                <a:solidFill>
                  <a:srgbClr val="E7E7E7"/>
                </a:solidFill>
                <a:latin typeface="Source Code Pro"/>
              </a:rPr>
              <a:t> × </a:t>
            </a:r>
            <a:r>
              <a:rPr sz="1400" dirty="0" err="1">
                <a:solidFill>
                  <a:srgbClr val="E7E7E7"/>
                </a:solidFill>
                <a:latin typeface="Source Code Pro"/>
              </a:rPr>
              <a:t>hidden_state</a:t>
            </a:r>
            <a:r>
              <a:rPr sz="1400" dirty="0">
                <a:solidFill>
                  <a:srgbClr val="E7E7E7"/>
                </a:solidFill>
                <a:latin typeface="Source Code Pro"/>
              </a:rPr>
              <a:t>[t] + </a:t>
            </a:r>
            <a:r>
              <a:rPr sz="1400" dirty="0" err="1">
                <a:solidFill>
                  <a:srgbClr val="E7E7E7"/>
                </a:solidFill>
                <a:latin typeface="Source Code Pro"/>
              </a:rPr>
              <a:t>b_y</a:t>
            </a:r>
            <a:endParaRPr sz="1400" dirty="0">
              <a:solidFill>
                <a:srgbClr val="E7E7E7"/>
              </a:solidFill>
              <a:latin typeface="Source Code Pro"/>
            </a:endParaRPr>
          </a:p>
          <a:p>
            <a:pPr algn="l"/>
            <a:endParaRPr sz="1400" dirty="0">
              <a:solidFill>
                <a:srgbClr val="E7E7E7"/>
              </a:solidFill>
              <a:latin typeface="Source Code Pro"/>
            </a:endParaRPr>
          </a:p>
          <a:p>
            <a:pPr algn="l"/>
            <a:r>
              <a:rPr sz="1400" dirty="0">
                <a:solidFill>
                  <a:srgbClr val="E7E7E7"/>
                </a:solidFill>
                <a:latin typeface="Source Code Pro"/>
              </a:rPr>
              <a:t>Variables:</a:t>
            </a:r>
          </a:p>
          <a:p>
            <a:pPr algn="l"/>
            <a:r>
              <a:rPr sz="1400" dirty="0">
                <a:solidFill>
                  <a:srgbClr val="E7E7E7"/>
                </a:solidFill>
                <a:latin typeface="Source Code Pro"/>
              </a:rPr>
              <a:t>  </a:t>
            </a:r>
            <a:r>
              <a:rPr sz="1400" dirty="0" err="1">
                <a:solidFill>
                  <a:srgbClr val="E7E7E7"/>
                </a:solidFill>
                <a:latin typeface="Source Code Pro"/>
              </a:rPr>
              <a:t>hidden_state</a:t>
            </a:r>
            <a:r>
              <a:rPr sz="1400" dirty="0">
                <a:solidFill>
                  <a:srgbClr val="E7E7E7"/>
                </a:solidFill>
                <a:latin typeface="Source Code Pro"/>
              </a:rPr>
              <a:t>[t] = </a:t>
            </a:r>
            <a:r>
              <a:rPr sz="1400" b="1" dirty="0">
                <a:solidFill>
                  <a:srgbClr val="E81A81"/>
                </a:solidFill>
                <a:latin typeface="Source Code Pro"/>
              </a:rPr>
              <a:t>memory</a:t>
            </a:r>
            <a:r>
              <a:rPr sz="1400" dirty="0">
                <a:solidFill>
                  <a:srgbClr val="E7E7E7"/>
                </a:solidFill>
                <a:latin typeface="Source Code Pro"/>
              </a:rPr>
              <a:t> at </a:t>
            </a:r>
            <a:r>
              <a:rPr sz="1400" b="1" dirty="0">
                <a:solidFill>
                  <a:srgbClr val="E7E7E7"/>
                </a:solidFill>
                <a:latin typeface="Source Code Pro"/>
              </a:rPr>
              <a:t>time</a:t>
            </a:r>
            <a:r>
              <a:rPr sz="1400" dirty="0">
                <a:solidFill>
                  <a:srgbClr val="E7E7E7"/>
                </a:solidFill>
                <a:latin typeface="Source Code Pro"/>
              </a:rPr>
              <a:t> t</a:t>
            </a:r>
          </a:p>
          <a:p>
            <a:pPr algn="l"/>
            <a:r>
              <a:rPr sz="1400" dirty="0">
                <a:solidFill>
                  <a:srgbClr val="E7E7E7"/>
                </a:solidFill>
                <a:latin typeface="Source Code Pro"/>
              </a:rPr>
              <a:t>  </a:t>
            </a:r>
            <a:r>
              <a:rPr sz="1400" dirty="0" err="1">
                <a:solidFill>
                  <a:srgbClr val="E7E7E7"/>
                </a:solidFill>
                <a:latin typeface="Source Code Pro"/>
              </a:rPr>
              <a:t>W_h</a:t>
            </a:r>
            <a:r>
              <a:rPr sz="1400" dirty="0">
                <a:solidFill>
                  <a:srgbClr val="E7E7E7"/>
                </a:solidFill>
                <a:latin typeface="Source Code Pro"/>
              </a:rPr>
              <a:t> = </a:t>
            </a:r>
            <a:r>
              <a:rPr sz="1400" b="1" dirty="0">
                <a:solidFill>
                  <a:srgbClr val="EC7955"/>
                </a:solidFill>
                <a:latin typeface="Source Code Pro"/>
              </a:rPr>
              <a:t>weight</a:t>
            </a:r>
            <a:r>
              <a:rPr sz="1400" dirty="0">
                <a:solidFill>
                  <a:srgbClr val="E7E7E7"/>
                </a:solidFill>
                <a:latin typeface="Source Code Pro"/>
              </a:rPr>
              <a:t> matrix for previous </a:t>
            </a:r>
            <a:r>
              <a:rPr sz="1400" b="1" dirty="0">
                <a:solidFill>
                  <a:srgbClr val="E7E7E7"/>
                </a:solidFill>
                <a:latin typeface="Source Code Pro"/>
              </a:rPr>
              <a:t>hidden</a:t>
            </a:r>
            <a:r>
              <a:rPr sz="1400" dirty="0">
                <a:solidFill>
                  <a:srgbClr val="E7E7E7"/>
                </a:solidFill>
                <a:latin typeface="Source Code Pro"/>
              </a:rPr>
              <a:t> </a:t>
            </a:r>
            <a:r>
              <a:rPr sz="1400" b="1" dirty="0">
                <a:solidFill>
                  <a:srgbClr val="E7E7E7"/>
                </a:solidFill>
                <a:latin typeface="Source Code Pro"/>
              </a:rPr>
              <a:t>state</a:t>
            </a:r>
          </a:p>
          <a:p>
            <a:pPr algn="l"/>
            <a:r>
              <a:rPr sz="1400" dirty="0">
                <a:solidFill>
                  <a:srgbClr val="E7E7E7"/>
                </a:solidFill>
                <a:latin typeface="Source Code Pro"/>
              </a:rPr>
              <a:t>  </a:t>
            </a:r>
            <a:r>
              <a:rPr sz="1400" dirty="0" err="1">
                <a:solidFill>
                  <a:srgbClr val="E7E7E7"/>
                </a:solidFill>
                <a:latin typeface="Source Code Pro"/>
              </a:rPr>
              <a:t>W_x</a:t>
            </a:r>
            <a:r>
              <a:rPr sz="1400" dirty="0">
                <a:solidFill>
                  <a:srgbClr val="E7E7E7"/>
                </a:solidFill>
                <a:latin typeface="Source Code Pro"/>
              </a:rPr>
              <a:t> = </a:t>
            </a:r>
            <a:r>
              <a:rPr sz="1400" b="1" dirty="0">
                <a:solidFill>
                  <a:srgbClr val="94EE6B"/>
                </a:solidFill>
                <a:latin typeface="Source Code Pro"/>
              </a:rPr>
              <a:t>weight</a:t>
            </a:r>
            <a:r>
              <a:rPr sz="1400" dirty="0">
                <a:solidFill>
                  <a:srgbClr val="E7E7E7"/>
                </a:solidFill>
                <a:latin typeface="Source Code Pro"/>
              </a:rPr>
              <a:t> matrix for current </a:t>
            </a:r>
            <a:r>
              <a:rPr sz="1400" b="1" dirty="0">
                <a:solidFill>
                  <a:srgbClr val="E7E7E7"/>
                </a:solidFill>
                <a:latin typeface="Source Code Pro"/>
              </a:rPr>
              <a:t>input</a:t>
            </a:r>
          </a:p>
          <a:p>
            <a:pPr algn="l"/>
            <a:r>
              <a:rPr sz="1400" dirty="0">
                <a:solidFill>
                  <a:srgbClr val="E7E7E7"/>
                </a:solidFill>
                <a:latin typeface="Source Code Pro"/>
              </a:rPr>
              <a:t>  </a:t>
            </a:r>
            <a:r>
              <a:rPr sz="1400" dirty="0" err="1">
                <a:solidFill>
                  <a:srgbClr val="E7E7E7"/>
                </a:solidFill>
                <a:latin typeface="Source Code Pro"/>
              </a:rPr>
              <a:t>W_y</a:t>
            </a:r>
            <a:r>
              <a:rPr sz="1400" dirty="0">
                <a:solidFill>
                  <a:srgbClr val="E7E7E7"/>
                </a:solidFill>
                <a:latin typeface="Source Code Pro"/>
              </a:rPr>
              <a:t> = </a:t>
            </a:r>
            <a:r>
              <a:rPr sz="1400" b="1" dirty="0">
                <a:solidFill>
                  <a:srgbClr val="4CAE97"/>
                </a:solidFill>
                <a:latin typeface="Source Code Pro"/>
              </a:rPr>
              <a:t>weight</a:t>
            </a:r>
            <a:r>
              <a:rPr sz="1400" dirty="0">
                <a:solidFill>
                  <a:srgbClr val="E7E7E7"/>
                </a:solidFill>
                <a:latin typeface="Source Code Pro"/>
              </a:rPr>
              <a:t> matrix for </a:t>
            </a:r>
            <a:r>
              <a:rPr sz="1400" b="1" dirty="0">
                <a:solidFill>
                  <a:srgbClr val="E7E7E7"/>
                </a:solidFill>
                <a:latin typeface="Source Code Pro"/>
              </a:rPr>
              <a:t>output</a:t>
            </a:r>
          </a:p>
          <a:p>
            <a:pPr algn="l"/>
            <a:r>
              <a:rPr sz="1400" dirty="0">
                <a:solidFill>
                  <a:srgbClr val="E7E7E7"/>
                </a:solidFill>
                <a:latin typeface="Source Code Pro"/>
              </a:rPr>
              <a:t>  b = </a:t>
            </a:r>
            <a:r>
              <a:rPr sz="1400" b="1" dirty="0">
                <a:solidFill>
                  <a:srgbClr val="E7E7E7"/>
                </a:solidFill>
                <a:latin typeface="Source Code Pro"/>
              </a:rPr>
              <a:t>bias</a:t>
            </a:r>
          </a:p>
          <a:p>
            <a:pPr algn="l"/>
            <a:endParaRPr sz="1400" b="1" dirty="0">
              <a:solidFill>
                <a:srgbClr val="E7E7E7"/>
              </a:solidFill>
              <a:latin typeface="Source Code Pro"/>
            </a:endParaRPr>
          </a:p>
          <a:p>
            <a:pPr algn="l"/>
            <a:r>
              <a:rPr sz="1400" dirty="0">
                <a:solidFill>
                  <a:srgbClr val="E7E7E7"/>
                </a:solidFill>
                <a:latin typeface="Source Code Pro"/>
              </a:rPr>
              <a:t>Same </a:t>
            </a:r>
            <a:r>
              <a:rPr sz="1400" b="1" dirty="0">
                <a:solidFill>
                  <a:srgbClr val="E7E7E7"/>
                </a:solidFill>
                <a:latin typeface="Source Code Pro"/>
              </a:rPr>
              <a:t>weights</a:t>
            </a:r>
            <a:r>
              <a:rPr sz="1400" dirty="0">
                <a:solidFill>
                  <a:srgbClr val="E7E7E7"/>
                </a:solidFill>
                <a:latin typeface="Source Code Pro"/>
              </a:rPr>
              <a:t> reused at every </a:t>
            </a:r>
            <a:r>
              <a:rPr sz="1400" b="1" dirty="0">
                <a:solidFill>
                  <a:srgbClr val="4CAE97"/>
                </a:solidFill>
                <a:latin typeface="Source Code Pro"/>
              </a:rPr>
              <a:t>timestep</a:t>
            </a:r>
            <a:r>
              <a:rPr sz="1400" dirty="0">
                <a:solidFill>
                  <a:srgbClr val="E7E7E7"/>
                </a:solidFill>
                <a:latin typeface="Source Code Pro"/>
              </a:rPr>
              <a:t>. Share </a:t>
            </a:r>
            <a:r>
              <a:rPr sz="1400" b="1" dirty="0">
                <a:solidFill>
                  <a:srgbClr val="E7E7E7"/>
                </a:solidFill>
                <a:latin typeface="Source Code Pro"/>
              </a:rPr>
              <a:t>knowledge</a:t>
            </a:r>
            <a:r>
              <a:rPr sz="1400" dirty="0">
                <a:solidFill>
                  <a:srgbClr val="E7E7E7"/>
                </a:solidFill>
                <a:latin typeface="Source Code Pro"/>
              </a:rPr>
              <a:t> across </a:t>
            </a:r>
            <a:r>
              <a:rPr sz="1400" b="1" dirty="0">
                <a:solidFill>
                  <a:srgbClr val="E7E7E7"/>
                </a:solidFill>
                <a:latin typeface="Source Code Pro"/>
              </a:rPr>
              <a:t>time</a:t>
            </a:r>
            <a:r>
              <a:rPr sz="1400" dirty="0">
                <a:solidFill>
                  <a:srgbClr val="E7E7E7"/>
                </a:solidFill>
                <a:latin typeface="Source Code Pro"/>
              </a:rPr>
              <a:t>.</a:t>
            </a:r>
          </a:p>
        </p:txBody>
      </p:sp>
    </p:spTree>
    <p:extLst>
      <p:ext uri="{BB962C8B-B14F-4D97-AF65-F5344CB8AC3E}">
        <p14:creationId xmlns:p14="http://schemas.microsoft.com/office/powerpoint/2010/main" val="4066680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2DDBB3FB-1E1D-5346-0FB9-55028EA8AB33}"/>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RNN Formula Breakdown</a:t>
            </a:r>
          </a:p>
        </p:txBody>
      </p:sp>
      <p:sp>
        <p:nvSpPr>
          <p:cNvPr id="3" name="TextBox 2"/>
          <p:cNvSpPr txBox="1"/>
          <p:nvPr/>
        </p:nvSpPr>
        <p:spPr>
          <a:xfrm>
            <a:off x="256032" y="1463040"/>
            <a:ext cx="8229600" cy="2893100"/>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err="1">
                <a:solidFill>
                  <a:srgbClr val="E7E7E7"/>
                </a:solidFill>
                <a:latin typeface="Source Code Pro"/>
              </a:rPr>
              <a:t>h_t</a:t>
            </a:r>
            <a:r>
              <a:rPr sz="1400" dirty="0">
                <a:solidFill>
                  <a:srgbClr val="E7E7E7"/>
                </a:solidFill>
                <a:latin typeface="Source Code Pro"/>
              </a:rPr>
              <a:t> = tanh(</a:t>
            </a:r>
            <a:r>
              <a:rPr sz="1400" dirty="0" err="1">
                <a:solidFill>
                  <a:srgbClr val="E7E7E7"/>
                </a:solidFill>
                <a:latin typeface="Source Code Pro"/>
              </a:rPr>
              <a:t>W_h</a:t>
            </a:r>
            <a:r>
              <a:rPr sz="1400" dirty="0">
                <a:solidFill>
                  <a:srgbClr val="E7E7E7"/>
                </a:solidFill>
                <a:latin typeface="Source Code Pro"/>
              </a:rPr>
              <a:t> × h_{t-1} + </a:t>
            </a:r>
            <a:r>
              <a:rPr sz="1400" dirty="0" err="1">
                <a:solidFill>
                  <a:srgbClr val="E7E7E7"/>
                </a:solidFill>
                <a:latin typeface="Source Code Pro"/>
              </a:rPr>
              <a:t>W_x</a:t>
            </a:r>
            <a:r>
              <a:rPr sz="1400" dirty="0">
                <a:solidFill>
                  <a:srgbClr val="E7E7E7"/>
                </a:solidFill>
                <a:latin typeface="Source Code Pro"/>
              </a:rPr>
              <a:t> × </a:t>
            </a:r>
            <a:r>
              <a:rPr sz="1400" dirty="0" err="1">
                <a:solidFill>
                  <a:srgbClr val="E7E7E7"/>
                </a:solidFill>
                <a:latin typeface="Source Code Pro"/>
              </a:rPr>
              <a:t>x_t</a:t>
            </a:r>
            <a:r>
              <a:rPr sz="1400" dirty="0">
                <a:solidFill>
                  <a:srgbClr val="E7E7E7"/>
                </a:solidFill>
                <a:latin typeface="Source Code Pro"/>
              </a:rPr>
              <a:t> + </a:t>
            </a:r>
            <a:r>
              <a:rPr sz="1400" dirty="0" err="1">
                <a:solidFill>
                  <a:srgbClr val="E7E7E7"/>
                </a:solidFill>
                <a:latin typeface="Source Code Pro"/>
              </a:rPr>
              <a:t>b_h</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Where:</a:t>
            </a:r>
          </a:p>
          <a:p>
            <a:pPr algn="l"/>
            <a:r>
              <a:rPr sz="1400" dirty="0">
                <a:solidFill>
                  <a:srgbClr val="E7E7E7"/>
                </a:solidFill>
                <a:latin typeface="Source Code Pro"/>
              </a:rPr>
              <a:t>  </a:t>
            </a:r>
            <a:r>
              <a:rPr sz="1400" dirty="0" err="1">
                <a:solidFill>
                  <a:srgbClr val="E7E7E7"/>
                </a:solidFill>
                <a:latin typeface="Source Code Pro"/>
              </a:rPr>
              <a:t>h_t</a:t>
            </a:r>
            <a:r>
              <a:rPr sz="1400" dirty="0">
                <a:solidFill>
                  <a:srgbClr val="E7E7E7"/>
                </a:solidFill>
                <a:latin typeface="Source Code Pro"/>
              </a:rPr>
              <a:t> = </a:t>
            </a:r>
            <a:r>
              <a:rPr sz="1400" b="1" dirty="0">
                <a:solidFill>
                  <a:srgbClr val="E7E7E7"/>
                </a:solidFill>
                <a:latin typeface="Source Code Pro"/>
              </a:rPr>
              <a:t>hidden</a:t>
            </a:r>
            <a:r>
              <a:rPr sz="1400" dirty="0">
                <a:solidFill>
                  <a:srgbClr val="E7E7E7"/>
                </a:solidFill>
                <a:latin typeface="Source Code Pro"/>
              </a:rPr>
              <a:t> </a:t>
            </a:r>
            <a:r>
              <a:rPr sz="1400" b="1" dirty="0">
                <a:solidFill>
                  <a:srgbClr val="BD64B5"/>
                </a:solidFill>
                <a:latin typeface="Source Code Pro"/>
              </a:rPr>
              <a:t>state</a:t>
            </a:r>
            <a:r>
              <a:rPr sz="1400" dirty="0">
                <a:solidFill>
                  <a:srgbClr val="E7E7E7"/>
                </a:solidFill>
                <a:latin typeface="Source Code Pro"/>
              </a:rPr>
              <a:t> at </a:t>
            </a:r>
            <a:r>
              <a:rPr sz="1400" b="1" dirty="0">
                <a:solidFill>
                  <a:srgbClr val="E7E7E7"/>
                </a:solidFill>
                <a:latin typeface="Source Code Pro"/>
              </a:rPr>
              <a:t>time</a:t>
            </a:r>
            <a:r>
              <a:rPr sz="1400" dirty="0">
                <a:solidFill>
                  <a:srgbClr val="E7E7E7"/>
                </a:solidFill>
                <a:latin typeface="Source Code Pro"/>
              </a:rPr>
              <a:t> t (captures </a:t>
            </a:r>
            <a:r>
              <a:rPr sz="1400" b="1" dirty="0">
                <a:solidFill>
                  <a:srgbClr val="E7E7E7"/>
                </a:solidFill>
                <a:latin typeface="Source Code Pro"/>
              </a:rPr>
              <a:t>memory</a:t>
            </a:r>
            <a:r>
              <a:rPr sz="1400" dirty="0">
                <a:solidFill>
                  <a:srgbClr val="E7E7E7"/>
                </a:solidFill>
                <a:latin typeface="Source Code Pro"/>
              </a:rPr>
              <a:t>)</a:t>
            </a:r>
          </a:p>
          <a:p>
            <a:pPr algn="l"/>
            <a:r>
              <a:rPr sz="1400" dirty="0">
                <a:solidFill>
                  <a:srgbClr val="E7E7E7"/>
                </a:solidFill>
                <a:latin typeface="Source Code Pro"/>
              </a:rPr>
              <a:t>  h_{t-1} = </a:t>
            </a:r>
            <a:r>
              <a:rPr sz="1400" b="1" dirty="0">
                <a:solidFill>
                  <a:srgbClr val="E7E7E7"/>
                </a:solidFill>
                <a:latin typeface="Source Code Pro"/>
              </a:rPr>
              <a:t>previous</a:t>
            </a:r>
            <a:r>
              <a:rPr sz="1400" dirty="0">
                <a:solidFill>
                  <a:srgbClr val="E7E7E7"/>
                </a:solidFill>
                <a:latin typeface="Source Code Pro"/>
              </a:rPr>
              <a:t> </a:t>
            </a:r>
            <a:r>
              <a:rPr sz="1400" b="1" dirty="0">
                <a:solidFill>
                  <a:srgbClr val="E7E7E7"/>
                </a:solidFill>
                <a:latin typeface="Source Code Pro"/>
              </a:rPr>
              <a:t>hidden</a:t>
            </a:r>
            <a:r>
              <a:rPr sz="1400" dirty="0">
                <a:solidFill>
                  <a:srgbClr val="E7E7E7"/>
                </a:solidFill>
                <a:latin typeface="Source Code Pro"/>
              </a:rPr>
              <a:t> </a:t>
            </a:r>
            <a:r>
              <a:rPr sz="1400" b="1" dirty="0">
                <a:solidFill>
                  <a:srgbClr val="E81A81"/>
                </a:solidFill>
                <a:latin typeface="Source Code Pro"/>
              </a:rPr>
              <a:t>state</a:t>
            </a:r>
            <a:r>
              <a:rPr sz="1400" dirty="0">
                <a:solidFill>
                  <a:srgbClr val="E7E7E7"/>
                </a:solidFill>
                <a:latin typeface="Source Code Pro"/>
              </a:rPr>
              <a:t> (what RNN </a:t>
            </a:r>
            <a:r>
              <a:rPr sz="1400" b="1" dirty="0">
                <a:solidFill>
                  <a:srgbClr val="E7E7E7"/>
                </a:solidFill>
                <a:latin typeface="Source Code Pro"/>
              </a:rPr>
              <a:t>remembered</a:t>
            </a:r>
            <a:r>
              <a:rPr sz="1400" dirty="0">
                <a:solidFill>
                  <a:srgbClr val="E7E7E7"/>
                </a:solidFill>
                <a:latin typeface="Source Code Pro"/>
              </a:rPr>
              <a:t>)</a:t>
            </a:r>
          </a:p>
          <a:p>
            <a:pPr algn="l"/>
            <a:r>
              <a:rPr sz="1400" dirty="0">
                <a:solidFill>
                  <a:srgbClr val="E7E7E7"/>
                </a:solidFill>
                <a:latin typeface="Source Code Pro"/>
              </a:rPr>
              <a:t>  </a:t>
            </a:r>
            <a:r>
              <a:rPr sz="1400" dirty="0" err="1">
                <a:solidFill>
                  <a:srgbClr val="E7E7E7"/>
                </a:solidFill>
                <a:latin typeface="Source Code Pro"/>
              </a:rPr>
              <a:t>x_t</a:t>
            </a:r>
            <a:r>
              <a:rPr sz="1400" dirty="0">
                <a:solidFill>
                  <a:srgbClr val="E7E7E7"/>
                </a:solidFill>
                <a:latin typeface="Source Code Pro"/>
              </a:rPr>
              <a:t> = </a:t>
            </a:r>
            <a:r>
              <a:rPr sz="1400" b="1" dirty="0">
                <a:solidFill>
                  <a:srgbClr val="EC7955"/>
                </a:solidFill>
                <a:latin typeface="Source Code Pro"/>
              </a:rPr>
              <a:t>input</a:t>
            </a:r>
            <a:r>
              <a:rPr sz="1400" dirty="0">
                <a:solidFill>
                  <a:srgbClr val="E7E7E7"/>
                </a:solidFill>
                <a:latin typeface="Source Code Pro"/>
              </a:rPr>
              <a:t> at </a:t>
            </a:r>
            <a:r>
              <a:rPr sz="1400" b="1" dirty="0">
                <a:solidFill>
                  <a:srgbClr val="E7E7E7"/>
                </a:solidFill>
                <a:latin typeface="Source Code Pro"/>
              </a:rPr>
              <a:t>time</a:t>
            </a:r>
            <a:r>
              <a:rPr sz="1400" dirty="0">
                <a:solidFill>
                  <a:srgbClr val="E7E7E7"/>
                </a:solidFill>
                <a:latin typeface="Source Code Pro"/>
              </a:rPr>
              <a:t> t (</a:t>
            </a:r>
            <a:r>
              <a:rPr sz="1400" b="1" dirty="0">
                <a:solidFill>
                  <a:srgbClr val="4CAE97"/>
                </a:solidFill>
                <a:latin typeface="Source Code Pro"/>
              </a:rPr>
              <a:t>current</a:t>
            </a:r>
            <a:r>
              <a:rPr sz="1400" dirty="0">
                <a:solidFill>
                  <a:srgbClr val="E7E7E7"/>
                </a:solidFill>
                <a:latin typeface="Source Code Pro"/>
              </a:rPr>
              <a:t> </a:t>
            </a:r>
            <a:r>
              <a:rPr sz="1400" b="1" dirty="0">
                <a:solidFill>
                  <a:srgbClr val="E7E7E7"/>
                </a:solidFill>
                <a:latin typeface="Source Code Pro"/>
              </a:rPr>
              <a:t>word</a:t>
            </a:r>
            <a:r>
              <a:rPr sz="1400" dirty="0">
                <a:solidFill>
                  <a:srgbClr val="E7E7E7"/>
                </a:solidFill>
                <a:latin typeface="Source Code Pro"/>
              </a:rPr>
              <a:t> or </a:t>
            </a:r>
            <a:r>
              <a:rPr sz="1400" b="1" dirty="0">
                <a:solidFill>
                  <a:srgbClr val="E7E7E7"/>
                </a:solidFill>
                <a:latin typeface="Source Code Pro"/>
              </a:rPr>
              <a:t>value</a:t>
            </a:r>
            <a:r>
              <a:rPr sz="1400" dirty="0">
                <a:solidFill>
                  <a:srgbClr val="E7E7E7"/>
                </a:solidFill>
                <a:latin typeface="Source Code Pro"/>
              </a:rPr>
              <a:t>)</a:t>
            </a:r>
          </a:p>
          <a:p>
            <a:pPr algn="l"/>
            <a:r>
              <a:rPr sz="1400" dirty="0">
                <a:solidFill>
                  <a:srgbClr val="E7E7E7"/>
                </a:solidFill>
                <a:latin typeface="Source Code Pro"/>
              </a:rPr>
              <a:t>  </a:t>
            </a:r>
            <a:r>
              <a:rPr sz="1400" dirty="0" err="1">
                <a:solidFill>
                  <a:srgbClr val="E7E7E7"/>
                </a:solidFill>
                <a:latin typeface="Source Code Pro"/>
              </a:rPr>
              <a:t>W_h</a:t>
            </a:r>
            <a:r>
              <a:rPr sz="1400" dirty="0">
                <a:solidFill>
                  <a:srgbClr val="E7E7E7"/>
                </a:solidFill>
                <a:latin typeface="Source Code Pro"/>
              </a:rPr>
              <a:t> = </a:t>
            </a:r>
            <a:r>
              <a:rPr sz="1400" b="1" dirty="0">
                <a:solidFill>
                  <a:srgbClr val="E7E7E7"/>
                </a:solidFill>
                <a:latin typeface="Source Code Pro"/>
              </a:rPr>
              <a:t>weights</a:t>
            </a:r>
            <a:r>
              <a:rPr sz="1400" dirty="0">
                <a:solidFill>
                  <a:srgbClr val="E7E7E7"/>
                </a:solidFill>
                <a:latin typeface="Source Code Pro"/>
              </a:rPr>
              <a:t> connecting </a:t>
            </a:r>
            <a:r>
              <a:rPr sz="1400" b="1" dirty="0">
                <a:solidFill>
                  <a:srgbClr val="E7E7E7"/>
                </a:solidFill>
                <a:latin typeface="Source Code Pro"/>
              </a:rPr>
              <a:t>hidden</a:t>
            </a:r>
            <a:r>
              <a:rPr sz="1400" dirty="0">
                <a:solidFill>
                  <a:srgbClr val="E7E7E7"/>
                </a:solidFill>
                <a:latin typeface="Source Code Pro"/>
              </a:rPr>
              <a:t> states (</a:t>
            </a:r>
            <a:r>
              <a:rPr sz="1400" b="1" dirty="0">
                <a:solidFill>
                  <a:srgbClr val="E7E7E7"/>
                </a:solidFill>
                <a:latin typeface="Source Code Pro"/>
              </a:rPr>
              <a:t>time</a:t>
            </a:r>
            <a:r>
              <a:rPr sz="1400" dirty="0">
                <a:solidFill>
                  <a:srgbClr val="E7E7E7"/>
                </a:solidFill>
                <a:latin typeface="Source Code Pro"/>
              </a:rPr>
              <a:t> </a:t>
            </a:r>
            <a:r>
              <a:rPr sz="1400" b="1" dirty="0">
                <a:solidFill>
                  <a:srgbClr val="E7E7E7"/>
                </a:solidFill>
                <a:latin typeface="Source Code Pro"/>
              </a:rPr>
              <a:t>memory</a:t>
            </a:r>
            <a:r>
              <a:rPr sz="1400" dirty="0">
                <a:solidFill>
                  <a:srgbClr val="E7E7E7"/>
                </a:solidFill>
                <a:latin typeface="Source Code Pro"/>
              </a:rPr>
              <a:t>)</a:t>
            </a:r>
          </a:p>
          <a:p>
            <a:pPr algn="l"/>
            <a:r>
              <a:rPr sz="1400" dirty="0">
                <a:solidFill>
                  <a:srgbClr val="E7E7E7"/>
                </a:solidFill>
                <a:latin typeface="Source Code Pro"/>
              </a:rPr>
              <a:t>  </a:t>
            </a:r>
            <a:r>
              <a:rPr sz="1400" dirty="0" err="1">
                <a:solidFill>
                  <a:srgbClr val="E7E7E7"/>
                </a:solidFill>
                <a:latin typeface="Source Code Pro"/>
              </a:rPr>
              <a:t>W_x</a:t>
            </a:r>
            <a:r>
              <a:rPr sz="1400" dirty="0">
                <a:solidFill>
                  <a:srgbClr val="E7E7E7"/>
                </a:solidFill>
                <a:latin typeface="Source Code Pro"/>
              </a:rPr>
              <a:t> = </a:t>
            </a:r>
            <a:r>
              <a:rPr sz="1400" b="1" dirty="0">
                <a:solidFill>
                  <a:srgbClr val="E7E7E7"/>
                </a:solidFill>
                <a:latin typeface="Source Code Pro"/>
              </a:rPr>
              <a:t>weights</a:t>
            </a:r>
            <a:r>
              <a:rPr sz="1400" dirty="0">
                <a:solidFill>
                  <a:srgbClr val="E7E7E7"/>
                </a:solidFill>
                <a:latin typeface="Source Code Pro"/>
              </a:rPr>
              <a:t> connecting </a:t>
            </a:r>
            <a:r>
              <a:rPr sz="1400" b="1" dirty="0">
                <a:solidFill>
                  <a:srgbClr val="4CAE97"/>
                </a:solidFill>
                <a:latin typeface="Source Code Pro"/>
              </a:rPr>
              <a:t>inputs</a:t>
            </a:r>
            <a:r>
              <a:rPr sz="1400" dirty="0">
                <a:solidFill>
                  <a:srgbClr val="E7E7E7"/>
                </a:solidFill>
                <a:latin typeface="Source Code Pro"/>
              </a:rPr>
              <a:t> (</a:t>
            </a:r>
            <a:r>
              <a:rPr sz="1400" b="1" dirty="0">
                <a:solidFill>
                  <a:srgbClr val="4CAE97"/>
                </a:solidFill>
                <a:latin typeface="Source Code Pro"/>
              </a:rPr>
              <a:t>current</a:t>
            </a:r>
            <a:r>
              <a:rPr sz="1400" dirty="0">
                <a:solidFill>
                  <a:srgbClr val="E7E7E7"/>
                </a:solidFill>
                <a:latin typeface="Source Code Pro"/>
              </a:rPr>
              <a:t> </a:t>
            </a:r>
            <a:r>
              <a:rPr sz="1400" b="1" dirty="0">
                <a:solidFill>
                  <a:srgbClr val="E81A81"/>
                </a:solidFill>
                <a:latin typeface="Source Code Pro"/>
              </a:rPr>
              <a:t>input</a:t>
            </a:r>
            <a:r>
              <a:rPr sz="1400" dirty="0">
                <a:solidFill>
                  <a:srgbClr val="E7E7E7"/>
                </a:solidFill>
                <a:latin typeface="Source Code Pro"/>
              </a:rPr>
              <a:t>)</a:t>
            </a:r>
          </a:p>
          <a:p>
            <a:pPr algn="l"/>
            <a:r>
              <a:rPr sz="1400" dirty="0">
                <a:solidFill>
                  <a:srgbClr val="E7E7E7"/>
                </a:solidFill>
                <a:latin typeface="Source Code Pro"/>
              </a:rPr>
              <a:t>  </a:t>
            </a:r>
            <a:r>
              <a:rPr sz="1400" dirty="0" err="1">
                <a:solidFill>
                  <a:srgbClr val="E7E7E7"/>
                </a:solidFill>
                <a:latin typeface="Source Code Pro"/>
              </a:rPr>
              <a:t>b_h</a:t>
            </a:r>
            <a:r>
              <a:rPr sz="1400" dirty="0">
                <a:solidFill>
                  <a:srgbClr val="E7E7E7"/>
                </a:solidFill>
                <a:latin typeface="Source Code Pro"/>
              </a:rPr>
              <a:t> = </a:t>
            </a:r>
            <a:r>
              <a:rPr sz="1400" b="1" dirty="0">
                <a:solidFill>
                  <a:srgbClr val="E81A81"/>
                </a:solidFill>
                <a:latin typeface="Source Code Pro"/>
              </a:rPr>
              <a:t>bias</a:t>
            </a:r>
            <a:r>
              <a:rPr sz="1400" dirty="0">
                <a:solidFill>
                  <a:srgbClr val="E7E7E7"/>
                </a:solidFill>
                <a:latin typeface="Source Code Pro"/>
              </a:rPr>
              <a:t> term</a:t>
            </a:r>
          </a:p>
          <a:p>
            <a:pPr algn="l"/>
            <a:r>
              <a:rPr sz="1400" dirty="0">
                <a:solidFill>
                  <a:srgbClr val="E7E7E7"/>
                </a:solidFill>
                <a:latin typeface="Source Code Pro"/>
              </a:rPr>
              <a:t>  tanh = </a:t>
            </a:r>
            <a:r>
              <a:rPr sz="1400" b="1" dirty="0">
                <a:solidFill>
                  <a:srgbClr val="E7E7E7"/>
                </a:solidFill>
                <a:latin typeface="Source Code Pro"/>
              </a:rPr>
              <a:t>activation</a:t>
            </a:r>
            <a:r>
              <a:rPr sz="1400" dirty="0">
                <a:solidFill>
                  <a:srgbClr val="E7E7E7"/>
                </a:solidFill>
                <a:latin typeface="Source Code Pro"/>
              </a:rPr>
              <a:t> </a:t>
            </a:r>
            <a:r>
              <a:rPr sz="1400" b="1" dirty="0">
                <a:solidFill>
                  <a:srgbClr val="E7E7E7"/>
                </a:solidFill>
                <a:latin typeface="Source Code Pro"/>
              </a:rPr>
              <a:t>function</a:t>
            </a:r>
            <a:r>
              <a:rPr sz="1400" dirty="0">
                <a:solidFill>
                  <a:srgbClr val="E7E7E7"/>
                </a:solidFill>
                <a:latin typeface="Source Code Pro"/>
              </a:rPr>
              <a:t> (output -1 to 1)</a:t>
            </a:r>
          </a:p>
          <a:p>
            <a:pPr algn="l"/>
            <a:endParaRPr sz="1400" dirty="0">
              <a:solidFill>
                <a:srgbClr val="E7E7E7"/>
              </a:solidFill>
              <a:latin typeface="Source Code Pro"/>
            </a:endParaRPr>
          </a:p>
          <a:p>
            <a:pPr algn="l"/>
            <a:r>
              <a:rPr sz="1400" dirty="0">
                <a:solidFill>
                  <a:srgbClr val="E7E7E7"/>
                </a:solidFill>
                <a:latin typeface="Source Code Pro"/>
              </a:rPr>
              <a:t>Output: </a:t>
            </a:r>
            <a:r>
              <a:rPr sz="1400" dirty="0" err="1">
                <a:solidFill>
                  <a:srgbClr val="E7E7E7"/>
                </a:solidFill>
                <a:latin typeface="Source Code Pro"/>
              </a:rPr>
              <a:t>y_t</a:t>
            </a:r>
            <a:r>
              <a:rPr sz="1400" dirty="0">
                <a:solidFill>
                  <a:srgbClr val="E7E7E7"/>
                </a:solidFill>
                <a:latin typeface="Source Code Pro"/>
              </a:rPr>
              <a:t> = </a:t>
            </a:r>
            <a:r>
              <a:rPr sz="1400" dirty="0" err="1">
                <a:solidFill>
                  <a:srgbClr val="E7E7E7"/>
                </a:solidFill>
                <a:latin typeface="Source Code Pro"/>
              </a:rPr>
              <a:t>W_y</a:t>
            </a:r>
            <a:r>
              <a:rPr sz="1400" dirty="0">
                <a:solidFill>
                  <a:srgbClr val="E7E7E7"/>
                </a:solidFill>
                <a:latin typeface="Source Code Pro"/>
              </a:rPr>
              <a:t> × </a:t>
            </a:r>
            <a:r>
              <a:rPr sz="1400" dirty="0" err="1">
                <a:solidFill>
                  <a:srgbClr val="E7E7E7"/>
                </a:solidFill>
                <a:latin typeface="Source Code Pro"/>
              </a:rPr>
              <a:t>h_t</a:t>
            </a:r>
            <a:r>
              <a:rPr sz="1400" dirty="0">
                <a:solidFill>
                  <a:srgbClr val="E7E7E7"/>
                </a:solidFill>
                <a:latin typeface="Source Code Pro"/>
              </a:rPr>
              <a:t> + </a:t>
            </a:r>
            <a:r>
              <a:rPr sz="1400" dirty="0" err="1">
                <a:solidFill>
                  <a:srgbClr val="E7E7E7"/>
                </a:solidFill>
                <a:latin typeface="Source Code Pro"/>
              </a:rPr>
              <a:t>b_y</a:t>
            </a:r>
            <a:endParaRPr sz="1400" dirty="0">
              <a:solidFill>
                <a:srgbClr val="E7E7E7"/>
              </a:solidFill>
              <a:latin typeface="Source Code Pro"/>
            </a:endParaRPr>
          </a:p>
        </p:txBody>
      </p:sp>
    </p:spTree>
    <p:extLst>
      <p:ext uri="{BB962C8B-B14F-4D97-AF65-F5344CB8AC3E}">
        <p14:creationId xmlns:p14="http://schemas.microsoft.com/office/powerpoint/2010/main" val="3174017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7EC5CC58-C86D-B3EF-39BE-FB3282AB82A0}"/>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Unrolling an RNN Through Time</a:t>
            </a:r>
          </a:p>
        </p:txBody>
      </p:sp>
      <p:sp>
        <p:nvSpPr>
          <p:cNvPr id="3" name="TextBox 2"/>
          <p:cNvSpPr txBox="1"/>
          <p:nvPr/>
        </p:nvSpPr>
        <p:spPr>
          <a:xfrm>
            <a:off x="256032" y="1463040"/>
            <a:ext cx="8229600" cy="2677656"/>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RNN with 5 </a:t>
            </a:r>
            <a:r>
              <a:rPr sz="1400" b="1" dirty="0">
                <a:solidFill>
                  <a:srgbClr val="BD64B5"/>
                </a:solidFill>
                <a:latin typeface="Source Code Pro"/>
              </a:rPr>
              <a:t>timesteps</a:t>
            </a:r>
            <a:r>
              <a:rPr sz="1400" dirty="0">
                <a:solidFill>
                  <a:srgbClr val="E7E7E7"/>
                </a:solidFill>
                <a:latin typeface="Source Code Pro"/>
              </a:rPr>
              <a:t> </a:t>
            </a:r>
            <a:r>
              <a:rPr sz="1400" b="1" dirty="0">
                <a:solidFill>
                  <a:srgbClr val="FD4A4A"/>
                </a:solidFill>
                <a:latin typeface="Source Code Pro"/>
              </a:rPr>
              <a:t>unrolled</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timestep 1: input=x1 → hidden=h1 → output=y1</a:t>
            </a:r>
          </a:p>
          <a:p>
            <a:pPr algn="l"/>
            <a:r>
              <a:rPr sz="1400" dirty="0">
                <a:solidFill>
                  <a:srgbClr val="E7E7E7"/>
                </a:solidFill>
                <a:latin typeface="Source Code Pro"/>
              </a:rPr>
              <a:t>timestep 2: input=x2 + hidden=h1 → hidden=h2 → output=y2</a:t>
            </a:r>
          </a:p>
          <a:p>
            <a:pPr algn="l"/>
            <a:r>
              <a:rPr sz="1400" dirty="0">
                <a:solidFill>
                  <a:srgbClr val="E7E7E7"/>
                </a:solidFill>
                <a:latin typeface="Source Code Pro"/>
              </a:rPr>
              <a:t>timestep 3: input=x3 + hidden=h2 → hidden=h3 → output=y3</a:t>
            </a:r>
          </a:p>
          <a:p>
            <a:pPr algn="l"/>
            <a:r>
              <a:rPr sz="1400" dirty="0">
                <a:solidFill>
                  <a:srgbClr val="E7E7E7"/>
                </a:solidFill>
                <a:latin typeface="Source Code Pro"/>
              </a:rPr>
              <a:t>timestep 4: input=x4 + hidden=h3 → hidden=h4 → output=y4</a:t>
            </a:r>
          </a:p>
          <a:p>
            <a:pPr algn="l"/>
            <a:r>
              <a:rPr sz="1400" dirty="0">
                <a:solidFill>
                  <a:srgbClr val="E7E7E7"/>
                </a:solidFill>
                <a:latin typeface="Source Code Pro"/>
              </a:rPr>
              <a:t>timestep 5: input=x5 + hidden=h4 → hidden=h5 → output=y5</a:t>
            </a:r>
          </a:p>
          <a:p>
            <a:pPr algn="l"/>
            <a:endParaRPr sz="1400" dirty="0">
              <a:solidFill>
                <a:srgbClr val="E7E7E7"/>
              </a:solidFill>
              <a:latin typeface="Source Code Pro"/>
            </a:endParaRPr>
          </a:p>
          <a:p>
            <a:pPr algn="l"/>
            <a:r>
              <a:rPr sz="1400" dirty="0">
                <a:solidFill>
                  <a:srgbClr val="E7E7E7"/>
                </a:solidFill>
                <a:latin typeface="Source Code Pro"/>
              </a:rPr>
              <a:t>Each </a:t>
            </a:r>
            <a:r>
              <a:rPr sz="1400" b="1" dirty="0">
                <a:solidFill>
                  <a:srgbClr val="FD4A4A"/>
                </a:solidFill>
                <a:latin typeface="Source Code Pro"/>
              </a:rPr>
              <a:t>step</a:t>
            </a:r>
            <a:r>
              <a:rPr sz="1400" dirty="0">
                <a:solidFill>
                  <a:srgbClr val="E7E7E7"/>
                </a:solidFill>
                <a:latin typeface="Source Code Pro"/>
              </a:rPr>
              <a:t> uses </a:t>
            </a:r>
            <a:r>
              <a:rPr sz="1400" b="1" dirty="0">
                <a:solidFill>
                  <a:srgbClr val="BD64B5"/>
                </a:solidFill>
                <a:latin typeface="Source Code Pro"/>
              </a:rPr>
              <a:t>previous</a:t>
            </a:r>
            <a:r>
              <a:rPr sz="1400" dirty="0">
                <a:solidFill>
                  <a:srgbClr val="E7E7E7"/>
                </a:solidFill>
                <a:latin typeface="Source Code Pro"/>
              </a:rPr>
              <a:t> </a:t>
            </a:r>
            <a:r>
              <a:rPr sz="1400" b="1" dirty="0">
                <a:solidFill>
                  <a:srgbClr val="E7E7E7"/>
                </a:solidFill>
                <a:latin typeface="Source Code Pro"/>
              </a:rPr>
              <a:t>hidden</a:t>
            </a:r>
            <a:r>
              <a:rPr sz="1400" dirty="0">
                <a:solidFill>
                  <a:srgbClr val="E7E7E7"/>
                </a:solidFill>
                <a:latin typeface="Source Code Pro"/>
              </a:rPr>
              <a:t> </a:t>
            </a:r>
            <a:r>
              <a:rPr sz="1400" b="1" dirty="0">
                <a:solidFill>
                  <a:srgbClr val="E7E7E7"/>
                </a:solidFill>
                <a:latin typeface="Source Code Pro"/>
              </a:rPr>
              <a:t>state</a:t>
            </a:r>
            <a:r>
              <a:rPr sz="1400" dirty="0">
                <a:solidFill>
                  <a:srgbClr val="E7E7E7"/>
                </a:solidFill>
                <a:latin typeface="Source Code Pro"/>
              </a:rPr>
              <a:t>. Chain of </a:t>
            </a:r>
            <a:r>
              <a:rPr sz="1400" b="1" dirty="0">
                <a:solidFill>
                  <a:srgbClr val="4CAE97"/>
                </a:solidFill>
                <a:latin typeface="Source Code Pro"/>
              </a:rPr>
              <a:t>memory</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Visualization: Box → Box → Box → Box → Box (connected </a:t>
            </a:r>
            <a:r>
              <a:rPr sz="1400" b="1" dirty="0">
                <a:solidFill>
                  <a:srgbClr val="E7E7E7"/>
                </a:solidFill>
                <a:latin typeface="Source Code Pro"/>
              </a:rPr>
              <a:t>horizontally</a:t>
            </a:r>
            <a:r>
              <a:rPr sz="1400" dirty="0">
                <a:solidFill>
                  <a:srgbClr val="E7E7E7"/>
                </a:solidFill>
                <a:latin typeface="Source Code Pro"/>
              </a:rPr>
              <a:t>).</a:t>
            </a:r>
          </a:p>
        </p:txBody>
      </p:sp>
    </p:spTree>
    <p:extLst>
      <p:ext uri="{BB962C8B-B14F-4D97-AF65-F5344CB8AC3E}">
        <p14:creationId xmlns:p14="http://schemas.microsoft.com/office/powerpoint/2010/main" val="3483430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C4F5C0FC-1DBC-A7CC-FAC6-09829C351128}"/>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The Vanishing Gradient Problem</a:t>
            </a:r>
          </a:p>
        </p:txBody>
      </p:sp>
      <p:sp>
        <p:nvSpPr>
          <p:cNvPr id="3" name="TextBox 2"/>
          <p:cNvSpPr txBox="1"/>
          <p:nvPr/>
        </p:nvSpPr>
        <p:spPr>
          <a:xfrm>
            <a:off x="256032" y="1463040"/>
            <a:ext cx="8229600" cy="2893100"/>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RNNs train using </a:t>
            </a:r>
            <a:r>
              <a:rPr sz="1400" b="1" dirty="0">
                <a:solidFill>
                  <a:srgbClr val="E7E7E7"/>
                </a:solidFill>
                <a:latin typeface="Source Code Pro"/>
              </a:rPr>
              <a:t>backpropagation</a:t>
            </a:r>
            <a:r>
              <a:rPr sz="1400" dirty="0">
                <a:solidFill>
                  <a:srgbClr val="E7E7E7"/>
                </a:solidFill>
                <a:latin typeface="Source Code Pro"/>
              </a:rPr>
              <a:t> through </a:t>
            </a:r>
            <a:r>
              <a:rPr sz="1400" b="1" dirty="0">
                <a:solidFill>
                  <a:srgbClr val="EC7955"/>
                </a:solidFill>
                <a:latin typeface="Source Code Pro"/>
              </a:rPr>
              <a:t>time</a:t>
            </a:r>
            <a:r>
              <a:rPr sz="1400" dirty="0">
                <a:solidFill>
                  <a:srgbClr val="E7E7E7"/>
                </a:solidFill>
                <a:latin typeface="Source Code Pro"/>
              </a:rPr>
              <a:t> (</a:t>
            </a:r>
            <a:r>
              <a:rPr sz="1400" b="1" dirty="0">
                <a:solidFill>
                  <a:srgbClr val="E7E7E7"/>
                </a:solidFill>
                <a:latin typeface="Source Code Pro"/>
              </a:rPr>
              <a:t>BPTT</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Gradient at </a:t>
            </a:r>
            <a:r>
              <a:rPr sz="1400" b="1" dirty="0">
                <a:solidFill>
                  <a:srgbClr val="EC7955"/>
                </a:solidFill>
                <a:latin typeface="Source Code Pro"/>
              </a:rPr>
              <a:t>time</a:t>
            </a:r>
            <a:r>
              <a:rPr sz="1400" dirty="0">
                <a:solidFill>
                  <a:srgbClr val="E7E7E7"/>
                </a:solidFill>
                <a:latin typeface="Source Code Pro"/>
              </a:rPr>
              <a:t> t: loss/W ≈ (0.9)^5 = 0.59 (decays!)</a:t>
            </a:r>
          </a:p>
          <a:p>
            <a:pPr algn="l"/>
            <a:endParaRPr sz="1400" dirty="0">
              <a:solidFill>
                <a:srgbClr val="E7E7E7"/>
              </a:solidFill>
              <a:latin typeface="Source Code Pro"/>
            </a:endParaRPr>
          </a:p>
          <a:p>
            <a:pPr algn="l"/>
            <a:r>
              <a:rPr sz="1400" dirty="0">
                <a:solidFill>
                  <a:srgbClr val="E7E7E7"/>
                </a:solidFill>
                <a:latin typeface="Source Code Pro"/>
              </a:rPr>
              <a:t>Problem: Gradients shrink with each </a:t>
            </a:r>
            <a:r>
              <a:rPr sz="1400" b="1" dirty="0">
                <a:solidFill>
                  <a:srgbClr val="E7E7E7"/>
                </a:solidFill>
                <a:latin typeface="Source Code Pro"/>
              </a:rPr>
              <a:t>timestep</a:t>
            </a:r>
            <a:r>
              <a:rPr sz="1400" dirty="0">
                <a:solidFill>
                  <a:srgbClr val="E7E7E7"/>
                </a:solidFill>
                <a:latin typeface="Source Code Pro"/>
              </a:rPr>
              <a:t>.</a:t>
            </a:r>
          </a:p>
          <a:p>
            <a:pPr algn="l"/>
            <a:r>
              <a:rPr sz="1400" dirty="0">
                <a:solidFill>
                  <a:srgbClr val="E7E7E7"/>
                </a:solidFill>
                <a:latin typeface="Source Code Pro"/>
              </a:rPr>
              <a:t>After 20 </a:t>
            </a:r>
            <a:r>
              <a:rPr sz="1400" b="1" dirty="0">
                <a:solidFill>
                  <a:srgbClr val="FD4A4A"/>
                </a:solidFill>
                <a:latin typeface="Source Code Pro"/>
              </a:rPr>
              <a:t>timesteps</a:t>
            </a:r>
            <a:r>
              <a:rPr sz="1400" dirty="0">
                <a:solidFill>
                  <a:srgbClr val="E7E7E7"/>
                </a:solidFill>
                <a:latin typeface="Source Code Pro"/>
              </a:rPr>
              <a:t>: (0.9)^20 = 0.12 (almost </a:t>
            </a:r>
            <a:r>
              <a:rPr sz="1400" b="1" dirty="0">
                <a:solidFill>
                  <a:srgbClr val="E7E7E7"/>
                </a:solidFill>
                <a:latin typeface="Source Code Pro"/>
              </a:rPr>
              <a:t>zero</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Result: RNN can't </a:t>
            </a:r>
            <a:r>
              <a:rPr sz="1400" b="1" dirty="0">
                <a:solidFill>
                  <a:srgbClr val="E7E7E7"/>
                </a:solidFill>
                <a:latin typeface="Source Code Pro"/>
              </a:rPr>
              <a:t>learn</a:t>
            </a:r>
            <a:r>
              <a:rPr sz="1400" dirty="0">
                <a:solidFill>
                  <a:srgbClr val="E7E7E7"/>
                </a:solidFill>
                <a:latin typeface="Source Code Pro"/>
              </a:rPr>
              <a:t> long-</a:t>
            </a:r>
            <a:r>
              <a:rPr sz="1400" b="1" dirty="0">
                <a:solidFill>
                  <a:srgbClr val="E7E7E7"/>
                </a:solidFill>
                <a:latin typeface="Source Code Pro"/>
              </a:rPr>
              <a:t>range</a:t>
            </a:r>
            <a:r>
              <a:rPr sz="1400" dirty="0">
                <a:solidFill>
                  <a:srgbClr val="E7E7E7"/>
                </a:solidFill>
                <a:latin typeface="Source Code Pro"/>
              </a:rPr>
              <a:t> </a:t>
            </a:r>
            <a:r>
              <a:rPr sz="1400" b="1" dirty="0">
                <a:solidFill>
                  <a:srgbClr val="E7E7E7"/>
                </a:solidFill>
                <a:latin typeface="Source Code Pro"/>
              </a:rPr>
              <a:t>dependencies</a:t>
            </a:r>
            <a:r>
              <a:rPr sz="1400" dirty="0">
                <a:solidFill>
                  <a:srgbClr val="E7E7E7"/>
                </a:solidFill>
                <a:latin typeface="Source Code Pro"/>
              </a:rPr>
              <a:t>.</a:t>
            </a:r>
          </a:p>
          <a:p>
            <a:pPr algn="l"/>
            <a:r>
              <a:rPr sz="1400" b="1" dirty="0">
                <a:solidFill>
                  <a:srgbClr val="E7E7E7"/>
                </a:solidFill>
                <a:latin typeface="Source Code Pro"/>
              </a:rPr>
              <a:t>Network</a:t>
            </a:r>
            <a:r>
              <a:rPr sz="1400" dirty="0">
                <a:solidFill>
                  <a:srgbClr val="E7E7E7"/>
                </a:solidFill>
                <a:latin typeface="Source Code Pro"/>
              </a:rPr>
              <a:t> </a:t>
            </a:r>
            <a:r>
              <a:rPr sz="1400" b="1" dirty="0">
                <a:solidFill>
                  <a:srgbClr val="E7E7E7"/>
                </a:solidFill>
                <a:latin typeface="Source Code Pro"/>
              </a:rPr>
              <a:t>forgets</a:t>
            </a:r>
            <a:r>
              <a:rPr sz="1400" dirty="0">
                <a:solidFill>
                  <a:srgbClr val="E7E7E7"/>
                </a:solidFill>
                <a:latin typeface="Source Code Pro"/>
              </a:rPr>
              <a:t> </a:t>
            </a:r>
            <a:r>
              <a:rPr sz="1400" b="1" dirty="0">
                <a:solidFill>
                  <a:srgbClr val="EC7955"/>
                </a:solidFill>
                <a:latin typeface="Source Code Pro"/>
              </a:rPr>
              <a:t>early</a:t>
            </a:r>
            <a:r>
              <a:rPr sz="1400" dirty="0">
                <a:solidFill>
                  <a:srgbClr val="E7E7E7"/>
                </a:solidFill>
                <a:latin typeface="Source Code Pro"/>
              </a:rPr>
              <a:t> </a:t>
            </a:r>
            <a:r>
              <a:rPr sz="1400" b="1" dirty="0">
                <a:solidFill>
                  <a:srgbClr val="EC7955"/>
                </a:solidFill>
                <a:latin typeface="Source Code Pro"/>
              </a:rPr>
              <a:t>inputs</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Example: "The </a:t>
            </a:r>
            <a:r>
              <a:rPr sz="1400" b="1" dirty="0">
                <a:solidFill>
                  <a:srgbClr val="E81A81"/>
                </a:solidFill>
                <a:latin typeface="Source Code Pro"/>
              </a:rPr>
              <a:t>cat</a:t>
            </a:r>
            <a:r>
              <a:rPr sz="1400" dirty="0">
                <a:solidFill>
                  <a:srgbClr val="E7E7E7"/>
                </a:solidFill>
                <a:latin typeface="Source Code Pro"/>
              </a:rPr>
              <a:t>, which was </a:t>
            </a:r>
            <a:r>
              <a:rPr sz="1400" b="1" dirty="0">
                <a:solidFill>
                  <a:srgbClr val="E7E7E7"/>
                </a:solidFill>
                <a:latin typeface="Source Code Pro"/>
              </a:rPr>
              <a:t>hungry</a:t>
            </a:r>
            <a:r>
              <a:rPr sz="1400" dirty="0">
                <a:solidFill>
                  <a:srgbClr val="E7E7E7"/>
                </a:solidFill>
                <a:latin typeface="Source Code Pro"/>
              </a:rPr>
              <a:t> and </a:t>
            </a:r>
            <a:r>
              <a:rPr sz="1400" b="1" dirty="0">
                <a:solidFill>
                  <a:srgbClr val="E7E7E7"/>
                </a:solidFill>
                <a:latin typeface="Source Code Pro"/>
              </a:rPr>
              <a:t>tired</a:t>
            </a:r>
            <a:r>
              <a:rPr sz="1400" dirty="0">
                <a:solidFill>
                  <a:srgbClr val="E7E7E7"/>
                </a:solidFill>
                <a:latin typeface="Source Code Pro"/>
              </a:rPr>
              <a:t>, wanted </a:t>
            </a:r>
            <a:r>
              <a:rPr sz="1400" b="1" dirty="0">
                <a:solidFill>
                  <a:srgbClr val="E7E7E7"/>
                </a:solidFill>
                <a:latin typeface="Source Code Pro"/>
              </a:rPr>
              <a:t>food</a:t>
            </a:r>
            <a:r>
              <a:rPr sz="1400" dirty="0">
                <a:solidFill>
                  <a:srgbClr val="E7E7E7"/>
                </a:solidFill>
                <a:latin typeface="Source Code Pro"/>
              </a:rPr>
              <a:t>."</a:t>
            </a:r>
          </a:p>
          <a:p>
            <a:pPr algn="l"/>
            <a:r>
              <a:rPr sz="1400" dirty="0">
                <a:solidFill>
                  <a:srgbClr val="E7E7E7"/>
                </a:solidFill>
                <a:latin typeface="Source Code Pro"/>
              </a:rPr>
              <a:t>RNN might forget "cat" by the time it reaches "wanted".</a:t>
            </a:r>
          </a:p>
        </p:txBody>
      </p:sp>
    </p:spTree>
    <p:extLst>
      <p:ext uri="{BB962C8B-B14F-4D97-AF65-F5344CB8AC3E}">
        <p14:creationId xmlns:p14="http://schemas.microsoft.com/office/powerpoint/2010/main" val="721575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27C055C9-C156-1F68-35AF-7995F54AF319}"/>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The Exploding Gradient Problem</a:t>
            </a:r>
          </a:p>
        </p:txBody>
      </p:sp>
      <p:sp>
        <p:nvSpPr>
          <p:cNvPr id="3" name="TextBox 2"/>
          <p:cNvSpPr txBox="1"/>
          <p:nvPr/>
        </p:nvSpPr>
        <p:spPr>
          <a:xfrm>
            <a:off x="256032" y="1463040"/>
            <a:ext cx="8229600" cy="2462213"/>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Opposite of </a:t>
            </a:r>
            <a:r>
              <a:rPr sz="1400" b="1" dirty="0">
                <a:solidFill>
                  <a:srgbClr val="E7E7E7"/>
                </a:solidFill>
                <a:latin typeface="Source Code Pro"/>
              </a:rPr>
              <a:t>vanishing</a:t>
            </a:r>
            <a:r>
              <a:rPr sz="1400" dirty="0">
                <a:solidFill>
                  <a:srgbClr val="E7E7E7"/>
                </a:solidFill>
                <a:latin typeface="Source Code Pro"/>
              </a:rPr>
              <a:t>: </a:t>
            </a:r>
            <a:r>
              <a:rPr sz="1400" b="1" dirty="0">
                <a:solidFill>
                  <a:srgbClr val="BD64B5"/>
                </a:solidFill>
                <a:latin typeface="Source Code Pro"/>
              </a:rPr>
              <a:t>gradients</a:t>
            </a:r>
            <a:r>
              <a:rPr sz="1400" dirty="0">
                <a:solidFill>
                  <a:srgbClr val="E7E7E7"/>
                </a:solidFill>
                <a:latin typeface="Source Code Pro"/>
              </a:rPr>
              <a:t> become </a:t>
            </a:r>
            <a:r>
              <a:rPr sz="1400" b="1" dirty="0">
                <a:solidFill>
                  <a:srgbClr val="BD64B5"/>
                </a:solidFill>
                <a:latin typeface="Source Code Pro"/>
              </a:rPr>
              <a:t>huge</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Example: Gradient = 1.5^20 = 3,325 (explodes!).</a:t>
            </a:r>
          </a:p>
          <a:p>
            <a:pPr algn="l"/>
            <a:endParaRPr sz="1400" dirty="0">
              <a:solidFill>
                <a:srgbClr val="E7E7E7"/>
              </a:solidFill>
              <a:latin typeface="Source Code Pro"/>
            </a:endParaRPr>
          </a:p>
          <a:p>
            <a:pPr algn="l"/>
            <a:r>
              <a:rPr sz="1400" dirty="0">
                <a:solidFill>
                  <a:srgbClr val="E7E7E7"/>
                </a:solidFill>
                <a:latin typeface="Source Code Pro"/>
              </a:rPr>
              <a:t>Result: </a:t>
            </a:r>
            <a:r>
              <a:rPr sz="1400" b="1" dirty="0">
                <a:solidFill>
                  <a:srgbClr val="FD4A4A"/>
                </a:solidFill>
                <a:latin typeface="Source Code Pro"/>
              </a:rPr>
              <a:t>weights</a:t>
            </a:r>
            <a:r>
              <a:rPr sz="1400" dirty="0">
                <a:solidFill>
                  <a:srgbClr val="E7E7E7"/>
                </a:solidFill>
                <a:latin typeface="Source Code Pro"/>
              </a:rPr>
              <a:t> </a:t>
            </a:r>
            <a:r>
              <a:rPr sz="1400" b="1" dirty="0">
                <a:solidFill>
                  <a:srgbClr val="E7E7E7"/>
                </a:solidFill>
                <a:latin typeface="Source Code Pro"/>
              </a:rPr>
              <a:t>update</a:t>
            </a:r>
            <a:r>
              <a:rPr sz="1400" dirty="0">
                <a:solidFill>
                  <a:srgbClr val="E7E7E7"/>
                </a:solidFill>
                <a:latin typeface="Source Code Pro"/>
              </a:rPr>
              <a:t> too </a:t>
            </a:r>
            <a:r>
              <a:rPr sz="1400" b="1" dirty="0">
                <a:solidFill>
                  <a:srgbClr val="94EE6B"/>
                </a:solidFill>
                <a:latin typeface="Source Code Pro"/>
              </a:rPr>
              <a:t>much</a:t>
            </a:r>
            <a:r>
              <a:rPr sz="1400" dirty="0">
                <a:solidFill>
                  <a:srgbClr val="E7E7E7"/>
                </a:solidFill>
                <a:latin typeface="Source Code Pro"/>
              </a:rPr>
              <a:t>, </a:t>
            </a:r>
            <a:r>
              <a:rPr sz="1400" b="1" dirty="0">
                <a:solidFill>
                  <a:srgbClr val="E7E7E7"/>
                </a:solidFill>
                <a:latin typeface="Source Code Pro"/>
              </a:rPr>
              <a:t>training</a:t>
            </a:r>
            <a:r>
              <a:rPr sz="1400" dirty="0">
                <a:solidFill>
                  <a:srgbClr val="E7E7E7"/>
                </a:solidFill>
                <a:latin typeface="Source Code Pro"/>
              </a:rPr>
              <a:t> becomes </a:t>
            </a:r>
            <a:r>
              <a:rPr sz="1400" b="1" dirty="0">
                <a:solidFill>
                  <a:srgbClr val="E81A81"/>
                </a:solidFill>
                <a:latin typeface="Source Code Pro"/>
              </a:rPr>
              <a:t>unstable</a:t>
            </a:r>
            <a:r>
              <a:rPr sz="1400" dirty="0">
                <a:solidFill>
                  <a:srgbClr val="E7E7E7"/>
                </a:solidFill>
                <a:latin typeface="Source Code Pro"/>
              </a:rPr>
              <a:t>.</a:t>
            </a:r>
          </a:p>
          <a:p>
            <a:pPr algn="l"/>
            <a:r>
              <a:rPr sz="1400" b="1" dirty="0">
                <a:solidFill>
                  <a:srgbClr val="E7E7E7"/>
                </a:solidFill>
                <a:latin typeface="Source Code Pro"/>
              </a:rPr>
              <a:t>Model</a:t>
            </a:r>
            <a:r>
              <a:rPr sz="1400" dirty="0">
                <a:solidFill>
                  <a:srgbClr val="E7E7E7"/>
                </a:solidFill>
                <a:latin typeface="Source Code Pro"/>
              </a:rPr>
              <a:t> </a:t>
            </a:r>
            <a:r>
              <a:rPr sz="1400" b="1" dirty="0">
                <a:solidFill>
                  <a:srgbClr val="E7E7E7"/>
                </a:solidFill>
                <a:latin typeface="Source Code Pro"/>
              </a:rPr>
              <a:t>diverges</a:t>
            </a:r>
            <a:r>
              <a:rPr sz="1400" dirty="0">
                <a:solidFill>
                  <a:srgbClr val="E7E7E7"/>
                </a:solidFill>
                <a:latin typeface="Source Code Pro"/>
              </a:rPr>
              <a:t>, </a:t>
            </a:r>
            <a:r>
              <a:rPr sz="1400" b="1" dirty="0">
                <a:solidFill>
                  <a:srgbClr val="E7E7E7"/>
                </a:solidFill>
                <a:latin typeface="Source Code Pro"/>
              </a:rPr>
              <a:t>loss</a:t>
            </a:r>
            <a:r>
              <a:rPr sz="1400" dirty="0">
                <a:solidFill>
                  <a:srgbClr val="E7E7E7"/>
                </a:solidFill>
                <a:latin typeface="Source Code Pro"/>
              </a:rPr>
              <a:t> becomes </a:t>
            </a:r>
            <a:r>
              <a:rPr sz="1400" b="1" dirty="0">
                <a:solidFill>
                  <a:srgbClr val="E7E7E7"/>
                </a:solidFill>
                <a:latin typeface="Source Code Pro"/>
              </a:rPr>
              <a:t>infinity</a:t>
            </a:r>
            <a:r>
              <a:rPr sz="1400" dirty="0">
                <a:solidFill>
                  <a:srgbClr val="E7E7E7"/>
                </a:solidFill>
                <a:latin typeface="Source Code Pro"/>
              </a:rPr>
              <a:t> or </a:t>
            </a:r>
            <a:r>
              <a:rPr sz="1400" b="1" dirty="0" err="1">
                <a:solidFill>
                  <a:srgbClr val="E7E7E7"/>
                </a:solidFill>
                <a:latin typeface="Source Code Pro"/>
              </a:rPr>
              <a:t>NaN</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Solutions:</a:t>
            </a:r>
          </a:p>
          <a:p>
            <a:pPr algn="l"/>
            <a:r>
              <a:rPr sz="1400" dirty="0">
                <a:solidFill>
                  <a:srgbClr val="E7E7E7"/>
                </a:solidFill>
                <a:latin typeface="Source Code Pro"/>
              </a:rPr>
              <a:t>  1. </a:t>
            </a:r>
            <a:r>
              <a:rPr sz="1400" b="1" dirty="0">
                <a:solidFill>
                  <a:srgbClr val="E7E7E7"/>
                </a:solidFill>
                <a:latin typeface="Source Code Pro"/>
              </a:rPr>
              <a:t>Gradient</a:t>
            </a:r>
            <a:r>
              <a:rPr sz="1400" dirty="0">
                <a:solidFill>
                  <a:srgbClr val="E7E7E7"/>
                </a:solidFill>
                <a:latin typeface="Source Code Pro"/>
              </a:rPr>
              <a:t> </a:t>
            </a:r>
            <a:r>
              <a:rPr sz="1400" b="1" dirty="0">
                <a:solidFill>
                  <a:srgbClr val="E7E7E7"/>
                </a:solidFill>
                <a:latin typeface="Source Code Pro"/>
              </a:rPr>
              <a:t>clipping</a:t>
            </a:r>
            <a:r>
              <a:rPr sz="1400" dirty="0">
                <a:solidFill>
                  <a:srgbClr val="E7E7E7"/>
                </a:solidFill>
                <a:latin typeface="Source Code Pro"/>
              </a:rPr>
              <a:t>: Cap </a:t>
            </a:r>
            <a:r>
              <a:rPr sz="1400" b="1" dirty="0">
                <a:solidFill>
                  <a:srgbClr val="E7E7E7"/>
                </a:solidFill>
                <a:latin typeface="Source Code Pro"/>
              </a:rPr>
              <a:t>gradient</a:t>
            </a:r>
            <a:r>
              <a:rPr sz="1400" dirty="0">
                <a:solidFill>
                  <a:srgbClr val="E7E7E7"/>
                </a:solidFill>
                <a:latin typeface="Source Code Pro"/>
              </a:rPr>
              <a:t> </a:t>
            </a:r>
            <a:r>
              <a:rPr sz="1400" b="1" dirty="0">
                <a:solidFill>
                  <a:srgbClr val="E7E7E7"/>
                </a:solidFill>
                <a:latin typeface="Source Code Pro"/>
              </a:rPr>
              <a:t>magnitude</a:t>
            </a:r>
            <a:r>
              <a:rPr sz="1400" dirty="0">
                <a:solidFill>
                  <a:srgbClr val="E7E7E7"/>
                </a:solidFill>
                <a:latin typeface="Source Code Pro"/>
              </a:rPr>
              <a:t> at threshold</a:t>
            </a:r>
          </a:p>
          <a:p>
            <a:pPr algn="l"/>
            <a:r>
              <a:rPr sz="1400" dirty="0">
                <a:solidFill>
                  <a:srgbClr val="E7E7E7"/>
                </a:solidFill>
                <a:latin typeface="Source Code Pro"/>
              </a:rPr>
              <a:t>  2. Better </a:t>
            </a:r>
            <a:r>
              <a:rPr sz="1400" b="1" dirty="0">
                <a:solidFill>
                  <a:srgbClr val="E7E7E7"/>
                </a:solidFill>
                <a:latin typeface="Source Code Pro"/>
              </a:rPr>
              <a:t>architecture</a:t>
            </a:r>
            <a:r>
              <a:rPr sz="1400" dirty="0">
                <a:solidFill>
                  <a:srgbClr val="E7E7E7"/>
                </a:solidFill>
                <a:latin typeface="Source Code Pro"/>
              </a:rPr>
              <a:t>: LSTM or GRU (next slides)</a:t>
            </a:r>
          </a:p>
        </p:txBody>
      </p:sp>
    </p:spTree>
    <p:extLst>
      <p:ext uri="{BB962C8B-B14F-4D97-AF65-F5344CB8AC3E}">
        <p14:creationId xmlns:p14="http://schemas.microsoft.com/office/powerpoint/2010/main" val="2683934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2F3C24B5-FA2A-A20C-CFEF-E96090FCDE69}"/>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LSTM - Long Short-Term Memory</a:t>
            </a:r>
          </a:p>
        </p:txBody>
      </p:sp>
      <p:sp>
        <p:nvSpPr>
          <p:cNvPr id="3" name="TextBox 2"/>
          <p:cNvSpPr txBox="1"/>
          <p:nvPr/>
        </p:nvSpPr>
        <p:spPr>
          <a:xfrm>
            <a:off x="256032" y="1463040"/>
            <a:ext cx="8229600" cy="3323987"/>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LSTM solves </a:t>
            </a:r>
            <a:r>
              <a:rPr sz="1400" b="1" dirty="0">
                <a:solidFill>
                  <a:srgbClr val="E7E7E7"/>
                </a:solidFill>
                <a:latin typeface="Source Code Pro"/>
              </a:rPr>
              <a:t>vanishing</a:t>
            </a:r>
            <a:r>
              <a:rPr sz="1400" dirty="0">
                <a:solidFill>
                  <a:srgbClr val="E7E7E7"/>
                </a:solidFill>
                <a:latin typeface="Source Code Pro"/>
              </a:rPr>
              <a:t>/</a:t>
            </a:r>
            <a:r>
              <a:rPr sz="1400" b="1" dirty="0">
                <a:solidFill>
                  <a:srgbClr val="E7E7E7"/>
                </a:solidFill>
                <a:latin typeface="Source Code Pro"/>
              </a:rPr>
              <a:t>exploding</a:t>
            </a:r>
            <a:r>
              <a:rPr sz="1400" dirty="0">
                <a:solidFill>
                  <a:srgbClr val="E7E7E7"/>
                </a:solidFill>
                <a:latin typeface="Source Code Pro"/>
              </a:rPr>
              <a:t> </a:t>
            </a:r>
            <a:r>
              <a:rPr sz="1400" b="1" dirty="0">
                <a:solidFill>
                  <a:srgbClr val="E7E7E7"/>
                </a:solidFill>
                <a:latin typeface="Source Code Pro"/>
              </a:rPr>
              <a:t>gradient</a:t>
            </a:r>
            <a:r>
              <a:rPr sz="1400" dirty="0">
                <a:solidFill>
                  <a:srgbClr val="E7E7E7"/>
                </a:solidFill>
                <a:latin typeface="Source Code Pro"/>
              </a:rPr>
              <a:t> </a:t>
            </a:r>
            <a:r>
              <a:rPr sz="1400" b="1" dirty="0">
                <a:solidFill>
                  <a:srgbClr val="BD64B5"/>
                </a:solidFill>
                <a:latin typeface="Source Code Pro"/>
              </a:rPr>
              <a:t>problem</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Key idea: Separate </a:t>
            </a:r>
            <a:r>
              <a:rPr sz="1400" b="1" dirty="0">
                <a:solidFill>
                  <a:srgbClr val="E7E7E7"/>
                </a:solidFill>
                <a:latin typeface="Source Code Pro"/>
              </a:rPr>
              <a:t>long</a:t>
            </a:r>
            <a:r>
              <a:rPr sz="1400" dirty="0">
                <a:solidFill>
                  <a:srgbClr val="E7E7E7"/>
                </a:solidFill>
                <a:latin typeface="Source Code Pro"/>
              </a:rPr>
              <a:t>-term </a:t>
            </a:r>
            <a:r>
              <a:rPr sz="1400" b="1" dirty="0">
                <a:solidFill>
                  <a:srgbClr val="E7E7E7"/>
                </a:solidFill>
                <a:latin typeface="Source Code Pro"/>
              </a:rPr>
              <a:t>memory</a:t>
            </a:r>
            <a:r>
              <a:rPr sz="1400" dirty="0">
                <a:solidFill>
                  <a:srgbClr val="E7E7E7"/>
                </a:solidFill>
                <a:latin typeface="Source Code Pro"/>
              </a:rPr>
              <a:t> (</a:t>
            </a:r>
            <a:r>
              <a:rPr sz="1400" b="1" dirty="0">
                <a:solidFill>
                  <a:srgbClr val="E7E7E7"/>
                </a:solidFill>
                <a:latin typeface="Source Code Pro"/>
              </a:rPr>
              <a:t>cell</a:t>
            </a:r>
            <a:r>
              <a:rPr sz="1400" dirty="0">
                <a:solidFill>
                  <a:srgbClr val="E7E7E7"/>
                </a:solidFill>
                <a:latin typeface="Source Code Pro"/>
              </a:rPr>
              <a:t> </a:t>
            </a:r>
            <a:r>
              <a:rPr sz="1400" b="1" dirty="0">
                <a:solidFill>
                  <a:srgbClr val="FD4A4A"/>
                </a:solidFill>
                <a:latin typeface="Source Code Pro"/>
              </a:rPr>
              <a:t>state</a:t>
            </a:r>
            <a:r>
              <a:rPr sz="1400" dirty="0">
                <a:solidFill>
                  <a:srgbClr val="E7E7E7"/>
                </a:solidFill>
                <a:latin typeface="Source Code Pro"/>
              </a:rPr>
              <a:t>) from </a:t>
            </a:r>
            <a:r>
              <a:rPr sz="1400" b="1" dirty="0">
                <a:solidFill>
                  <a:srgbClr val="E7E7E7"/>
                </a:solidFill>
                <a:latin typeface="Source Code Pro"/>
              </a:rPr>
              <a:t>short</a:t>
            </a:r>
            <a:r>
              <a:rPr sz="1400" dirty="0">
                <a:solidFill>
                  <a:srgbClr val="E7E7E7"/>
                </a:solidFill>
                <a:latin typeface="Source Code Pro"/>
              </a:rPr>
              <a:t>-term </a:t>
            </a:r>
            <a:r>
              <a:rPr sz="1400" b="1" dirty="0">
                <a:solidFill>
                  <a:srgbClr val="E7E7E7"/>
                </a:solidFill>
                <a:latin typeface="Source Code Pro"/>
              </a:rPr>
              <a:t>memory</a:t>
            </a:r>
            <a:r>
              <a:rPr sz="1400" dirty="0">
                <a:solidFill>
                  <a:srgbClr val="E7E7E7"/>
                </a:solidFill>
                <a:latin typeface="Source Code Pro"/>
              </a:rPr>
              <a:t> (</a:t>
            </a:r>
            <a:r>
              <a:rPr sz="1400" b="1" dirty="0">
                <a:solidFill>
                  <a:srgbClr val="E7E7E7"/>
                </a:solidFill>
                <a:latin typeface="Source Code Pro"/>
              </a:rPr>
              <a:t>hidden</a:t>
            </a:r>
            <a:r>
              <a:rPr sz="1400" dirty="0">
                <a:solidFill>
                  <a:srgbClr val="E7E7E7"/>
                </a:solidFill>
                <a:latin typeface="Source Code Pro"/>
              </a:rPr>
              <a:t> </a:t>
            </a:r>
            <a:r>
              <a:rPr sz="1400" b="1" dirty="0">
                <a:solidFill>
                  <a:srgbClr val="94EE6B"/>
                </a:solidFill>
                <a:latin typeface="Source Code Pro"/>
              </a:rPr>
              <a:t>state</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Cell state </a:t>
            </a:r>
            <a:r>
              <a:rPr sz="1400" dirty="0" err="1">
                <a:solidFill>
                  <a:srgbClr val="E7E7E7"/>
                </a:solidFill>
                <a:latin typeface="Source Code Pro"/>
              </a:rPr>
              <a:t>c_t</a:t>
            </a:r>
            <a:r>
              <a:rPr sz="1400" dirty="0">
                <a:solidFill>
                  <a:srgbClr val="E7E7E7"/>
                </a:solidFill>
                <a:latin typeface="Source Code Pro"/>
              </a:rPr>
              <a:t>: Information </a:t>
            </a:r>
            <a:r>
              <a:rPr sz="1400" b="1" dirty="0">
                <a:solidFill>
                  <a:srgbClr val="E7E7E7"/>
                </a:solidFill>
                <a:latin typeface="Source Code Pro"/>
              </a:rPr>
              <a:t>highway</a:t>
            </a:r>
            <a:r>
              <a:rPr sz="1400" dirty="0">
                <a:solidFill>
                  <a:srgbClr val="E7E7E7"/>
                </a:solidFill>
                <a:latin typeface="Source Code Pro"/>
              </a:rPr>
              <a:t>, rarely changes.</a:t>
            </a:r>
          </a:p>
          <a:p>
            <a:pPr algn="l"/>
            <a:r>
              <a:rPr sz="1400" dirty="0">
                <a:solidFill>
                  <a:srgbClr val="E7E7E7"/>
                </a:solidFill>
                <a:latin typeface="Source Code Pro"/>
              </a:rPr>
              <a:t>Hidden state </a:t>
            </a:r>
            <a:r>
              <a:rPr sz="1400" dirty="0" err="1">
                <a:solidFill>
                  <a:srgbClr val="E7E7E7"/>
                </a:solidFill>
                <a:latin typeface="Source Code Pro"/>
              </a:rPr>
              <a:t>h_t</a:t>
            </a:r>
            <a:r>
              <a:rPr sz="1400" dirty="0">
                <a:solidFill>
                  <a:srgbClr val="E7E7E7"/>
                </a:solidFill>
                <a:latin typeface="Source Code Pro"/>
              </a:rPr>
              <a:t>: </a:t>
            </a:r>
            <a:r>
              <a:rPr sz="1400" b="1" dirty="0">
                <a:solidFill>
                  <a:srgbClr val="E7E7E7"/>
                </a:solidFill>
                <a:latin typeface="Source Code Pro"/>
              </a:rPr>
              <a:t>Temporary</a:t>
            </a:r>
            <a:r>
              <a:rPr sz="1400" dirty="0">
                <a:solidFill>
                  <a:srgbClr val="E7E7E7"/>
                </a:solidFill>
                <a:latin typeface="Source Code Pro"/>
              </a:rPr>
              <a:t> </a:t>
            </a:r>
            <a:r>
              <a:rPr sz="1400" b="1" dirty="0">
                <a:solidFill>
                  <a:srgbClr val="E7E7E7"/>
                </a:solidFill>
                <a:latin typeface="Source Code Pro"/>
              </a:rPr>
              <a:t>output</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3 </a:t>
            </a:r>
            <a:r>
              <a:rPr sz="1400" b="1" dirty="0">
                <a:solidFill>
                  <a:srgbClr val="E7E7E7"/>
                </a:solidFill>
                <a:latin typeface="Source Code Pro"/>
              </a:rPr>
              <a:t>gates</a:t>
            </a:r>
            <a:r>
              <a:rPr sz="1400" dirty="0">
                <a:solidFill>
                  <a:srgbClr val="E7E7E7"/>
                </a:solidFill>
                <a:latin typeface="Source Code Pro"/>
              </a:rPr>
              <a:t> control </a:t>
            </a:r>
            <a:r>
              <a:rPr sz="1400" b="1" dirty="0">
                <a:solidFill>
                  <a:srgbClr val="EC7955"/>
                </a:solidFill>
                <a:latin typeface="Source Code Pro"/>
              </a:rPr>
              <a:t>information</a:t>
            </a:r>
            <a:r>
              <a:rPr sz="1400" dirty="0">
                <a:solidFill>
                  <a:srgbClr val="E7E7E7"/>
                </a:solidFill>
                <a:latin typeface="Source Code Pro"/>
              </a:rPr>
              <a:t> </a:t>
            </a:r>
            <a:r>
              <a:rPr sz="1400" b="1" dirty="0">
                <a:solidFill>
                  <a:srgbClr val="E7E7E7"/>
                </a:solidFill>
                <a:latin typeface="Source Code Pro"/>
              </a:rPr>
              <a:t>flow</a:t>
            </a:r>
            <a:r>
              <a:rPr sz="1400" dirty="0">
                <a:solidFill>
                  <a:srgbClr val="E7E7E7"/>
                </a:solidFill>
                <a:latin typeface="Source Code Pro"/>
              </a:rPr>
              <a:t>:</a:t>
            </a:r>
          </a:p>
          <a:p>
            <a:pPr algn="l"/>
            <a:r>
              <a:rPr sz="1400" dirty="0">
                <a:solidFill>
                  <a:srgbClr val="E7E7E7"/>
                </a:solidFill>
                <a:latin typeface="Source Code Pro"/>
              </a:rPr>
              <a:t>  1. </a:t>
            </a:r>
            <a:r>
              <a:rPr sz="1400" b="1" dirty="0">
                <a:solidFill>
                  <a:srgbClr val="E7E7E7"/>
                </a:solidFill>
                <a:latin typeface="Source Code Pro"/>
              </a:rPr>
              <a:t>Forget</a:t>
            </a:r>
            <a:r>
              <a:rPr sz="1400" dirty="0">
                <a:solidFill>
                  <a:srgbClr val="E7E7E7"/>
                </a:solidFill>
                <a:latin typeface="Source Code Pro"/>
              </a:rPr>
              <a:t> </a:t>
            </a:r>
            <a:r>
              <a:rPr sz="1400" b="1" dirty="0">
                <a:solidFill>
                  <a:srgbClr val="E7E7E7"/>
                </a:solidFill>
                <a:latin typeface="Source Code Pro"/>
              </a:rPr>
              <a:t>gate</a:t>
            </a:r>
            <a:r>
              <a:rPr sz="1400" dirty="0">
                <a:solidFill>
                  <a:srgbClr val="E7E7E7"/>
                </a:solidFill>
                <a:latin typeface="Source Code Pro"/>
              </a:rPr>
              <a:t>: What to </a:t>
            </a:r>
            <a:r>
              <a:rPr sz="1400" b="1" dirty="0">
                <a:solidFill>
                  <a:srgbClr val="E7E7E7"/>
                </a:solidFill>
                <a:latin typeface="Source Code Pro"/>
              </a:rPr>
              <a:t>discard</a:t>
            </a:r>
            <a:r>
              <a:rPr sz="1400" dirty="0">
                <a:solidFill>
                  <a:srgbClr val="E7E7E7"/>
                </a:solidFill>
                <a:latin typeface="Source Code Pro"/>
              </a:rPr>
              <a:t> from </a:t>
            </a:r>
            <a:r>
              <a:rPr sz="1400" b="1" dirty="0">
                <a:solidFill>
                  <a:srgbClr val="E7E7E7"/>
                </a:solidFill>
                <a:latin typeface="Source Code Pro"/>
              </a:rPr>
              <a:t>memory</a:t>
            </a:r>
            <a:r>
              <a:rPr sz="1400" dirty="0">
                <a:solidFill>
                  <a:srgbClr val="E7E7E7"/>
                </a:solidFill>
                <a:latin typeface="Source Code Pro"/>
              </a:rPr>
              <a:t>?</a:t>
            </a:r>
          </a:p>
          <a:p>
            <a:pPr algn="l"/>
            <a:r>
              <a:rPr sz="1400" dirty="0">
                <a:solidFill>
                  <a:srgbClr val="E7E7E7"/>
                </a:solidFill>
                <a:latin typeface="Source Code Pro"/>
              </a:rPr>
              <a:t>  2. </a:t>
            </a:r>
            <a:r>
              <a:rPr sz="1400" b="1" dirty="0">
                <a:solidFill>
                  <a:srgbClr val="E7E7E7"/>
                </a:solidFill>
                <a:latin typeface="Source Code Pro"/>
              </a:rPr>
              <a:t>Input</a:t>
            </a:r>
            <a:r>
              <a:rPr sz="1400" dirty="0">
                <a:solidFill>
                  <a:srgbClr val="E7E7E7"/>
                </a:solidFill>
                <a:latin typeface="Source Code Pro"/>
              </a:rPr>
              <a:t> </a:t>
            </a:r>
            <a:r>
              <a:rPr sz="1400" b="1" dirty="0">
                <a:solidFill>
                  <a:srgbClr val="E7E7E7"/>
                </a:solidFill>
                <a:latin typeface="Source Code Pro"/>
              </a:rPr>
              <a:t>gate</a:t>
            </a:r>
            <a:r>
              <a:rPr sz="1400" dirty="0">
                <a:solidFill>
                  <a:srgbClr val="E7E7E7"/>
                </a:solidFill>
                <a:latin typeface="Source Code Pro"/>
              </a:rPr>
              <a:t>: What </a:t>
            </a:r>
            <a:r>
              <a:rPr sz="1400" b="1" dirty="0">
                <a:solidFill>
                  <a:srgbClr val="4CAE97"/>
                </a:solidFill>
                <a:latin typeface="Source Code Pro"/>
              </a:rPr>
              <a:t>new</a:t>
            </a:r>
            <a:r>
              <a:rPr sz="1400" dirty="0">
                <a:solidFill>
                  <a:srgbClr val="E7E7E7"/>
                </a:solidFill>
                <a:latin typeface="Source Code Pro"/>
              </a:rPr>
              <a:t> </a:t>
            </a:r>
            <a:r>
              <a:rPr sz="1400" b="1" dirty="0">
                <a:solidFill>
                  <a:srgbClr val="EC7955"/>
                </a:solidFill>
                <a:latin typeface="Source Code Pro"/>
              </a:rPr>
              <a:t>information</a:t>
            </a:r>
            <a:r>
              <a:rPr sz="1400" dirty="0">
                <a:solidFill>
                  <a:srgbClr val="E7E7E7"/>
                </a:solidFill>
                <a:latin typeface="Source Code Pro"/>
              </a:rPr>
              <a:t> to </a:t>
            </a:r>
            <a:r>
              <a:rPr sz="1400" b="1" dirty="0">
                <a:solidFill>
                  <a:srgbClr val="E7E7E7"/>
                </a:solidFill>
                <a:latin typeface="Source Code Pro"/>
              </a:rPr>
              <a:t>add</a:t>
            </a:r>
            <a:r>
              <a:rPr sz="1400" dirty="0">
                <a:solidFill>
                  <a:srgbClr val="E7E7E7"/>
                </a:solidFill>
                <a:latin typeface="Source Code Pro"/>
              </a:rPr>
              <a:t>?</a:t>
            </a:r>
          </a:p>
          <a:p>
            <a:pPr algn="l"/>
            <a:r>
              <a:rPr sz="1400" dirty="0">
                <a:solidFill>
                  <a:srgbClr val="E7E7E7"/>
                </a:solidFill>
                <a:latin typeface="Source Code Pro"/>
              </a:rPr>
              <a:t>  3. </a:t>
            </a:r>
            <a:r>
              <a:rPr sz="1400" b="1" dirty="0">
                <a:solidFill>
                  <a:srgbClr val="E7E7E7"/>
                </a:solidFill>
                <a:latin typeface="Source Code Pro"/>
              </a:rPr>
              <a:t>Output</a:t>
            </a:r>
            <a:r>
              <a:rPr sz="1400" dirty="0">
                <a:solidFill>
                  <a:srgbClr val="E7E7E7"/>
                </a:solidFill>
                <a:latin typeface="Source Code Pro"/>
              </a:rPr>
              <a:t> </a:t>
            </a:r>
            <a:r>
              <a:rPr sz="1400" b="1" dirty="0">
                <a:solidFill>
                  <a:srgbClr val="E7E7E7"/>
                </a:solidFill>
                <a:latin typeface="Source Code Pro"/>
              </a:rPr>
              <a:t>gate</a:t>
            </a:r>
            <a:r>
              <a:rPr sz="1400" dirty="0">
                <a:solidFill>
                  <a:srgbClr val="E7E7E7"/>
                </a:solidFill>
                <a:latin typeface="Source Code Pro"/>
              </a:rPr>
              <a:t>: What to </a:t>
            </a:r>
            <a:r>
              <a:rPr sz="1400" b="1" dirty="0">
                <a:solidFill>
                  <a:srgbClr val="E7E7E7"/>
                </a:solidFill>
                <a:latin typeface="Source Code Pro"/>
              </a:rPr>
              <a:t>reveal</a:t>
            </a:r>
            <a:r>
              <a:rPr sz="1400" dirty="0">
                <a:solidFill>
                  <a:srgbClr val="E7E7E7"/>
                </a:solidFill>
                <a:latin typeface="Source Code Pro"/>
              </a:rPr>
              <a:t> as </a:t>
            </a:r>
            <a:r>
              <a:rPr sz="1400" b="1" dirty="0">
                <a:solidFill>
                  <a:srgbClr val="E7E7E7"/>
                </a:solidFill>
                <a:latin typeface="Source Code Pro"/>
              </a:rPr>
              <a:t>output</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Result: Gradient can </a:t>
            </a:r>
            <a:r>
              <a:rPr sz="1400" b="1" dirty="0">
                <a:solidFill>
                  <a:srgbClr val="E7E7E7"/>
                </a:solidFill>
                <a:latin typeface="Source Code Pro"/>
              </a:rPr>
              <a:t>flow</a:t>
            </a:r>
            <a:r>
              <a:rPr sz="1400" dirty="0">
                <a:solidFill>
                  <a:srgbClr val="E7E7E7"/>
                </a:solidFill>
                <a:latin typeface="Source Code Pro"/>
              </a:rPr>
              <a:t> </a:t>
            </a:r>
            <a:r>
              <a:rPr sz="1400" b="1" dirty="0">
                <a:solidFill>
                  <a:srgbClr val="E7E7E7"/>
                </a:solidFill>
                <a:latin typeface="Source Code Pro"/>
              </a:rPr>
              <a:t>without</a:t>
            </a:r>
            <a:r>
              <a:rPr sz="1400" dirty="0">
                <a:solidFill>
                  <a:srgbClr val="E7E7E7"/>
                </a:solidFill>
                <a:latin typeface="Source Code Pro"/>
              </a:rPr>
              <a:t> </a:t>
            </a:r>
            <a:r>
              <a:rPr sz="1400" b="1" dirty="0">
                <a:solidFill>
                  <a:srgbClr val="E7E7E7"/>
                </a:solidFill>
                <a:latin typeface="Source Code Pro"/>
              </a:rPr>
              <a:t>vanishing</a:t>
            </a:r>
            <a:r>
              <a:rPr sz="1400" dirty="0">
                <a:solidFill>
                  <a:srgbClr val="E7E7E7"/>
                </a:solidFill>
                <a:latin typeface="Source Code Pro"/>
              </a:rPr>
              <a:t>.</a:t>
            </a:r>
          </a:p>
        </p:txBody>
      </p:sp>
    </p:spTree>
    <p:extLst>
      <p:ext uri="{BB962C8B-B14F-4D97-AF65-F5344CB8AC3E}">
        <p14:creationId xmlns:p14="http://schemas.microsoft.com/office/powerpoint/2010/main" val="1924674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A27396EA-B3CB-5765-A2BF-6067CF0C0F06}"/>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LSTM Internal Mechanisms - Forget Gate</a:t>
            </a:r>
          </a:p>
        </p:txBody>
      </p:sp>
      <p:sp>
        <p:nvSpPr>
          <p:cNvPr id="3" name="TextBox 2"/>
          <p:cNvSpPr txBox="1"/>
          <p:nvPr/>
        </p:nvSpPr>
        <p:spPr>
          <a:xfrm>
            <a:off x="256032" y="1463040"/>
            <a:ext cx="8229600" cy="3754874"/>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Forget </a:t>
            </a:r>
            <a:r>
              <a:rPr sz="1400" b="1" dirty="0">
                <a:solidFill>
                  <a:srgbClr val="BD64B5"/>
                </a:solidFill>
                <a:latin typeface="Source Code Pro"/>
              </a:rPr>
              <a:t>gate</a:t>
            </a:r>
            <a:r>
              <a:rPr sz="1400" dirty="0">
                <a:solidFill>
                  <a:srgbClr val="E7E7E7"/>
                </a:solidFill>
                <a:latin typeface="Source Code Pro"/>
              </a:rPr>
              <a:t> decides what to </a:t>
            </a:r>
            <a:r>
              <a:rPr sz="1400" b="1" dirty="0">
                <a:solidFill>
                  <a:srgbClr val="94EE6B"/>
                </a:solidFill>
                <a:latin typeface="Source Code Pro"/>
              </a:rPr>
              <a:t>discard</a:t>
            </a:r>
            <a:r>
              <a:rPr sz="1400" dirty="0">
                <a:solidFill>
                  <a:srgbClr val="E7E7E7"/>
                </a:solidFill>
                <a:latin typeface="Source Code Pro"/>
              </a:rPr>
              <a:t>.</a:t>
            </a:r>
          </a:p>
          <a:p>
            <a:pPr algn="l"/>
            <a:endParaRPr sz="1400" dirty="0">
              <a:solidFill>
                <a:srgbClr val="E7E7E7"/>
              </a:solidFill>
              <a:latin typeface="Source Code Pro"/>
            </a:endParaRPr>
          </a:p>
          <a:p>
            <a:pPr algn="l"/>
            <a:r>
              <a:rPr sz="1400" dirty="0" err="1">
                <a:solidFill>
                  <a:srgbClr val="E7E7E7"/>
                </a:solidFill>
                <a:latin typeface="Source Code Pro"/>
              </a:rPr>
              <a:t>f_t</a:t>
            </a:r>
            <a:r>
              <a:rPr sz="1400" dirty="0">
                <a:solidFill>
                  <a:srgbClr val="E7E7E7"/>
                </a:solidFill>
                <a:latin typeface="Source Code Pro"/>
              </a:rPr>
              <a:t> = sigmoid(</a:t>
            </a:r>
            <a:r>
              <a:rPr sz="1400" dirty="0" err="1">
                <a:solidFill>
                  <a:srgbClr val="E7E7E7"/>
                </a:solidFill>
                <a:latin typeface="Source Code Pro"/>
              </a:rPr>
              <a:t>W_f</a:t>
            </a:r>
            <a:r>
              <a:rPr sz="1400" dirty="0">
                <a:solidFill>
                  <a:srgbClr val="E7E7E7"/>
                </a:solidFill>
                <a:latin typeface="Source Code Pro"/>
              </a:rPr>
              <a:t> × [h_{t-1}, </a:t>
            </a:r>
            <a:r>
              <a:rPr sz="1400" dirty="0" err="1">
                <a:solidFill>
                  <a:srgbClr val="E7E7E7"/>
                </a:solidFill>
                <a:latin typeface="Source Code Pro"/>
              </a:rPr>
              <a:t>x_t</a:t>
            </a:r>
            <a:r>
              <a:rPr sz="1400" dirty="0">
                <a:solidFill>
                  <a:srgbClr val="E7E7E7"/>
                </a:solidFill>
                <a:latin typeface="Source Code Pro"/>
              </a:rPr>
              <a:t>] + </a:t>
            </a:r>
            <a:r>
              <a:rPr sz="1400" dirty="0" err="1">
                <a:solidFill>
                  <a:srgbClr val="E7E7E7"/>
                </a:solidFill>
                <a:latin typeface="Source Code Pro"/>
              </a:rPr>
              <a:t>b_f</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Variables:</a:t>
            </a:r>
          </a:p>
          <a:p>
            <a:pPr algn="l"/>
            <a:r>
              <a:rPr sz="1400" dirty="0">
                <a:solidFill>
                  <a:srgbClr val="E7E7E7"/>
                </a:solidFill>
                <a:latin typeface="Source Code Pro"/>
              </a:rPr>
              <a:t>  </a:t>
            </a:r>
            <a:r>
              <a:rPr sz="1400" dirty="0" err="1">
                <a:solidFill>
                  <a:srgbClr val="E7E7E7"/>
                </a:solidFill>
                <a:latin typeface="Source Code Pro"/>
              </a:rPr>
              <a:t>f_t</a:t>
            </a:r>
            <a:r>
              <a:rPr sz="1400" dirty="0">
                <a:solidFill>
                  <a:srgbClr val="E7E7E7"/>
                </a:solidFill>
                <a:latin typeface="Source Code Pro"/>
              </a:rPr>
              <a:t> = </a:t>
            </a:r>
            <a:r>
              <a:rPr sz="1400" b="1" dirty="0">
                <a:solidFill>
                  <a:srgbClr val="E7E7E7"/>
                </a:solidFill>
                <a:latin typeface="Source Code Pro"/>
              </a:rPr>
              <a:t>forget</a:t>
            </a:r>
            <a:r>
              <a:rPr sz="1400" dirty="0">
                <a:solidFill>
                  <a:srgbClr val="E7E7E7"/>
                </a:solidFill>
                <a:latin typeface="Source Code Pro"/>
              </a:rPr>
              <a:t> gate </a:t>
            </a:r>
            <a:r>
              <a:rPr sz="1400" b="1" dirty="0">
                <a:solidFill>
                  <a:srgbClr val="E7E7E7"/>
                </a:solidFill>
                <a:latin typeface="Source Code Pro"/>
              </a:rPr>
              <a:t>output</a:t>
            </a:r>
            <a:r>
              <a:rPr sz="1400" dirty="0">
                <a:solidFill>
                  <a:srgbClr val="E7E7E7"/>
                </a:solidFill>
                <a:latin typeface="Source Code Pro"/>
              </a:rPr>
              <a:t> (0 to 1)</a:t>
            </a:r>
          </a:p>
          <a:p>
            <a:pPr algn="l"/>
            <a:r>
              <a:rPr sz="1400" dirty="0">
                <a:solidFill>
                  <a:srgbClr val="E7E7E7"/>
                </a:solidFill>
                <a:latin typeface="Source Code Pro"/>
              </a:rPr>
              <a:t>  sigmoid = </a:t>
            </a:r>
            <a:r>
              <a:rPr sz="1400" b="1" dirty="0">
                <a:solidFill>
                  <a:srgbClr val="E7E7E7"/>
                </a:solidFill>
                <a:latin typeface="Source Code Pro"/>
              </a:rPr>
              <a:t>activation</a:t>
            </a:r>
            <a:r>
              <a:rPr sz="1400" dirty="0">
                <a:solidFill>
                  <a:srgbClr val="E7E7E7"/>
                </a:solidFill>
                <a:latin typeface="Source Code Pro"/>
              </a:rPr>
              <a:t> (0 = </a:t>
            </a:r>
            <a:r>
              <a:rPr sz="1400" b="1" dirty="0">
                <a:solidFill>
                  <a:srgbClr val="E7E7E7"/>
                </a:solidFill>
                <a:latin typeface="Source Code Pro"/>
              </a:rPr>
              <a:t>forget</a:t>
            </a:r>
            <a:r>
              <a:rPr sz="1400" dirty="0">
                <a:solidFill>
                  <a:srgbClr val="E7E7E7"/>
                </a:solidFill>
                <a:latin typeface="Source Code Pro"/>
              </a:rPr>
              <a:t>, 1 = </a:t>
            </a:r>
            <a:r>
              <a:rPr sz="1400" b="1" dirty="0">
                <a:solidFill>
                  <a:srgbClr val="E7E7E7"/>
                </a:solidFill>
                <a:latin typeface="Source Code Pro"/>
              </a:rPr>
              <a:t>remember</a:t>
            </a:r>
            <a:r>
              <a:rPr sz="1400" dirty="0">
                <a:solidFill>
                  <a:srgbClr val="E7E7E7"/>
                </a:solidFill>
                <a:latin typeface="Source Code Pro"/>
              </a:rPr>
              <a:t>)</a:t>
            </a:r>
          </a:p>
          <a:p>
            <a:pPr algn="l"/>
            <a:r>
              <a:rPr sz="1400" dirty="0">
                <a:solidFill>
                  <a:srgbClr val="E7E7E7"/>
                </a:solidFill>
                <a:latin typeface="Source Code Pro"/>
              </a:rPr>
              <a:t>  </a:t>
            </a:r>
            <a:r>
              <a:rPr sz="1400" dirty="0" err="1">
                <a:solidFill>
                  <a:srgbClr val="E7E7E7"/>
                </a:solidFill>
                <a:latin typeface="Source Code Pro"/>
              </a:rPr>
              <a:t>W_f</a:t>
            </a:r>
            <a:r>
              <a:rPr sz="1400" dirty="0">
                <a:solidFill>
                  <a:srgbClr val="E7E7E7"/>
                </a:solidFill>
                <a:latin typeface="Source Code Pro"/>
              </a:rPr>
              <a:t> = </a:t>
            </a:r>
            <a:r>
              <a:rPr sz="1400" b="1" dirty="0">
                <a:solidFill>
                  <a:srgbClr val="E7E7E7"/>
                </a:solidFill>
                <a:latin typeface="Source Code Pro"/>
              </a:rPr>
              <a:t>weights</a:t>
            </a:r>
            <a:r>
              <a:rPr sz="1400" dirty="0">
                <a:solidFill>
                  <a:srgbClr val="E7E7E7"/>
                </a:solidFill>
                <a:latin typeface="Source Code Pro"/>
              </a:rPr>
              <a:t> for </a:t>
            </a:r>
            <a:r>
              <a:rPr sz="1400" b="1" dirty="0">
                <a:solidFill>
                  <a:srgbClr val="E7E7E7"/>
                </a:solidFill>
                <a:latin typeface="Source Code Pro"/>
              </a:rPr>
              <a:t>forget</a:t>
            </a:r>
            <a:r>
              <a:rPr sz="1400" dirty="0">
                <a:solidFill>
                  <a:srgbClr val="E7E7E7"/>
                </a:solidFill>
                <a:latin typeface="Source Code Pro"/>
              </a:rPr>
              <a:t> </a:t>
            </a:r>
            <a:r>
              <a:rPr sz="1400" b="1" dirty="0">
                <a:solidFill>
                  <a:srgbClr val="FD4A4A"/>
                </a:solidFill>
                <a:latin typeface="Source Code Pro"/>
              </a:rPr>
              <a:t>gate</a:t>
            </a:r>
          </a:p>
          <a:p>
            <a:pPr algn="l"/>
            <a:r>
              <a:rPr sz="1400" dirty="0">
                <a:solidFill>
                  <a:srgbClr val="E7E7E7"/>
                </a:solidFill>
                <a:latin typeface="Source Code Pro"/>
              </a:rPr>
              <a:t>  h_{t-1} = </a:t>
            </a:r>
            <a:r>
              <a:rPr sz="1400" b="1" dirty="0">
                <a:solidFill>
                  <a:srgbClr val="E7E7E7"/>
                </a:solidFill>
                <a:latin typeface="Source Code Pro"/>
              </a:rPr>
              <a:t>previous</a:t>
            </a:r>
            <a:r>
              <a:rPr sz="1400" dirty="0">
                <a:solidFill>
                  <a:srgbClr val="E7E7E7"/>
                </a:solidFill>
                <a:latin typeface="Source Code Pro"/>
              </a:rPr>
              <a:t> </a:t>
            </a:r>
            <a:r>
              <a:rPr sz="1400" b="1" dirty="0">
                <a:solidFill>
                  <a:srgbClr val="E7E7E7"/>
                </a:solidFill>
                <a:latin typeface="Source Code Pro"/>
              </a:rPr>
              <a:t>hidden</a:t>
            </a:r>
            <a:r>
              <a:rPr sz="1400" dirty="0">
                <a:solidFill>
                  <a:srgbClr val="E7E7E7"/>
                </a:solidFill>
                <a:latin typeface="Source Code Pro"/>
              </a:rPr>
              <a:t> </a:t>
            </a:r>
            <a:r>
              <a:rPr sz="1400" b="1" dirty="0">
                <a:solidFill>
                  <a:srgbClr val="E81A81"/>
                </a:solidFill>
                <a:latin typeface="Source Code Pro"/>
              </a:rPr>
              <a:t>state</a:t>
            </a:r>
          </a:p>
          <a:p>
            <a:pPr algn="l"/>
            <a:r>
              <a:rPr sz="1400" dirty="0">
                <a:solidFill>
                  <a:srgbClr val="E7E7E7"/>
                </a:solidFill>
                <a:latin typeface="Source Code Pro"/>
              </a:rPr>
              <a:t>  </a:t>
            </a:r>
            <a:r>
              <a:rPr sz="1400" dirty="0" err="1">
                <a:solidFill>
                  <a:srgbClr val="E7E7E7"/>
                </a:solidFill>
                <a:latin typeface="Source Code Pro"/>
              </a:rPr>
              <a:t>x_t</a:t>
            </a:r>
            <a:r>
              <a:rPr sz="1400" dirty="0">
                <a:solidFill>
                  <a:srgbClr val="E7E7E7"/>
                </a:solidFill>
                <a:latin typeface="Source Code Pro"/>
              </a:rPr>
              <a:t> = </a:t>
            </a:r>
            <a:r>
              <a:rPr sz="1400" b="1" dirty="0">
                <a:solidFill>
                  <a:srgbClr val="E7E7E7"/>
                </a:solidFill>
                <a:latin typeface="Source Code Pro"/>
              </a:rPr>
              <a:t>current</a:t>
            </a:r>
            <a:r>
              <a:rPr sz="1400" dirty="0">
                <a:solidFill>
                  <a:srgbClr val="E7E7E7"/>
                </a:solidFill>
                <a:latin typeface="Source Code Pro"/>
              </a:rPr>
              <a:t> </a:t>
            </a:r>
            <a:r>
              <a:rPr sz="1400" b="1" dirty="0">
                <a:solidFill>
                  <a:srgbClr val="E7E7E7"/>
                </a:solidFill>
                <a:latin typeface="Source Code Pro"/>
              </a:rPr>
              <a:t>input</a:t>
            </a:r>
          </a:p>
          <a:p>
            <a:pPr algn="l"/>
            <a:r>
              <a:rPr sz="1400" dirty="0">
                <a:solidFill>
                  <a:srgbClr val="E7E7E7"/>
                </a:solidFill>
                <a:latin typeface="Source Code Pro"/>
              </a:rPr>
              <a:t>  </a:t>
            </a:r>
            <a:r>
              <a:rPr sz="1400" dirty="0" err="1">
                <a:solidFill>
                  <a:srgbClr val="E7E7E7"/>
                </a:solidFill>
                <a:latin typeface="Source Code Pro"/>
              </a:rPr>
              <a:t>b_f</a:t>
            </a:r>
            <a:r>
              <a:rPr sz="1400" dirty="0">
                <a:solidFill>
                  <a:srgbClr val="E7E7E7"/>
                </a:solidFill>
                <a:latin typeface="Source Code Pro"/>
              </a:rPr>
              <a:t> = </a:t>
            </a:r>
            <a:r>
              <a:rPr sz="1400" b="1" dirty="0">
                <a:solidFill>
                  <a:srgbClr val="E7E7E7"/>
                </a:solidFill>
                <a:latin typeface="Source Code Pro"/>
              </a:rPr>
              <a:t>bias</a:t>
            </a:r>
          </a:p>
          <a:p>
            <a:pPr algn="l"/>
            <a:endParaRPr sz="1400" b="1" dirty="0">
              <a:solidFill>
                <a:srgbClr val="E7E7E7"/>
              </a:solidFill>
              <a:latin typeface="Source Code Pro"/>
            </a:endParaRPr>
          </a:p>
          <a:p>
            <a:pPr algn="l"/>
            <a:r>
              <a:rPr sz="1400" dirty="0">
                <a:solidFill>
                  <a:srgbClr val="E7E7E7"/>
                </a:solidFill>
                <a:latin typeface="Source Code Pro"/>
              </a:rPr>
              <a:t>If </a:t>
            </a:r>
            <a:r>
              <a:rPr sz="1400" dirty="0" err="1">
                <a:solidFill>
                  <a:srgbClr val="E7E7E7"/>
                </a:solidFill>
                <a:latin typeface="Source Code Pro"/>
              </a:rPr>
              <a:t>f_t</a:t>
            </a:r>
            <a:r>
              <a:rPr sz="1400" dirty="0">
                <a:solidFill>
                  <a:srgbClr val="E7E7E7"/>
                </a:solidFill>
                <a:latin typeface="Source Code Pro"/>
              </a:rPr>
              <a:t> = 0.9: Keep 90% of </a:t>
            </a:r>
            <a:r>
              <a:rPr sz="1400" b="1" dirty="0">
                <a:solidFill>
                  <a:srgbClr val="4CAE97"/>
                </a:solidFill>
                <a:latin typeface="Source Code Pro"/>
              </a:rPr>
              <a:t>cell</a:t>
            </a:r>
            <a:r>
              <a:rPr sz="1400" dirty="0">
                <a:solidFill>
                  <a:srgbClr val="E7E7E7"/>
                </a:solidFill>
                <a:latin typeface="Source Code Pro"/>
              </a:rPr>
              <a:t> </a:t>
            </a:r>
            <a:r>
              <a:rPr sz="1400" b="1" dirty="0">
                <a:solidFill>
                  <a:srgbClr val="94EE6B"/>
                </a:solidFill>
                <a:latin typeface="Source Code Pro"/>
              </a:rPr>
              <a:t>state</a:t>
            </a:r>
            <a:r>
              <a:rPr sz="1400" dirty="0">
                <a:solidFill>
                  <a:srgbClr val="E7E7E7"/>
                </a:solidFill>
                <a:latin typeface="Source Code Pro"/>
              </a:rPr>
              <a:t>, </a:t>
            </a:r>
            <a:r>
              <a:rPr sz="1400" b="1" dirty="0">
                <a:solidFill>
                  <a:srgbClr val="FD4A4A"/>
                </a:solidFill>
                <a:latin typeface="Source Code Pro"/>
              </a:rPr>
              <a:t>discard</a:t>
            </a:r>
            <a:r>
              <a:rPr sz="1400" dirty="0">
                <a:solidFill>
                  <a:srgbClr val="E7E7E7"/>
                </a:solidFill>
                <a:latin typeface="Source Code Pro"/>
              </a:rPr>
              <a:t> 10%.</a:t>
            </a:r>
          </a:p>
          <a:p>
            <a:pPr algn="l"/>
            <a:r>
              <a:rPr sz="1400" dirty="0">
                <a:solidFill>
                  <a:srgbClr val="E7E7E7"/>
                </a:solidFill>
                <a:latin typeface="Source Code Pro"/>
              </a:rPr>
              <a:t>If </a:t>
            </a:r>
            <a:r>
              <a:rPr sz="1400" dirty="0" err="1">
                <a:solidFill>
                  <a:srgbClr val="E7E7E7"/>
                </a:solidFill>
                <a:latin typeface="Source Code Pro"/>
              </a:rPr>
              <a:t>f_t</a:t>
            </a:r>
            <a:r>
              <a:rPr sz="1400" dirty="0">
                <a:solidFill>
                  <a:srgbClr val="E7E7E7"/>
                </a:solidFill>
                <a:latin typeface="Source Code Pro"/>
              </a:rPr>
              <a:t> = 0.1: Keep 10%, </a:t>
            </a:r>
            <a:r>
              <a:rPr sz="1400" b="1" dirty="0">
                <a:solidFill>
                  <a:srgbClr val="FD4A4A"/>
                </a:solidFill>
                <a:latin typeface="Source Code Pro"/>
              </a:rPr>
              <a:t>discard</a:t>
            </a:r>
            <a:r>
              <a:rPr sz="1400" dirty="0">
                <a:solidFill>
                  <a:srgbClr val="E7E7E7"/>
                </a:solidFill>
                <a:latin typeface="Source Code Pro"/>
              </a:rPr>
              <a:t> 90%.</a:t>
            </a:r>
          </a:p>
          <a:p>
            <a:pPr algn="l"/>
            <a:endParaRPr sz="1400" dirty="0">
              <a:solidFill>
                <a:srgbClr val="E7E7E7"/>
              </a:solidFill>
              <a:latin typeface="Source Code Pro"/>
            </a:endParaRPr>
          </a:p>
          <a:p>
            <a:pPr algn="l"/>
            <a:r>
              <a:rPr sz="1400" dirty="0">
                <a:solidFill>
                  <a:srgbClr val="E7E7E7"/>
                </a:solidFill>
                <a:latin typeface="Source Code Pro"/>
              </a:rPr>
              <a:t>Applied to </a:t>
            </a:r>
            <a:r>
              <a:rPr sz="1400" b="1" dirty="0">
                <a:solidFill>
                  <a:srgbClr val="FD4A4A"/>
                </a:solidFill>
                <a:latin typeface="Source Code Pro"/>
              </a:rPr>
              <a:t>cell</a:t>
            </a:r>
            <a:r>
              <a:rPr sz="1400" dirty="0">
                <a:solidFill>
                  <a:srgbClr val="E7E7E7"/>
                </a:solidFill>
                <a:latin typeface="Source Code Pro"/>
              </a:rPr>
              <a:t> </a:t>
            </a:r>
            <a:r>
              <a:rPr sz="1400" b="1" dirty="0">
                <a:solidFill>
                  <a:srgbClr val="4CAE97"/>
                </a:solidFill>
                <a:latin typeface="Source Code Pro"/>
              </a:rPr>
              <a:t>state</a:t>
            </a:r>
            <a:r>
              <a:rPr sz="1400" dirty="0">
                <a:solidFill>
                  <a:srgbClr val="E7E7E7"/>
                </a:solidFill>
                <a:latin typeface="Source Code Pro"/>
              </a:rPr>
              <a:t>: </a:t>
            </a:r>
            <a:r>
              <a:rPr sz="1400" dirty="0" err="1">
                <a:solidFill>
                  <a:srgbClr val="E7E7E7"/>
                </a:solidFill>
                <a:latin typeface="Source Code Pro"/>
              </a:rPr>
              <a:t>c_t</a:t>
            </a:r>
            <a:r>
              <a:rPr sz="1400" dirty="0">
                <a:solidFill>
                  <a:srgbClr val="E7E7E7"/>
                </a:solidFill>
                <a:latin typeface="Source Code Pro"/>
              </a:rPr>
              <a:t>' = </a:t>
            </a:r>
            <a:r>
              <a:rPr sz="1400" dirty="0" err="1">
                <a:solidFill>
                  <a:srgbClr val="E7E7E7"/>
                </a:solidFill>
                <a:latin typeface="Source Code Pro"/>
              </a:rPr>
              <a:t>f_t</a:t>
            </a:r>
            <a:r>
              <a:rPr sz="1400" dirty="0">
                <a:solidFill>
                  <a:srgbClr val="E7E7E7"/>
                </a:solidFill>
                <a:latin typeface="Source Code Pro"/>
              </a:rPr>
              <a:t> × c_{t-1}</a:t>
            </a:r>
          </a:p>
        </p:txBody>
      </p:sp>
    </p:spTree>
    <p:extLst>
      <p:ext uri="{BB962C8B-B14F-4D97-AF65-F5344CB8AC3E}">
        <p14:creationId xmlns:p14="http://schemas.microsoft.com/office/powerpoint/2010/main" val="820022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72B9FC64-41CB-FD68-6031-A0DC2CA1A22E}"/>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LSTM Internal Mechanisms - Input Gate</a:t>
            </a:r>
          </a:p>
        </p:txBody>
      </p:sp>
      <p:sp>
        <p:nvSpPr>
          <p:cNvPr id="3" name="TextBox 2"/>
          <p:cNvSpPr txBox="1"/>
          <p:nvPr/>
        </p:nvSpPr>
        <p:spPr>
          <a:xfrm>
            <a:off x="256032" y="1463040"/>
            <a:ext cx="8229600" cy="3323987"/>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Input </a:t>
            </a:r>
            <a:r>
              <a:rPr sz="1400" b="1" dirty="0">
                <a:solidFill>
                  <a:srgbClr val="E7E7E7"/>
                </a:solidFill>
                <a:latin typeface="Source Code Pro"/>
              </a:rPr>
              <a:t>gate</a:t>
            </a:r>
            <a:r>
              <a:rPr sz="1400" dirty="0">
                <a:solidFill>
                  <a:srgbClr val="E7E7E7"/>
                </a:solidFill>
                <a:latin typeface="Source Code Pro"/>
              </a:rPr>
              <a:t> decides what </a:t>
            </a:r>
            <a:r>
              <a:rPr sz="1400" b="1" dirty="0">
                <a:solidFill>
                  <a:srgbClr val="94EE6B"/>
                </a:solidFill>
                <a:latin typeface="Source Code Pro"/>
              </a:rPr>
              <a:t>new</a:t>
            </a:r>
            <a:r>
              <a:rPr sz="1400" dirty="0">
                <a:solidFill>
                  <a:srgbClr val="E7E7E7"/>
                </a:solidFill>
                <a:latin typeface="Source Code Pro"/>
              </a:rPr>
              <a:t> </a:t>
            </a:r>
            <a:r>
              <a:rPr sz="1400" b="1" dirty="0">
                <a:solidFill>
                  <a:srgbClr val="EC7955"/>
                </a:solidFill>
                <a:latin typeface="Source Code Pro"/>
              </a:rPr>
              <a:t>information</a:t>
            </a:r>
            <a:r>
              <a:rPr sz="1400" dirty="0">
                <a:solidFill>
                  <a:srgbClr val="E7E7E7"/>
                </a:solidFill>
                <a:latin typeface="Source Code Pro"/>
              </a:rPr>
              <a:t> to </a:t>
            </a:r>
            <a:r>
              <a:rPr sz="1400" b="1" dirty="0">
                <a:solidFill>
                  <a:srgbClr val="EC7955"/>
                </a:solidFill>
                <a:latin typeface="Source Code Pro"/>
              </a:rPr>
              <a:t>add</a:t>
            </a:r>
            <a:r>
              <a:rPr sz="1400" dirty="0">
                <a:solidFill>
                  <a:srgbClr val="E7E7E7"/>
                </a:solidFill>
                <a:latin typeface="Source Code Pro"/>
              </a:rPr>
              <a:t>.</a:t>
            </a:r>
          </a:p>
          <a:p>
            <a:pPr algn="l"/>
            <a:endParaRPr sz="1400" dirty="0">
              <a:solidFill>
                <a:srgbClr val="E7E7E7"/>
              </a:solidFill>
              <a:latin typeface="Source Code Pro"/>
            </a:endParaRPr>
          </a:p>
          <a:p>
            <a:pPr algn="l"/>
            <a:r>
              <a:rPr sz="1400" dirty="0" err="1">
                <a:solidFill>
                  <a:srgbClr val="E7E7E7"/>
                </a:solidFill>
                <a:latin typeface="Source Code Pro"/>
              </a:rPr>
              <a:t>i_t</a:t>
            </a:r>
            <a:r>
              <a:rPr sz="1400" dirty="0">
                <a:solidFill>
                  <a:srgbClr val="E7E7E7"/>
                </a:solidFill>
                <a:latin typeface="Source Code Pro"/>
              </a:rPr>
              <a:t> = sigmoid(</a:t>
            </a:r>
            <a:r>
              <a:rPr sz="1400" dirty="0" err="1">
                <a:solidFill>
                  <a:srgbClr val="E7E7E7"/>
                </a:solidFill>
                <a:latin typeface="Source Code Pro"/>
              </a:rPr>
              <a:t>W_i</a:t>
            </a:r>
            <a:r>
              <a:rPr sz="1400" dirty="0">
                <a:solidFill>
                  <a:srgbClr val="E7E7E7"/>
                </a:solidFill>
                <a:latin typeface="Source Code Pro"/>
              </a:rPr>
              <a:t> × [h_{t-1}, </a:t>
            </a:r>
            <a:r>
              <a:rPr sz="1400" dirty="0" err="1">
                <a:solidFill>
                  <a:srgbClr val="E7E7E7"/>
                </a:solidFill>
                <a:latin typeface="Source Code Pro"/>
              </a:rPr>
              <a:t>x_t</a:t>
            </a:r>
            <a:r>
              <a:rPr sz="1400" dirty="0">
                <a:solidFill>
                  <a:srgbClr val="E7E7E7"/>
                </a:solidFill>
                <a:latin typeface="Source Code Pro"/>
              </a:rPr>
              <a:t>] + </a:t>
            </a:r>
            <a:r>
              <a:rPr sz="1400" dirty="0" err="1">
                <a:solidFill>
                  <a:srgbClr val="E7E7E7"/>
                </a:solidFill>
                <a:latin typeface="Source Code Pro"/>
              </a:rPr>
              <a:t>b_i</a:t>
            </a:r>
            <a:r>
              <a:rPr sz="1400" dirty="0">
                <a:solidFill>
                  <a:srgbClr val="E7E7E7"/>
                </a:solidFill>
                <a:latin typeface="Source Code Pro"/>
              </a:rPr>
              <a:t>)</a:t>
            </a:r>
          </a:p>
          <a:p>
            <a:pPr algn="l"/>
            <a:r>
              <a:rPr sz="1400" dirty="0">
                <a:solidFill>
                  <a:srgbClr val="E7E7E7"/>
                </a:solidFill>
                <a:latin typeface="Source Code Pro"/>
              </a:rPr>
              <a:t>~</a:t>
            </a:r>
            <a:r>
              <a:rPr sz="1400" dirty="0" err="1">
                <a:solidFill>
                  <a:srgbClr val="E7E7E7"/>
                </a:solidFill>
                <a:latin typeface="Source Code Pro"/>
              </a:rPr>
              <a:t>c_t</a:t>
            </a:r>
            <a:r>
              <a:rPr sz="1400" dirty="0">
                <a:solidFill>
                  <a:srgbClr val="E7E7E7"/>
                </a:solidFill>
                <a:latin typeface="Source Code Pro"/>
              </a:rPr>
              <a:t> = tanh(</a:t>
            </a:r>
            <a:r>
              <a:rPr sz="1400" dirty="0" err="1">
                <a:solidFill>
                  <a:srgbClr val="E7E7E7"/>
                </a:solidFill>
                <a:latin typeface="Source Code Pro"/>
              </a:rPr>
              <a:t>W_c</a:t>
            </a:r>
            <a:r>
              <a:rPr sz="1400" dirty="0">
                <a:solidFill>
                  <a:srgbClr val="E7E7E7"/>
                </a:solidFill>
                <a:latin typeface="Source Code Pro"/>
              </a:rPr>
              <a:t> × [h_{t-1}, </a:t>
            </a:r>
            <a:r>
              <a:rPr sz="1400" dirty="0" err="1">
                <a:solidFill>
                  <a:srgbClr val="E7E7E7"/>
                </a:solidFill>
                <a:latin typeface="Source Code Pro"/>
              </a:rPr>
              <a:t>x_t</a:t>
            </a:r>
            <a:r>
              <a:rPr sz="1400" dirty="0">
                <a:solidFill>
                  <a:srgbClr val="E7E7E7"/>
                </a:solidFill>
                <a:latin typeface="Source Code Pro"/>
              </a:rPr>
              <a:t>] + </a:t>
            </a:r>
            <a:r>
              <a:rPr sz="1400" dirty="0" err="1">
                <a:solidFill>
                  <a:srgbClr val="E7E7E7"/>
                </a:solidFill>
                <a:latin typeface="Source Code Pro"/>
              </a:rPr>
              <a:t>b_c</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Variables:</a:t>
            </a:r>
          </a:p>
          <a:p>
            <a:pPr algn="l"/>
            <a:r>
              <a:rPr sz="1400" dirty="0">
                <a:solidFill>
                  <a:srgbClr val="E7E7E7"/>
                </a:solidFill>
                <a:latin typeface="Source Code Pro"/>
              </a:rPr>
              <a:t>  </a:t>
            </a:r>
            <a:r>
              <a:rPr sz="1400" dirty="0" err="1">
                <a:solidFill>
                  <a:srgbClr val="E7E7E7"/>
                </a:solidFill>
                <a:latin typeface="Source Code Pro"/>
              </a:rPr>
              <a:t>i_t</a:t>
            </a:r>
            <a:r>
              <a:rPr sz="1400" dirty="0">
                <a:solidFill>
                  <a:srgbClr val="E7E7E7"/>
                </a:solidFill>
                <a:latin typeface="Source Code Pro"/>
              </a:rPr>
              <a:t> = </a:t>
            </a:r>
            <a:r>
              <a:rPr sz="1400" b="1" dirty="0">
                <a:solidFill>
                  <a:srgbClr val="E7E7E7"/>
                </a:solidFill>
                <a:latin typeface="Source Code Pro"/>
              </a:rPr>
              <a:t>input</a:t>
            </a:r>
            <a:r>
              <a:rPr sz="1400" dirty="0">
                <a:solidFill>
                  <a:srgbClr val="E7E7E7"/>
                </a:solidFill>
                <a:latin typeface="Source Code Pro"/>
              </a:rPr>
              <a:t> gate </a:t>
            </a:r>
            <a:r>
              <a:rPr sz="1400" b="1" dirty="0">
                <a:solidFill>
                  <a:srgbClr val="E7E7E7"/>
                </a:solidFill>
                <a:latin typeface="Source Code Pro"/>
              </a:rPr>
              <a:t>output</a:t>
            </a:r>
            <a:r>
              <a:rPr sz="1400" dirty="0">
                <a:solidFill>
                  <a:srgbClr val="E7E7E7"/>
                </a:solidFill>
                <a:latin typeface="Source Code Pro"/>
              </a:rPr>
              <a:t> (0 to 1)</a:t>
            </a:r>
          </a:p>
          <a:p>
            <a:pPr algn="l"/>
            <a:r>
              <a:rPr sz="1400" dirty="0">
                <a:solidFill>
                  <a:srgbClr val="E7E7E7"/>
                </a:solidFill>
                <a:latin typeface="Source Code Pro"/>
              </a:rPr>
              <a:t>  ~</a:t>
            </a:r>
            <a:r>
              <a:rPr sz="1400" dirty="0" err="1">
                <a:solidFill>
                  <a:srgbClr val="E7E7E7"/>
                </a:solidFill>
                <a:latin typeface="Source Code Pro"/>
              </a:rPr>
              <a:t>c_t</a:t>
            </a:r>
            <a:r>
              <a:rPr sz="1400" dirty="0">
                <a:solidFill>
                  <a:srgbClr val="E7E7E7"/>
                </a:solidFill>
                <a:latin typeface="Source Code Pro"/>
              </a:rPr>
              <a:t> = </a:t>
            </a:r>
            <a:r>
              <a:rPr sz="1400" b="1" dirty="0">
                <a:solidFill>
                  <a:srgbClr val="E7E7E7"/>
                </a:solidFill>
                <a:latin typeface="Source Code Pro"/>
              </a:rPr>
              <a:t>candidate</a:t>
            </a:r>
            <a:r>
              <a:rPr sz="1400" dirty="0">
                <a:solidFill>
                  <a:srgbClr val="E7E7E7"/>
                </a:solidFill>
                <a:latin typeface="Source Code Pro"/>
              </a:rPr>
              <a:t> </a:t>
            </a:r>
            <a:r>
              <a:rPr sz="1400" b="1" dirty="0">
                <a:solidFill>
                  <a:srgbClr val="94EE6B"/>
                </a:solidFill>
                <a:latin typeface="Source Code Pro"/>
              </a:rPr>
              <a:t>cell</a:t>
            </a:r>
            <a:r>
              <a:rPr sz="1400" dirty="0">
                <a:solidFill>
                  <a:srgbClr val="E7E7E7"/>
                </a:solidFill>
                <a:latin typeface="Source Code Pro"/>
              </a:rPr>
              <a:t> </a:t>
            </a:r>
            <a:r>
              <a:rPr sz="1400" b="1" dirty="0">
                <a:solidFill>
                  <a:srgbClr val="E7E7E7"/>
                </a:solidFill>
                <a:latin typeface="Source Code Pro"/>
              </a:rPr>
              <a:t>state</a:t>
            </a:r>
            <a:r>
              <a:rPr sz="1400" dirty="0">
                <a:solidFill>
                  <a:srgbClr val="E7E7E7"/>
                </a:solidFill>
                <a:latin typeface="Source Code Pro"/>
              </a:rPr>
              <a:t> (</a:t>
            </a:r>
            <a:r>
              <a:rPr sz="1400" b="1" dirty="0">
                <a:solidFill>
                  <a:srgbClr val="FD4A4A"/>
                </a:solidFill>
                <a:latin typeface="Source Code Pro"/>
              </a:rPr>
              <a:t>new</a:t>
            </a:r>
            <a:r>
              <a:rPr sz="1400" dirty="0">
                <a:solidFill>
                  <a:srgbClr val="E7E7E7"/>
                </a:solidFill>
                <a:latin typeface="Source Code Pro"/>
              </a:rPr>
              <a:t> </a:t>
            </a:r>
            <a:r>
              <a:rPr sz="1400" b="1" dirty="0">
                <a:solidFill>
                  <a:srgbClr val="BD64B5"/>
                </a:solidFill>
                <a:latin typeface="Source Code Pro"/>
              </a:rPr>
              <a:t>information</a:t>
            </a:r>
            <a:r>
              <a:rPr sz="1400" dirty="0">
                <a:solidFill>
                  <a:srgbClr val="E7E7E7"/>
                </a:solidFill>
                <a:latin typeface="Source Code Pro"/>
              </a:rPr>
              <a:t>)</a:t>
            </a:r>
          </a:p>
          <a:p>
            <a:pPr algn="l"/>
            <a:r>
              <a:rPr sz="1400" dirty="0">
                <a:solidFill>
                  <a:srgbClr val="E7E7E7"/>
                </a:solidFill>
                <a:latin typeface="Source Code Pro"/>
              </a:rPr>
              <a:t>  </a:t>
            </a:r>
            <a:r>
              <a:rPr sz="1400" dirty="0" err="1">
                <a:solidFill>
                  <a:srgbClr val="E7E7E7"/>
                </a:solidFill>
                <a:latin typeface="Source Code Pro"/>
              </a:rPr>
              <a:t>W_i</a:t>
            </a:r>
            <a:r>
              <a:rPr sz="1400" dirty="0">
                <a:solidFill>
                  <a:srgbClr val="E7E7E7"/>
                </a:solidFill>
                <a:latin typeface="Source Code Pro"/>
              </a:rPr>
              <a:t>, </a:t>
            </a:r>
            <a:r>
              <a:rPr sz="1400" dirty="0" err="1">
                <a:solidFill>
                  <a:srgbClr val="E7E7E7"/>
                </a:solidFill>
                <a:latin typeface="Source Code Pro"/>
              </a:rPr>
              <a:t>W_c</a:t>
            </a:r>
            <a:r>
              <a:rPr sz="1400" dirty="0">
                <a:solidFill>
                  <a:srgbClr val="E7E7E7"/>
                </a:solidFill>
                <a:latin typeface="Source Code Pro"/>
              </a:rPr>
              <a:t> = </a:t>
            </a:r>
            <a:r>
              <a:rPr sz="1400" b="1" dirty="0">
                <a:solidFill>
                  <a:srgbClr val="E7E7E7"/>
                </a:solidFill>
                <a:latin typeface="Source Code Pro"/>
              </a:rPr>
              <a:t>weight</a:t>
            </a:r>
            <a:r>
              <a:rPr sz="1400" dirty="0">
                <a:solidFill>
                  <a:srgbClr val="E7E7E7"/>
                </a:solidFill>
                <a:latin typeface="Source Code Pro"/>
              </a:rPr>
              <a:t> </a:t>
            </a:r>
            <a:r>
              <a:rPr sz="1400" b="1" dirty="0">
                <a:solidFill>
                  <a:srgbClr val="E7E7E7"/>
                </a:solidFill>
                <a:latin typeface="Source Code Pro"/>
              </a:rPr>
              <a:t>matrices</a:t>
            </a:r>
          </a:p>
          <a:p>
            <a:pPr algn="l"/>
            <a:r>
              <a:rPr sz="1400" dirty="0">
                <a:solidFill>
                  <a:srgbClr val="E7E7E7"/>
                </a:solidFill>
                <a:latin typeface="Source Code Pro"/>
              </a:rPr>
              <a:t>  tanh = </a:t>
            </a:r>
            <a:r>
              <a:rPr sz="1400" b="1" dirty="0">
                <a:solidFill>
                  <a:srgbClr val="E7E7E7"/>
                </a:solidFill>
                <a:latin typeface="Source Code Pro"/>
              </a:rPr>
              <a:t>activation</a:t>
            </a:r>
            <a:r>
              <a:rPr sz="1400" dirty="0">
                <a:solidFill>
                  <a:srgbClr val="E7E7E7"/>
                </a:solidFill>
                <a:latin typeface="Source Code Pro"/>
              </a:rPr>
              <a:t> (-1 to 1)</a:t>
            </a:r>
          </a:p>
          <a:p>
            <a:pPr algn="l"/>
            <a:endParaRPr sz="1400" dirty="0">
              <a:solidFill>
                <a:srgbClr val="E7E7E7"/>
              </a:solidFill>
              <a:latin typeface="Source Code Pro"/>
            </a:endParaRPr>
          </a:p>
          <a:p>
            <a:pPr algn="l"/>
            <a:r>
              <a:rPr sz="1400" dirty="0">
                <a:solidFill>
                  <a:srgbClr val="E7E7E7"/>
                </a:solidFill>
                <a:latin typeface="Source Code Pro"/>
              </a:rPr>
              <a:t>Combined: </a:t>
            </a:r>
            <a:r>
              <a:rPr sz="1400" dirty="0" err="1">
                <a:solidFill>
                  <a:srgbClr val="E7E7E7"/>
                </a:solidFill>
                <a:latin typeface="Source Code Pro"/>
              </a:rPr>
              <a:t>c_t</a:t>
            </a:r>
            <a:r>
              <a:rPr sz="1400" dirty="0">
                <a:solidFill>
                  <a:srgbClr val="E7E7E7"/>
                </a:solidFill>
                <a:latin typeface="Source Code Pro"/>
              </a:rPr>
              <a:t> = c_{t-1} × </a:t>
            </a:r>
            <a:r>
              <a:rPr sz="1400" dirty="0" err="1">
                <a:solidFill>
                  <a:srgbClr val="E7E7E7"/>
                </a:solidFill>
                <a:latin typeface="Source Code Pro"/>
              </a:rPr>
              <a:t>f_t</a:t>
            </a:r>
            <a:r>
              <a:rPr sz="1400" dirty="0">
                <a:solidFill>
                  <a:srgbClr val="E7E7E7"/>
                </a:solidFill>
                <a:latin typeface="Source Code Pro"/>
              </a:rPr>
              <a:t> + </a:t>
            </a:r>
            <a:r>
              <a:rPr sz="1400" dirty="0" err="1">
                <a:solidFill>
                  <a:srgbClr val="E7E7E7"/>
                </a:solidFill>
                <a:latin typeface="Source Code Pro"/>
              </a:rPr>
              <a:t>i_t</a:t>
            </a:r>
            <a:r>
              <a:rPr sz="1400" dirty="0">
                <a:solidFill>
                  <a:srgbClr val="E7E7E7"/>
                </a:solidFill>
                <a:latin typeface="Source Code Pro"/>
              </a:rPr>
              <a:t> × ~</a:t>
            </a:r>
            <a:r>
              <a:rPr sz="1400" dirty="0" err="1">
                <a:solidFill>
                  <a:srgbClr val="E7E7E7"/>
                </a:solidFill>
                <a:latin typeface="Source Code Pro"/>
              </a:rPr>
              <a:t>c_t</a:t>
            </a:r>
            <a:endParaRPr sz="1400" dirty="0">
              <a:solidFill>
                <a:srgbClr val="E7E7E7"/>
              </a:solidFill>
              <a:latin typeface="Source Code Pro"/>
            </a:endParaRPr>
          </a:p>
          <a:p>
            <a:pPr algn="l"/>
            <a:endParaRPr sz="1400" dirty="0">
              <a:solidFill>
                <a:srgbClr val="E7E7E7"/>
              </a:solidFill>
              <a:latin typeface="Source Code Pro"/>
            </a:endParaRPr>
          </a:p>
          <a:p>
            <a:pPr algn="l"/>
            <a:r>
              <a:rPr sz="1400" dirty="0">
                <a:solidFill>
                  <a:srgbClr val="E7E7E7"/>
                </a:solidFill>
                <a:latin typeface="Source Code Pro"/>
              </a:rPr>
              <a:t>New </a:t>
            </a:r>
            <a:r>
              <a:rPr sz="1400" b="1" dirty="0">
                <a:solidFill>
                  <a:srgbClr val="FD4A4A"/>
                </a:solidFill>
                <a:latin typeface="Source Code Pro"/>
              </a:rPr>
              <a:t>cell</a:t>
            </a:r>
            <a:r>
              <a:rPr sz="1400" dirty="0">
                <a:solidFill>
                  <a:srgbClr val="E7E7E7"/>
                </a:solidFill>
                <a:latin typeface="Source Code Pro"/>
              </a:rPr>
              <a:t> </a:t>
            </a:r>
            <a:r>
              <a:rPr sz="1400" b="1" dirty="0">
                <a:solidFill>
                  <a:srgbClr val="E7E7E7"/>
                </a:solidFill>
                <a:latin typeface="Source Code Pro"/>
              </a:rPr>
              <a:t>state</a:t>
            </a:r>
            <a:r>
              <a:rPr sz="1400" dirty="0">
                <a:solidFill>
                  <a:srgbClr val="E7E7E7"/>
                </a:solidFill>
                <a:latin typeface="Source Code Pro"/>
              </a:rPr>
              <a:t> = (</a:t>
            </a:r>
            <a:r>
              <a:rPr sz="1400" b="1" dirty="0">
                <a:solidFill>
                  <a:srgbClr val="E7E7E7"/>
                </a:solidFill>
                <a:latin typeface="Source Code Pro"/>
              </a:rPr>
              <a:t>old</a:t>
            </a:r>
            <a:r>
              <a:rPr sz="1400" dirty="0">
                <a:solidFill>
                  <a:srgbClr val="E7E7E7"/>
                </a:solidFill>
                <a:latin typeface="Source Code Pro"/>
              </a:rPr>
              <a:t> </a:t>
            </a:r>
            <a:r>
              <a:rPr sz="1400" b="1" dirty="0">
                <a:solidFill>
                  <a:srgbClr val="EC7955"/>
                </a:solidFill>
                <a:latin typeface="Source Code Pro"/>
              </a:rPr>
              <a:t>cell</a:t>
            </a:r>
            <a:r>
              <a:rPr sz="1400" dirty="0">
                <a:solidFill>
                  <a:srgbClr val="E7E7E7"/>
                </a:solidFill>
                <a:latin typeface="Source Code Pro"/>
              </a:rPr>
              <a:t> × </a:t>
            </a:r>
            <a:r>
              <a:rPr sz="1400" b="1" dirty="0">
                <a:solidFill>
                  <a:srgbClr val="E7E7E7"/>
                </a:solidFill>
                <a:latin typeface="Source Code Pro"/>
              </a:rPr>
              <a:t>forget</a:t>
            </a:r>
            <a:r>
              <a:rPr sz="1400" dirty="0">
                <a:solidFill>
                  <a:srgbClr val="E7E7E7"/>
                </a:solidFill>
                <a:latin typeface="Source Code Pro"/>
              </a:rPr>
              <a:t>) + (</a:t>
            </a:r>
            <a:r>
              <a:rPr sz="1400" b="1" dirty="0">
                <a:solidFill>
                  <a:srgbClr val="E7E7E7"/>
                </a:solidFill>
                <a:latin typeface="Source Code Pro"/>
              </a:rPr>
              <a:t>input</a:t>
            </a:r>
            <a:r>
              <a:rPr sz="1400" dirty="0">
                <a:solidFill>
                  <a:srgbClr val="E7E7E7"/>
                </a:solidFill>
                <a:latin typeface="Source Code Pro"/>
              </a:rPr>
              <a:t> </a:t>
            </a:r>
            <a:r>
              <a:rPr sz="1400" b="1" dirty="0">
                <a:solidFill>
                  <a:srgbClr val="E7E7E7"/>
                </a:solidFill>
                <a:latin typeface="Source Code Pro"/>
              </a:rPr>
              <a:t>gate</a:t>
            </a:r>
            <a:r>
              <a:rPr sz="1400" dirty="0">
                <a:solidFill>
                  <a:srgbClr val="E7E7E7"/>
                </a:solidFill>
                <a:latin typeface="Source Code Pro"/>
              </a:rPr>
              <a:t> × </a:t>
            </a:r>
            <a:r>
              <a:rPr sz="1400" b="1" dirty="0">
                <a:solidFill>
                  <a:srgbClr val="E7E7E7"/>
                </a:solidFill>
                <a:latin typeface="Source Code Pro"/>
              </a:rPr>
              <a:t>candidate</a:t>
            </a:r>
            <a:r>
              <a:rPr sz="1400" dirty="0">
                <a:solidFill>
                  <a:srgbClr val="E7E7E7"/>
                </a:solidFill>
                <a:latin typeface="Source Code Pro"/>
              </a:rPr>
              <a:t>).</a:t>
            </a:r>
          </a:p>
        </p:txBody>
      </p:sp>
    </p:spTree>
    <p:extLst>
      <p:ext uri="{BB962C8B-B14F-4D97-AF65-F5344CB8AC3E}">
        <p14:creationId xmlns:p14="http://schemas.microsoft.com/office/powerpoint/2010/main" val="1839216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DE327A70-EE1E-F9B1-7E12-EFB56B1C300C}"/>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LSTM Internal Mechanisms - Output Gate</a:t>
            </a:r>
          </a:p>
        </p:txBody>
      </p:sp>
      <p:sp>
        <p:nvSpPr>
          <p:cNvPr id="3" name="TextBox 2"/>
          <p:cNvSpPr txBox="1"/>
          <p:nvPr/>
        </p:nvSpPr>
        <p:spPr>
          <a:xfrm>
            <a:off x="256032" y="1463040"/>
            <a:ext cx="8229600" cy="3754874"/>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Output </a:t>
            </a:r>
            <a:r>
              <a:rPr sz="1400" b="1" dirty="0">
                <a:solidFill>
                  <a:srgbClr val="E7E7E7"/>
                </a:solidFill>
                <a:latin typeface="Source Code Pro"/>
              </a:rPr>
              <a:t>gate</a:t>
            </a:r>
            <a:r>
              <a:rPr sz="1400" dirty="0">
                <a:solidFill>
                  <a:srgbClr val="E7E7E7"/>
                </a:solidFill>
                <a:latin typeface="Source Code Pro"/>
              </a:rPr>
              <a:t> decides what to </a:t>
            </a:r>
            <a:r>
              <a:rPr sz="1400" b="1" dirty="0">
                <a:solidFill>
                  <a:srgbClr val="BD64B5"/>
                </a:solidFill>
                <a:latin typeface="Source Code Pro"/>
              </a:rPr>
              <a:t>output</a:t>
            </a:r>
            <a:r>
              <a:rPr sz="1400" dirty="0">
                <a:solidFill>
                  <a:srgbClr val="E7E7E7"/>
                </a:solidFill>
                <a:latin typeface="Source Code Pro"/>
              </a:rPr>
              <a:t>.</a:t>
            </a:r>
          </a:p>
          <a:p>
            <a:pPr algn="l"/>
            <a:endParaRPr sz="1400" dirty="0">
              <a:solidFill>
                <a:srgbClr val="E7E7E7"/>
              </a:solidFill>
              <a:latin typeface="Source Code Pro"/>
            </a:endParaRPr>
          </a:p>
          <a:p>
            <a:pPr algn="l"/>
            <a:r>
              <a:rPr sz="1400" dirty="0" err="1">
                <a:solidFill>
                  <a:srgbClr val="E7E7E7"/>
                </a:solidFill>
                <a:latin typeface="Source Code Pro"/>
              </a:rPr>
              <a:t>o_t</a:t>
            </a:r>
            <a:r>
              <a:rPr sz="1400" dirty="0">
                <a:solidFill>
                  <a:srgbClr val="E7E7E7"/>
                </a:solidFill>
                <a:latin typeface="Source Code Pro"/>
              </a:rPr>
              <a:t> = sigmoid(</a:t>
            </a:r>
            <a:r>
              <a:rPr sz="1400" dirty="0" err="1">
                <a:solidFill>
                  <a:srgbClr val="E7E7E7"/>
                </a:solidFill>
                <a:latin typeface="Source Code Pro"/>
              </a:rPr>
              <a:t>W_o</a:t>
            </a:r>
            <a:r>
              <a:rPr sz="1400" dirty="0">
                <a:solidFill>
                  <a:srgbClr val="E7E7E7"/>
                </a:solidFill>
                <a:latin typeface="Source Code Pro"/>
              </a:rPr>
              <a:t> × [h_{t-1}, </a:t>
            </a:r>
            <a:r>
              <a:rPr sz="1400" dirty="0" err="1">
                <a:solidFill>
                  <a:srgbClr val="E7E7E7"/>
                </a:solidFill>
                <a:latin typeface="Source Code Pro"/>
              </a:rPr>
              <a:t>x_t</a:t>
            </a:r>
            <a:r>
              <a:rPr sz="1400" dirty="0">
                <a:solidFill>
                  <a:srgbClr val="E7E7E7"/>
                </a:solidFill>
                <a:latin typeface="Source Code Pro"/>
              </a:rPr>
              <a:t>] + </a:t>
            </a:r>
            <a:r>
              <a:rPr sz="1400" dirty="0" err="1">
                <a:solidFill>
                  <a:srgbClr val="E7E7E7"/>
                </a:solidFill>
                <a:latin typeface="Source Code Pro"/>
              </a:rPr>
              <a:t>b_o</a:t>
            </a:r>
            <a:r>
              <a:rPr sz="1400" dirty="0">
                <a:solidFill>
                  <a:srgbClr val="E7E7E7"/>
                </a:solidFill>
                <a:latin typeface="Source Code Pro"/>
              </a:rPr>
              <a:t>)</a:t>
            </a:r>
          </a:p>
          <a:p>
            <a:pPr algn="l"/>
            <a:r>
              <a:rPr sz="1400" dirty="0" err="1">
                <a:solidFill>
                  <a:srgbClr val="E7E7E7"/>
                </a:solidFill>
                <a:latin typeface="Source Code Pro"/>
              </a:rPr>
              <a:t>h_t</a:t>
            </a:r>
            <a:r>
              <a:rPr sz="1400" dirty="0">
                <a:solidFill>
                  <a:srgbClr val="E7E7E7"/>
                </a:solidFill>
                <a:latin typeface="Source Code Pro"/>
              </a:rPr>
              <a:t> = </a:t>
            </a:r>
            <a:r>
              <a:rPr sz="1400" dirty="0" err="1">
                <a:solidFill>
                  <a:srgbClr val="E7E7E7"/>
                </a:solidFill>
                <a:latin typeface="Source Code Pro"/>
              </a:rPr>
              <a:t>o_t</a:t>
            </a:r>
            <a:r>
              <a:rPr sz="1400" dirty="0">
                <a:solidFill>
                  <a:srgbClr val="E7E7E7"/>
                </a:solidFill>
                <a:latin typeface="Source Code Pro"/>
              </a:rPr>
              <a:t> × tanh(</a:t>
            </a:r>
            <a:r>
              <a:rPr sz="1400" dirty="0" err="1">
                <a:solidFill>
                  <a:srgbClr val="E7E7E7"/>
                </a:solidFill>
                <a:latin typeface="Source Code Pro"/>
              </a:rPr>
              <a:t>c_t</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Variables:</a:t>
            </a:r>
          </a:p>
          <a:p>
            <a:pPr algn="l"/>
            <a:r>
              <a:rPr sz="1400" dirty="0">
                <a:solidFill>
                  <a:srgbClr val="E7E7E7"/>
                </a:solidFill>
                <a:latin typeface="Source Code Pro"/>
              </a:rPr>
              <a:t>  </a:t>
            </a:r>
            <a:r>
              <a:rPr sz="1400" dirty="0" err="1">
                <a:solidFill>
                  <a:srgbClr val="E7E7E7"/>
                </a:solidFill>
                <a:latin typeface="Source Code Pro"/>
              </a:rPr>
              <a:t>o_t</a:t>
            </a:r>
            <a:r>
              <a:rPr sz="1400" dirty="0">
                <a:solidFill>
                  <a:srgbClr val="E7E7E7"/>
                </a:solidFill>
                <a:latin typeface="Source Code Pro"/>
              </a:rPr>
              <a:t> = </a:t>
            </a:r>
            <a:r>
              <a:rPr sz="1400" b="1" dirty="0">
                <a:solidFill>
                  <a:srgbClr val="94EE6B"/>
                </a:solidFill>
                <a:latin typeface="Source Code Pro"/>
              </a:rPr>
              <a:t>output</a:t>
            </a:r>
            <a:r>
              <a:rPr sz="1400" dirty="0">
                <a:solidFill>
                  <a:srgbClr val="E7E7E7"/>
                </a:solidFill>
                <a:latin typeface="Source Code Pro"/>
              </a:rPr>
              <a:t> gate (0 to 1)</a:t>
            </a:r>
          </a:p>
          <a:p>
            <a:pPr algn="l"/>
            <a:r>
              <a:rPr sz="1400" dirty="0">
                <a:solidFill>
                  <a:srgbClr val="E7E7E7"/>
                </a:solidFill>
                <a:latin typeface="Source Code Pro"/>
              </a:rPr>
              <a:t>  </a:t>
            </a:r>
            <a:r>
              <a:rPr sz="1400" dirty="0" err="1">
                <a:solidFill>
                  <a:srgbClr val="E7E7E7"/>
                </a:solidFill>
                <a:latin typeface="Source Code Pro"/>
              </a:rPr>
              <a:t>c_t</a:t>
            </a:r>
            <a:r>
              <a:rPr sz="1400" dirty="0">
                <a:solidFill>
                  <a:srgbClr val="E7E7E7"/>
                </a:solidFill>
                <a:latin typeface="Source Code Pro"/>
              </a:rPr>
              <a:t> = </a:t>
            </a:r>
            <a:r>
              <a:rPr sz="1400" b="1" dirty="0">
                <a:solidFill>
                  <a:srgbClr val="94EE6B"/>
                </a:solidFill>
                <a:latin typeface="Source Code Pro"/>
              </a:rPr>
              <a:t>cell</a:t>
            </a:r>
            <a:r>
              <a:rPr sz="1400" dirty="0">
                <a:solidFill>
                  <a:srgbClr val="E7E7E7"/>
                </a:solidFill>
                <a:latin typeface="Source Code Pro"/>
              </a:rPr>
              <a:t> </a:t>
            </a:r>
            <a:r>
              <a:rPr sz="1400" b="1" dirty="0">
                <a:solidFill>
                  <a:srgbClr val="EC7955"/>
                </a:solidFill>
                <a:latin typeface="Source Code Pro"/>
              </a:rPr>
              <a:t>state</a:t>
            </a:r>
            <a:r>
              <a:rPr sz="1400" dirty="0">
                <a:solidFill>
                  <a:srgbClr val="E7E7E7"/>
                </a:solidFill>
                <a:latin typeface="Source Code Pro"/>
              </a:rPr>
              <a:t> (</a:t>
            </a:r>
            <a:r>
              <a:rPr sz="1400" b="1" dirty="0">
                <a:solidFill>
                  <a:srgbClr val="E7E7E7"/>
                </a:solidFill>
                <a:latin typeface="Source Code Pro"/>
              </a:rPr>
              <a:t>long</a:t>
            </a:r>
            <a:r>
              <a:rPr sz="1400" dirty="0">
                <a:solidFill>
                  <a:srgbClr val="E7E7E7"/>
                </a:solidFill>
                <a:latin typeface="Source Code Pro"/>
              </a:rPr>
              <a:t>-</a:t>
            </a:r>
            <a:r>
              <a:rPr sz="1400" b="1" dirty="0">
                <a:solidFill>
                  <a:srgbClr val="E7E7E7"/>
                </a:solidFill>
                <a:latin typeface="Source Code Pro"/>
              </a:rPr>
              <a:t>term</a:t>
            </a:r>
            <a:r>
              <a:rPr sz="1400" dirty="0">
                <a:solidFill>
                  <a:srgbClr val="E7E7E7"/>
                </a:solidFill>
                <a:latin typeface="Source Code Pro"/>
              </a:rPr>
              <a:t> </a:t>
            </a:r>
            <a:r>
              <a:rPr sz="1400" b="1" dirty="0">
                <a:solidFill>
                  <a:srgbClr val="EC7955"/>
                </a:solidFill>
                <a:latin typeface="Source Code Pro"/>
              </a:rPr>
              <a:t>memory</a:t>
            </a:r>
            <a:r>
              <a:rPr sz="1400" dirty="0">
                <a:solidFill>
                  <a:srgbClr val="E7E7E7"/>
                </a:solidFill>
                <a:latin typeface="Source Code Pro"/>
              </a:rPr>
              <a:t>)</a:t>
            </a:r>
          </a:p>
          <a:p>
            <a:pPr algn="l"/>
            <a:r>
              <a:rPr sz="1400" dirty="0">
                <a:solidFill>
                  <a:srgbClr val="E7E7E7"/>
                </a:solidFill>
                <a:latin typeface="Source Code Pro"/>
              </a:rPr>
              <a:t>  </a:t>
            </a:r>
            <a:r>
              <a:rPr sz="1400" dirty="0" err="1">
                <a:solidFill>
                  <a:srgbClr val="E7E7E7"/>
                </a:solidFill>
                <a:latin typeface="Source Code Pro"/>
              </a:rPr>
              <a:t>h_t</a:t>
            </a:r>
            <a:r>
              <a:rPr sz="1400" dirty="0">
                <a:solidFill>
                  <a:srgbClr val="E7E7E7"/>
                </a:solidFill>
                <a:latin typeface="Source Code Pro"/>
              </a:rPr>
              <a:t> = </a:t>
            </a:r>
            <a:r>
              <a:rPr sz="1400" b="1" dirty="0">
                <a:solidFill>
                  <a:srgbClr val="E7E7E7"/>
                </a:solidFill>
                <a:latin typeface="Source Code Pro"/>
              </a:rPr>
              <a:t>hidden</a:t>
            </a:r>
            <a:r>
              <a:rPr sz="1400" dirty="0">
                <a:solidFill>
                  <a:srgbClr val="E7E7E7"/>
                </a:solidFill>
                <a:latin typeface="Source Code Pro"/>
              </a:rPr>
              <a:t> </a:t>
            </a:r>
            <a:r>
              <a:rPr sz="1400" b="1" dirty="0">
                <a:solidFill>
                  <a:srgbClr val="4CAE97"/>
                </a:solidFill>
                <a:latin typeface="Source Code Pro"/>
              </a:rPr>
              <a:t>state</a:t>
            </a:r>
            <a:r>
              <a:rPr sz="1400" dirty="0">
                <a:solidFill>
                  <a:srgbClr val="E7E7E7"/>
                </a:solidFill>
                <a:latin typeface="Source Code Pro"/>
              </a:rPr>
              <a:t> (</a:t>
            </a:r>
            <a:r>
              <a:rPr sz="1400" b="1" dirty="0">
                <a:solidFill>
                  <a:srgbClr val="E7E7E7"/>
                </a:solidFill>
                <a:latin typeface="Source Code Pro"/>
              </a:rPr>
              <a:t>short</a:t>
            </a:r>
            <a:r>
              <a:rPr sz="1400" dirty="0">
                <a:solidFill>
                  <a:srgbClr val="E7E7E7"/>
                </a:solidFill>
                <a:latin typeface="Source Code Pro"/>
              </a:rPr>
              <a:t>-</a:t>
            </a:r>
            <a:r>
              <a:rPr sz="1400" b="1" dirty="0">
                <a:solidFill>
                  <a:srgbClr val="E7E7E7"/>
                </a:solidFill>
                <a:latin typeface="Source Code Pro"/>
              </a:rPr>
              <a:t>term</a:t>
            </a:r>
            <a:r>
              <a:rPr sz="1400" dirty="0">
                <a:solidFill>
                  <a:srgbClr val="E7E7E7"/>
                </a:solidFill>
                <a:latin typeface="Source Code Pro"/>
              </a:rPr>
              <a:t> </a:t>
            </a:r>
            <a:r>
              <a:rPr sz="1400" b="1" dirty="0">
                <a:solidFill>
                  <a:srgbClr val="BD64B5"/>
                </a:solidFill>
                <a:latin typeface="Source Code Pro"/>
              </a:rPr>
              <a:t>output</a:t>
            </a:r>
            <a:r>
              <a:rPr sz="1400" dirty="0">
                <a:solidFill>
                  <a:srgbClr val="E7E7E7"/>
                </a:solidFill>
                <a:latin typeface="Source Code Pro"/>
              </a:rPr>
              <a:t>)</a:t>
            </a:r>
          </a:p>
          <a:p>
            <a:pPr algn="l"/>
            <a:r>
              <a:rPr sz="1400" dirty="0">
                <a:solidFill>
                  <a:srgbClr val="E7E7E7"/>
                </a:solidFill>
                <a:latin typeface="Source Code Pro"/>
              </a:rPr>
              <a:t>  </a:t>
            </a:r>
            <a:r>
              <a:rPr sz="1400" dirty="0" err="1">
                <a:solidFill>
                  <a:srgbClr val="E7E7E7"/>
                </a:solidFill>
                <a:latin typeface="Source Code Pro"/>
              </a:rPr>
              <a:t>W_o</a:t>
            </a:r>
            <a:r>
              <a:rPr sz="1400" dirty="0">
                <a:solidFill>
                  <a:srgbClr val="E7E7E7"/>
                </a:solidFill>
                <a:latin typeface="Source Code Pro"/>
              </a:rPr>
              <a:t> = </a:t>
            </a:r>
            <a:r>
              <a:rPr sz="1400" b="1" dirty="0">
                <a:solidFill>
                  <a:srgbClr val="4CAE97"/>
                </a:solidFill>
                <a:latin typeface="Source Code Pro"/>
              </a:rPr>
              <a:t>output</a:t>
            </a:r>
            <a:r>
              <a:rPr sz="1400" dirty="0">
                <a:solidFill>
                  <a:srgbClr val="E7E7E7"/>
                </a:solidFill>
                <a:latin typeface="Source Code Pro"/>
              </a:rPr>
              <a:t> </a:t>
            </a:r>
            <a:r>
              <a:rPr sz="1400" b="1" dirty="0">
                <a:solidFill>
                  <a:srgbClr val="E7E7E7"/>
                </a:solidFill>
                <a:latin typeface="Source Code Pro"/>
              </a:rPr>
              <a:t>weights</a:t>
            </a:r>
          </a:p>
          <a:p>
            <a:pPr algn="l"/>
            <a:r>
              <a:rPr sz="1400" dirty="0">
                <a:solidFill>
                  <a:srgbClr val="E7E7E7"/>
                </a:solidFill>
                <a:latin typeface="Source Code Pro"/>
              </a:rPr>
              <a:t>  </a:t>
            </a:r>
            <a:r>
              <a:rPr sz="1400" dirty="0" err="1">
                <a:solidFill>
                  <a:srgbClr val="E7E7E7"/>
                </a:solidFill>
                <a:latin typeface="Source Code Pro"/>
              </a:rPr>
              <a:t>b_o</a:t>
            </a:r>
            <a:r>
              <a:rPr sz="1400" dirty="0">
                <a:solidFill>
                  <a:srgbClr val="E7E7E7"/>
                </a:solidFill>
                <a:latin typeface="Source Code Pro"/>
              </a:rPr>
              <a:t> = </a:t>
            </a:r>
            <a:r>
              <a:rPr sz="1400" b="1" dirty="0">
                <a:solidFill>
                  <a:srgbClr val="E7E7E7"/>
                </a:solidFill>
                <a:latin typeface="Source Code Pro"/>
              </a:rPr>
              <a:t>bias</a:t>
            </a:r>
          </a:p>
          <a:p>
            <a:pPr algn="l"/>
            <a:endParaRPr sz="1400" b="1" dirty="0">
              <a:solidFill>
                <a:srgbClr val="E7E7E7"/>
              </a:solidFill>
              <a:latin typeface="Source Code Pro"/>
            </a:endParaRPr>
          </a:p>
          <a:p>
            <a:pPr algn="l"/>
            <a:r>
              <a:rPr sz="1400" dirty="0">
                <a:solidFill>
                  <a:srgbClr val="E7E7E7"/>
                </a:solidFill>
                <a:latin typeface="Source Code Pro"/>
              </a:rPr>
              <a:t>If </a:t>
            </a:r>
            <a:r>
              <a:rPr sz="1400" dirty="0" err="1">
                <a:solidFill>
                  <a:srgbClr val="E7E7E7"/>
                </a:solidFill>
                <a:latin typeface="Source Code Pro"/>
              </a:rPr>
              <a:t>o_t</a:t>
            </a:r>
            <a:r>
              <a:rPr sz="1400" dirty="0">
                <a:solidFill>
                  <a:srgbClr val="E7E7E7"/>
                </a:solidFill>
                <a:latin typeface="Source Code Pro"/>
              </a:rPr>
              <a:t> = 0: No </a:t>
            </a:r>
            <a:r>
              <a:rPr sz="1400" b="1" dirty="0">
                <a:solidFill>
                  <a:srgbClr val="94EE6B"/>
                </a:solidFill>
                <a:latin typeface="Source Code Pro"/>
              </a:rPr>
              <a:t>output</a:t>
            </a:r>
            <a:r>
              <a:rPr sz="1400" dirty="0">
                <a:solidFill>
                  <a:srgbClr val="E7E7E7"/>
                </a:solidFill>
                <a:latin typeface="Source Code Pro"/>
              </a:rPr>
              <a:t>.</a:t>
            </a:r>
          </a:p>
          <a:p>
            <a:pPr algn="l"/>
            <a:r>
              <a:rPr sz="1400" dirty="0">
                <a:solidFill>
                  <a:srgbClr val="E7E7E7"/>
                </a:solidFill>
                <a:latin typeface="Source Code Pro"/>
              </a:rPr>
              <a:t>If </a:t>
            </a:r>
            <a:r>
              <a:rPr sz="1400" dirty="0" err="1">
                <a:solidFill>
                  <a:srgbClr val="E7E7E7"/>
                </a:solidFill>
                <a:latin typeface="Source Code Pro"/>
              </a:rPr>
              <a:t>o_t</a:t>
            </a:r>
            <a:r>
              <a:rPr sz="1400" dirty="0">
                <a:solidFill>
                  <a:srgbClr val="E7E7E7"/>
                </a:solidFill>
                <a:latin typeface="Source Code Pro"/>
              </a:rPr>
              <a:t> = 1: </a:t>
            </a:r>
            <a:r>
              <a:rPr sz="1400" b="1" dirty="0">
                <a:solidFill>
                  <a:srgbClr val="E7E7E7"/>
                </a:solidFill>
                <a:latin typeface="Source Code Pro"/>
              </a:rPr>
              <a:t>Output</a:t>
            </a:r>
            <a:r>
              <a:rPr sz="1400" dirty="0">
                <a:solidFill>
                  <a:srgbClr val="E7E7E7"/>
                </a:solidFill>
                <a:latin typeface="Source Code Pro"/>
              </a:rPr>
              <a:t> </a:t>
            </a:r>
            <a:r>
              <a:rPr sz="1400" b="1" dirty="0">
                <a:solidFill>
                  <a:srgbClr val="E7E7E7"/>
                </a:solidFill>
                <a:latin typeface="Source Code Pro"/>
              </a:rPr>
              <a:t>entire</a:t>
            </a:r>
            <a:r>
              <a:rPr sz="1400" dirty="0">
                <a:solidFill>
                  <a:srgbClr val="E7E7E7"/>
                </a:solidFill>
                <a:latin typeface="Source Code Pro"/>
              </a:rPr>
              <a:t> </a:t>
            </a:r>
            <a:r>
              <a:rPr sz="1400" b="1" dirty="0">
                <a:solidFill>
                  <a:srgbClr val="FD4A4A"/>
                </a:solidFill>
                <a:latin typeface="Source Code Pro"/>
              </a:rPr>
              <a:t>cell</a:t>
            </a:r>
            <a:r>
              <a:rPr sz="1400" dirty="0">
                <a:solidFill>
                  <a:srgbClr val="E7E7E7"/>
                </a:solidFill>
                <a:latin typeface="Source Code Pro"/>
              </a:rPr>
              <a:t> </a:t>
            </a:r>
            <a:r>
              <a:rPr sz="1400" b="1" dirty="0">
                <a:solidFill>
                  <a:srgbClr val="E81A81"/>
                </a:solidFill>
                <a:latin typeface="Source Code Pro"/>
              </a:rPr>
              <a:t>state</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Result: Clean </a:t>
            </a:r>
            <a:r>
              <a:rPr sz="1400" b="1" dirty="0">
                <a:solidFill>
                  <a:srgbClr val="E7E7E7"/>
                </a:solidFill>
                <a:latin typeface="Source Code Pro"/>
              </a:rPr>
              <a:t>hidden</a:t>
            </a:r>
            <a:r>
              <a:rPr sz="1400" dirty="0">
                <a:solidFill>
                  <a:srgbClr val="E7E7E7"/>
                </a:solidFill>
                <a:latin typeface="Source Code Pro"/>
              </a:rPr>
              <a:t> </a:t>
            </a:r>
            <a:r>
              <a:rPr sz="1400" b="1" dirty="0">
                <a:solidFill>
                  <a:srgbClr val="94EE6B"/>
                </a:solidFill>
                <a:latin typeface="Source Code Pro"/>
              </a:rPr>
              <a:t>state</a:t>
            </a:r>
            <a:r>
              <a:rPr sz="1400" dirty="0">
                <a:solidFill>
                  <a:srgbClr val="E7E7E7"/>
                </a:solidFill>
                <a:latin typeface="Source Code Pro"/>
              </a:rPr>
              <a:t> for next </a:t>
            </a:r>
            <a:r>
              <a:rPr sz="1400" b="1" dirty="0">
                <a:solidFill>
                  <a:srgbClr val="E7E7E7"/>
                </a:solidFill>
                <a:latin typeface="Source Code Pro"/>
              </a:rPr>
              <a:t>timestep</a:t>
            </a:r>
            <a:r>
              <a:rPr sz="1400" dirty="0">
                <a:solidFill>
                  <a:srgbClr val="E7E7E7"/>
                </a:solidFill>
                <a:latin typeface="Source Code Pro"/>
              </a:rPr>
              <a:t>.</a:t>
            </a:r>
          </a:p>
        </p:txBody>
      </p:sp>
    </p:spTree>
    <p:extLst>
      <p:ext uri="{BB962C8B-B14F-4D97-AF65-F5344CB8AC3E}">
        <p14:creationId xmlns:p14="http://schemas.microsoft.com/office/powerpoint/2010/main" val="593406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A07031FE-2C94-6428-17AF-2EFF6FBAC53F}"/>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LSTM Complete Forward Pass</a:t>
            </a:r>
          </a:p>
        </p:txBody>
      </p:sp>
      <p:sp>
        <p:nvSpPr>
          <p:cNvPr id="3" name="TextBox 2"/>
          <p:cNvSpPr txBox="1"/>
          <p:nvPr/>
        </p:nvSpPr>
        <p:spPr>
          <a:xfrm>
            <a:off x="256032" y="1463040"/>
            <a:ext cx="8229600" cy="2677656"/>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At each </a:t>
            </a:r>
            <a:r>
              <a:rPr sz="1400" b="1" dirty="0">
                <a:solidFill>
                  <a:srgbClr val="E7E7E7"/>
                </a:solidFill>
                <a:latin typeface="Source Code Pro"/>
              </a:rPr>
              <a:t>timestep</a:t>
            </a:r>
            <a:r>
              <a:rPr sz="1400" dirty="0">
                <a:solidFill>
                  <a:srgbClr val="E7E7E7"/>
                </a:solidFill>
                <a:latin typeface="Source Code Pro"/>
              </a:rPr>
              <a:t>, LSTM does:</a:t>
            </a:r>
          </a:p>
          <a:p>
            <a:pPr algn="l"/>
            <a:endParaRPr sz="1400" dirty="0">
              <a:solidFill>
                <a:srgbClr val="E7E7E7"/>
              </a:solidFill>
              <a:latin typeface="Source Code Pro"/>
            </a:endParaRPr>
          </a:p>
          <a:p>
            <a:pPr algn="l"/>
            <a:r>
              <a:rPr sz="1400" dirty="0">
                <a:solidFill>
                  <a:srgbClr val="E7E7E7"/>
                </a:solidFill>
                <a:latin typeface="Source Code Pro"/>
              </a:rPr>
              <a:t>1. </a:t>
            </a:r>
            <a:r>
              <a:rPr sz="1400" b="1" dirty="0">
                <a:solidFill>
                  <a:srgbClr val="FD4A4A"/>
                </a:solidFill>
                <a:latin typeface="Source Code Pro"/>
              </a:rPr>
              <a:t>Forget</a:t>
            </a:r>
            <a:r>
              <a:rPr sz="1400" dirty="0">
                <a:solidFill>
                  <a:srgbClr val="E7E7E7"/>
                </a:solidFill>
                <a:latin typeface="Source Code Pro"/>
              </a:rPr>
              <a:t> </a:t>
            </a:r>
            <a:r>
              <a:rPr sz="1400" b="1" dirty="0">
                <a:solidFill>
                  <a:srgbClr val="4CAE97"/>
                </a:solidFill>
                <a:latin typeface="Source Code Pro"/>
              </a:rPr>
              <a:t>gate</a:t>
            </a:r>
            <a:r>
              <a:rPr sz="1400" dirty="0">
                <a:solidFill>
                  <a:srgbClr val="E7E7E7"/>
                </a:solidFill>
                <a:latin typeface="Source Code Pro"/>
              </a:rPr>
              <a:t>: </a:t>
            </a:r>
            <a:r>
              <a:rPr sz="1400" dirty="0" err="1">
                <a:solidFill>
                  <a:srgbClr val="E7E7E7"/>
                </a:solidFill>
                <a:latin typeface="Source Code Pro"/>
              </a:rPr>
              <a:t>f_t</a:t>
            </a:r>
            <a:r>
              <a:rPr sz="1400" dirty="0">
                <a:solidFill>
                  <a:srgbClr val="E7E7E7"/>
                </a:solidFill>
                <a:latin typeface="Source Code Pro"/>
              </a:rPr>
              <a:t> = sigmoid(</a:t>
            </a:r>
            <a:r>
              <a:rPr sz="1400" dirty="0" err="1">
                <a:solidFill>
                  <a:srgbClr val="E7E7E7"/>
                </a:solidFill>
                <a:latin typeface="Source Code Pro"/>
              </a:rPr>
              <a:t>W_f</a:t>
            </a:r>
            <a:r>
              <a:rPr sz="1400" dirty="0">
                <a:solidFill>
                  <a:srgbClr val="E7E7E7"/>
                </a:solidFill>
                <a:latin typeface="Source Code Pro"/>
              </a:rPr>
              <a:t>[h_{t-1}, </a:t>
            </a:r>
            <a:r>
              <a:rPr sz="1400" dirty="0" err="1">
                <a:solidFill>
                  <a:srgbClr val="E7E7E7"/>
                </a:solidFill>
                <a:latin typeface="Source Code Pro"/>
              </a:rPr>
              <a:t>x_t</a:t>
            </a:r>
            <a:r>
              <a:rPr sz="1400" dirty="0">
                <a:solidFill>
                  <a:srgbClr val="E7E7E7"/>
                </a:solidFill>
                <a:latin typeface="Source Code Pro"/>
              </a:rPr>
              <a:t>] + </a:t>
            </a:r>
            <a:r>
              <a:rPr sz="1400" dirty="0" err="1">
                <a:solidFill>
                  <a:srgbClr val="E7E7E7"/>
                </a:solidFill>
                <a:latin typeface="Source Code Pro"/>
              </a:rPr>
              <a:t>b_f</a:t>
            </a:r>
            <a:r>
              <a:rPr sz="1400" dirty="0">
                <a:solidFill>
                  <a:srgbClr val="E7E7E7"/>
                </a:solidFill>
                <a:latin typeface="Source Code Pro"/>
              </a:rPr>
              <a:t>)</a:t>
            </a:r>
          </a:p>
          <a:p>
            <a:pPr algn="l"/>
            <a:r>
              <a:rPr sz="1400" dirty="0">
                <a:solidFill>
                  <a:srgbClr val="E7E7E7"/>
                </a:solidFill>
                <a:latin typeface="Source Code Pro"/>
              </a:rPr>
              <a:t>2. </a:t>
            </a:r>
            <a:r>
              <a:rPr sz="1400" b="1" dirty="0">
                <a:solidFill>
                  <a:srgbClr val="E7E7E7"/>
                </a:solidFill>
                <a:latin typeface="Source Code Pro"/>
              </a:rPr>
              <a:t>Input</a:t>
            </a:r>
            <a:r>
              <a:rPr sz="1400" dirty="0">
                <a:solidFill>
                  <a:srgbClr val="E7E7E7"/>
                </a:solidFill>
                <a:latin typeface="Source Code Pro"/>
              </a:rPr>
              <a:t> </a:t>
            </a:r>
            <a:r>
              <a:rPr sz="1400" b="1" dirty="0">
                <a:solidFill>
                  <a:srgbClr val="BD64B5"/>
                </a:solidFill>
                <a:latin typeface="Source Code Pro"/>
              </a:rPr>
              <a:t>gate</a:t>
            </a:r>
            <a:r>
              <a:rPr sz="1400" dirty="0">
                <a:solidFill>
                  <a:srgbClr val="E7E7E7"/>
                </a:solidFill>
                <a:latin typeface="Source Code Pro"/>
              </a:rPr>
              <a:t>: </a:t>
            </a:r>
            <a:r>
              <a:rPr sz="1400" dirty="0" err="1">
                <a:solidFill>
                  <a:srgbClr val="E7E7E7"/>
                </a:solidFill>
                <a:latin typeface="Source Code Pro"/>
              </a:rPr>
              <a:t>i_t</a:t>
            </a:r>
            <a:r>
              <a:rPr sz="1400" dirty="0">
                <a:solidFill>
                  <a:srgbClr val="E7E7E7"/>
                </a:solidFill>
                <a:latin typeface="Source Code Pro"/>
              </a:rPr>
              <a:t> = sigmoid(</a:t>
            </a:r>
            <a:r>
              <a:rPr sz="1400" dirty="0" err="1">
                <a:solidFill>
                  <a:srgbClr val="E7E7E7"/>
                </a:solidFill>
                <a:latin typeface="Source Code Pro"/>
              </a:rPr>
              <a:t>W_i</a:t>
            </a:r>
            <a:r>
              <a:rPr sz="1400" dirty="0">
                <a:solidFill>
                  <a:srgbClr val="E7E7E7"/>
                </a:solidFill>
                <a:latin typeface="Source Code Pro"/>
              </a:rPr>
              <a:t>[h_{t-1}, </a:t>
            </a:r>
            <a:r>
              <a:rPr sz="1400" dirty="0" err="1">
                <a:solidFill>
                  <a:srgbClr val="E7E7E7"/>
                </a:solidFill>
                <a:latin typeface="Source Code Pro"/>
              </a:rPr>
              <a:t>x_t</a:t>
            </a:r>
            <a:r>
              <a:rPr sz="1400" dirty="0">
                <a:solidFill>
                  <a:srgbClr val="E7E7E7"/>
                </a:solidFill>
                <a:latin typeface="Source Code Pro"/>
              </a:rPr>
              <a:t>] + </a:t>
            </a:r>
            <a:r>
              <a:rPr sz="1400" dirty="0" err="1">
                <a:solidFill>
                  <a:srgbClr val="E7E7E7"/>
                </a:solidFill>
                <a:latin typeface="Source Code Pro"/>
              </a:rPr>
              <a:t>b_i</a:t>
            </a:r>
            <a:r>
              <a:rPr sz="1400" dirty="0">
                <a:solidFill>
                  <a:srgbClr val="E7E7E7"/>
                </a:solidFill>
                <a:latin typeface="Source Code Pro"/>
              </a:rPr>
              <a:t>)</a:t>
            </a:r>
          </a:p>
          <a:p>
            <a:pPr algn="l"/>
            <a:r>
              <a:rPr sz="1400" dirty="0">
                <a:solidFill>
                  <a:srgbClr val="E7E7E7"/>
                </a:solidFill>
                <a:latin typeface="Source Code Pro"/>
              </a:rPr>
              <a:t>3. </a:t>
            </a:r>
            <a:r>
              <a:rPr sz="1400" b="1" dirty="0">
                <a:solidFill>
                  <a:srgbClr val="94EE6B"/>
                </a:solidFill>
                <a:latin typeface="Source Code Pro"/>
              </a:rPr>
              <a:t>Candidate</a:t>
            </a:r>
            <a:r>
              <a:rPr sz="1400" dirty="0">
                <a:solidFill>
                  <a:srgbClr val="E7E7E7"/>
                </a:solidFill>
                <a:latin typeface="Source Code Pro"/>
              </a:rPr>
              <a:t>: ~</a:t>
            </a:r>
            <a:r>
              <a:rPr sz="1400" dirty="0" err="1">
                <a:solidFill>
                  <a:srgbClr val="E7E7E7"/>
                </a:solidFill>
                <a:latin typeface="Source Code Pro"/>
              </a:rPr>
              <a:t>c_t</a:t>
            </a:r>
            <a:r>
              <a:rPr sz="1400" dirty="0">
                <a:solidFill>
                  <a:srgbClr val="E7E7E7"/>
                </a:solidFill>
                <a:latin typeface="Source Code Pro"/>
              </a:rPr>
              <a:t> = tanh(</a:t>
            </a:r>
            <a:r>
              <a:rPr sz="1400" dirty="0" err="1">
                <a:solidFill>
                  <a:srgbClr val="E7E7E7"/>
                </a:solidFill>
                <a:latin typeface="Source Code Pro"/>
              </a:rPr>
              <a:t>W_c</a:t>
            </a:r>
            <a:r>
              <a:rPr sz="1400" dirty="0">
                <a:solidFill>
                  <a:srgbClr val="E7E7E7"/>
                </a:solidFill>
                <a:latin typeface="Source Code Pro"/>
              </a:rPr>
              <a:t>[h_{t-1}, </a:t>
            </a:r>
            <a:r>
              <a:rPr sz="1400" dirty="0" err="1">
                <a:solidFill>
                  <a:srgbClr val="E7E7E7"/>
                </a:solidFill>
                <a:latin typeface="Source Code Pro"/>
              </a:rPr>
              <a:t>x_t</a:t>
            </a:r>
            <a:r>
              <a:rPr sz="1400" dirty="0">
                <a:solidFill>
                  <a:srgbClr val="E7E7E7"/>
                </a:solidFill>
                <a:latin typeface="Source Code Pro"/>
              </a:rPr>
              <a:t>] + </a:t>
            </a:r>
            <a:r>
              <a:rPr sz="1400" dirty="0" err="1">
                <a:solidFill>
                  <a:srgbClr val="E7E7E7"/>
                </a:solidFill>
                <a:latin typeface="Source Code Pro"/>
              </a:rPr>
              <a:t>b_c</a:t>
            </a:r>
            <a:r>
              <a:rPr sz="1400" dirty="0">
                <a:solidFill>
                  <a:srgbClr val="E7E7E7"/>
                </a:solidFill>
                <a:latin typeface="Source Code Pro"/>
              </a:rPr>
              <a:t>)</a:t>
            </a:r>
          </a:p>
          <a:p>
            <a:pPr algn="l"/>
            <a:r>
              <a:rPr sz="1400" dirty="0">
                <a:solidFill>
                  <a:srgbClr val="E7E7E7"/>
                </a:solidFill>
                <a:latin typeface="Source Code Pro"/>
              </a:rPr>
              <a:t>4. </a:t>
            </a:r>
            <a:r>
              <a:rPr sz="1400" b="1" dirty="0">
                <a:solidFill>
                  <a:srgbClr val="FD4A4A"/>
                </a:solidFill>
                <a:latin typeface="Source Code Pro"/>
              </a:rPr>
              <a:t>Cell</a:t>
            </a:r>
            <a:r>
              <a:rPr sz="1400" dirty="0">
                <a:solidFill>
                  <a:srgbClr val="E7E7E7"/>
                </a:solidFill>
                <a:latin typeface="Source Code Pro"/>
              </a:rPr>
              <a:t> </a:t>
            </a:r>
            <a:r>
              <a:rPr sz="1400" b="1" dirty="0">
                <a:solidFill>
                  <a:srgbClr val="E7E7E7"/>
                </a:solidFill>
                <a:latin typeface="Source Code Pro"/>
              </a:rPr>
              <a:t>state</a:t>
            </a:r>
            <a:r>
              <a:rPr sz="1400" dirty="0">
                <a:solidFill>
                  <a:srgbClr val="E7E7E7"/>
                </a:solidFill>
                <a:latin typeface="Source Code Pro"/>
              </a:rPr>
              <a:t>: </a:t>
            </a:r>
            <a:r>
              <a:rPr sz="1400" dirty="0" err="1">
                <a:solidFill>
                  <a:srgbClr val="E7E7E7"/>
                </a:solidFill>
                <a:latin typeface="Source Code Pro"/>
              </a:rPr>
              <a:t>c_t</a:t>
            </a:r>
            <a:r>
              <a:rPr sz="1400" dirty="0">
                <a:solidFill>
                  <a:srgbClr val="E7E7E7"/>
                </a:solidFill>
                <a:latin typeface="Source Code Pro"/>
              </a:rPr>
              <a:t> = </a:t>
            </a:r>
            <a:r>
              <a:rPr sz="1400" dirty="0" err="1">
                <a:solidFill>
                  <a:srgbClr val="E7E7E7"/>
                </a:solidFill>
                <a:latin typeface="Source Code Pro"/>
              </a:rPr>
              <a:t>f_t</a:t>
            </a:r>
            <a:r>
              <a:rPr sz="1400" dirty="0">
                <a:solidFill>
                  <a:srgbClr val="E7E7E7"/>
                </a:solidFill>
                <a:latin typeface="Source Code Pro"/>
              </a:rPr>
              <a:t> × c_{t-1} + </a:t>
            </a:r>
            <a:r>
              <a:rPr sz="1400" dirty="0" err="1">
                <a:solidFill>
                  <a:srgbClr val="E7E7E7"/>
                </a:solidFill>
                <a:latin typeface="Source Code Pro"/>
              </a:rPr>
              <a:t>i_t</a:t>
            </a:r>
            <a:r>
              <a:rPr sz="1400" dirty="0">
                <a:solidFill>
                  <a:srgbClr val="E7E7E7"/>
                </a:solidFill>
                <a:latin typeface="Source Code Pro"/>
              </a:rPr>
              <a:t> × ~</a:t>
            </a:r>
            <a:r>
              <a:rPr sz="1400" dirty="0" err="1">
                <a:solidFill>
                  <a:srgbClr val="E7E7E7"/>
                </a:solidFill>
                <a:latin typeface="Source Code Pro"/>
              </a:rPr>
              <a:t>c_t</a:t>
            </a:r>
            <a:endParaRPr sz="1400" dirty="0">
              <a:solidFill>
                <a:srgbClr val="E7E7E7"/>
              </a:solidFill>
              <a:latin typeface="Source Code Pro"/>
            </a:endParaRPr>
          </a:p>
          <a:p>
            <a:pPr algn="l"/>
            <a:r>
              <a:rPr sz="1400" dirty="0">
                <a:solidFill>
                  <a:srgbClr val="E7E7E7"/>
                </a:solidFill>
                <a:latin typeface="Source Code Pro"/>
              </a:rPr>
              <a:t>5. </a:t>
            </a:r>
            <a:r>
              <a:rPr sz="1400" b="1" dirty="0">
                <a:solidFill>
                  <a:srgbClr val="E7E7E7"/>
                </a:solidFill>
                <a:latin typeface="Source Code Pro"/>
              </a:rPr>
              <a:t>Output</a:t>
            </a:r>
            <a:r>
              <a:rPr sz="1400" dirty="0">
                <a:solidFill>
                  <a:srgbClr val="E7E7E7"/>
                </a:solidFill>
                <a:latin typeface="Source Code Pro"/>
              </a:rPr>
              <a:t> </a:t>
            </a:r>
            <a:r>
              <a:rPr sz="1400" b="1" dirty="0">
                <a:solidFill>
                  <a:srgbClr val="94EE6B"/>
                </a:solidFill>
                <a:latin typeface="Source Code Pro"/>
              </a:rPr>
              <a:t>gate</a:t>
            </a:r>
            <a:r>
              <a:rPr sz="1400" dirty="0">
                <a:solidFill>
                  <a:srgbClr val="E7E7E7"/>
                </a:solidFill>
                <a:latin typeface="Source Code Pro"/>
              </a:rPr>
              <a:t>: </a:t>
            </a:r>
            <a:r>
              <a:rPr sz="1400" dirty="0" err="1">
                <a:solidFill>
                  <a:srgbClr val="E7E7E7"/>
                </a:solidFill>
                <a:latin typeface="Source Code Pro"/>
              </a:rPr>
              <a:t>o_t</a:t>
            </a:r>
            <a:r>
              <a:rPr sz="1400" dirty="0">
                <a:solidFill>
                  <a:srgbClr val="E7E7E7"/>
                </a:solidFill>
                <a:latin typeface="Source Code Pro"/>
              </a:rPr>
              <a:t> = sigmoid(</a:t>
            </a:r>
            <a:r>
              <a:rPr sz="1400" dirty="0" err="1">
                <a:solidFill>
                  <a:srgbClr val="E7E7E7"/>
                </a:solidFill>
                <a:latin typeface="Source Code Pro"/>
              </a:rPr>
              <a:t>W_o</a:t>
            </a:r>
            <a:r>
              <a:rPr sz="1400" dirty="0">
                <a:solidFill>
                  <a:srgbClr val="E7E7E7"/>
                </a:solidFill>
                <a:latin typeface="Source Code Pro"/>
              </a:rPr>
              <a:t>[h_{t-1}, </a:t>
            </a:r>
            <a:r>
              <a:rPr sz="1400" dirty="0" err="1">
                <a:solidFill>
                  <a:srgbClr val="E7E7E7"/>
                </a:solidFill>
                <a:latin typeface="Source Code Pro"/>
              </a:rPr>
              <a:t>x_t</a:t>
            </a:r>
            <a:r>
              <a:rPr sz="1400" dirty="0">
                <a:solidFill>
                  <a:srgbClr val="E7E7E7"/>
                </a:solidFill>
                <a:latin typeface="Source Code Pro"/>
              </a:rPr>
              <a:t>] + </a:t>
            </a:r>
            <a:r>
              <a:rPr sz="1400" dirty="0" err="1">
                <a:solidFill>
                  <a:srgbClr val="E7E7E7"/>
                </a:solidFill>
                <a:latin typeface="Source Code Pro"/>
              </a:rPr>
              <a:t>b_o</a:t>
            </a:r>
            <a:r>
              <a:rPr sz="1400" dirty="0">
                <a:solidFill>
                  <a:srgbClr val="E7E7E7"/>
                </a:solidFill>
                <a:latin typeface="Source Code Pro"/>
              </a:rPr>
              <a:t>)</a:t>
            </a:r>
          </a:p>
          <a:p>
            <a:pPr algn="l"/>
            <a:r>
              <a:rPr sz="1400" dirty="0">
                <a:solidFill>
                  <a:srgbClr val="E7E7E7"/>
                </a:solidFill>
                <a:latin typeface="Source Code Pro"/>
              </a:rPr>
              <a:t>6. </a:t>
            </a:r>
            <a:r>
              <a:rPr sz="1400" b="1" dirty="0">
                <a:solidFill>
                  <a:srgbClr val="E7E7E7"/>
                </a:solidFill>
                <a:latin typeface="Source Code Pro"/>
              </a:rPr>
              <a:t>Hidden</a:t>
            </a:r>
            <a:r>
              <a:rPr sz="1400" dirty="0">
                <a:solidFill>
                  <a:srgbClr val="E7E7E7"/>
                </a:solidFill>
                <a:latin typeface="Source Code Pro"/>
              </a:rPr>
              <a:t> </a:t>
            </a:r>
            <a:r>
              <a:rPr sz="1400" b="1" dirty="0">
                <a:solidFill>
                  <a:srgbClr val="E7E7E7"/>
                </a:solidFill>
                <a:latin typeface="Source Code Pro"/>
              </a:rPr>
              <a:t>state</a:t>
            </a:r>
            <a:r>
              <a:rPr sz="1400" dirty="0">
                <a:solidFill>
                  <a:srgbClr val="E7E7E7"/>
                </a:solidFill>
                <a:latin typeface="Source Code Pro"/>
              </a:rPr>
              <a:t>: </a:t>
            </a:r>
            <a:r>
              <a:rPr sz="1400" dirty="0" err="1">
                <a:solidFill>
                  <a:srgbClr val="E7E7E7"/>
                </a:solidFill>
                <a:latin typeface="Source Code Pro"/>
              </a:rPr>
              <a:t>h_t</a:t>
            </a:r>
            <a:r>
              <a:rPr sz="1400" dirty="0">
                <a:solidFill>
                  <a:srgbClr val="E7E7E7"/>
                </a:solidFill>
                <a:latin typeface="Source Code Pro"/>
              </a:rPr>
              <a:t> = </a:t>
            </a:r>
            <a:r>
              <a:rPr sz="1400" dirty="0" err="1">
                <a:solidFill>
                  <a:srgbClr val="E7E7E7"/>
                </a:solidFill>
                <a:latin typeface="Source Code Pro"/>
              </a:rPr>
              <a:t>o_t</a:t>
            </a:r>
            <a:r>
              <a:rPr sz="1400" dirty="0">
                <a:solidFill>
                  <a:srgbClr val="E7E7E7"/>
                </a:solidFill>
                <a:latin typeface="Source Code Pro"/>
              </a:rPr>
              <a:t> × tanh(</a:t>
            </a:r>
            <a:r>
              <a:rPr sz="1400" dirty="0" err="1">
                <a:solidFill>
                  <a:srgbClr val="E7E7E7"/>
                </a:solidFill>
                <a:latin typeface="Source Code Pro"/>
              </a:rPr>
              <a:t>c_t</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Total </a:t>
            </a:r>
            <a:r>
              <a:rPr sz="1400" b="1" dirty="0">
                <a:solidFill>
                  <a:srgbClr val="E7E7E7"/>
                </a:solidFill>
                <a:latin typeface="Source Code Pro"/>
              </a:rPr>
              <a:t>parameters</a:t>
            </a:r>
            <a:r>
              <a:rPr sz="1400" dirty="0">
                <a:solidFill>
                  <a:srgbClr val="E7E7E7"/>
                </a:solidFill>
                <a:latin typeface="Source Code Pro"/>
              </a:rPr>
              <a:t>: 4×(hidden_size^2 + </a:t>
            </a:r>
            <a:r>
              <a:rPr sz="1400" dirty="0" err="1">
                <a:solidFill>
                  <a:srgbClr val="E7E7E7"/>
                </a:solidFill>
                <a:latin typeface="Source Code Pro"/>
              </a:rPr>
              <a:t>hidden_size×input_size</a:t>
            </a:r>
            <a:r>
              <a:rPr sz="1400" dirty="0">
                <a:solidFill>
                  <a:srgbClr val="E7E7E7"/>
                </a:solidFill>
                <a:latin typeface="Source Code Pro"/>
              </a:rPr>
              <a:t>)</a:t>
            </a:r>
          </a:p>
          <a:p>
            <a:pPr algn="l"/>
            <a:r>
              <a:rPr sz="1400" dirty="0">
                <a:solidFill>
                  <a:srgbClr val="E7E7E7"/>
                </a:solidFill>
                <a:latin typeface="Source Code Pro"/>
              </a:rPr>
              <a:t>Example: hidden=128, input=100 → ~216,000 </a:t>
            </a:r>
            <a:r>
              <a:rPr sz="1400" b="1" dirty="0">
                <a:solidFill>
                  <a:srgbClr val="E7E7E7"/>
                </a:solidFill>
                <a:latin typeface="Source Code Pro"/>
              </a:rPr>
              <a:t>parameters</a:t>
            </a:r>
            <a:r>
              <a:rPr sz="1400" dirty="0">
                <a:solidFill>
                  <a:srgbClr val="E7E7E7"/>
                </a:solidFill>
                <a:latin typeface="Source Code Pro"/>
              </a:rPr>
              <a:t>.</a:t>
            </a:r>
          </a:p>
        </p:txBody>
      </p:sp>
    </p:spTree>
    <p:extLst>
      <p:ext uri="{BB962C8B-B14F-4D97-AF65-F5344CB8AC3E}">
        <p14:creationId xmlns:p14="http://schemas.microsoft.com/office/powerpoint/2010/main" val="1012003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87B10FDB-0640-4185-E584-0FA956B0EE11}"/>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GRU - Gated Recurrent Unit</a:t>
            </a:r>
          </a:p>
        </p:txBody>
      </p:sp>
      <p:sp>
        <p:nvSpPr>
          <p:cNvPr id="3" name="TextBox 2"/>
          <p:cNvSpPr txBox="1"/>
          <p:nvPr/>
        </p:nvSpPr>
        <p:spPr>
          <a:xfrm>
            <a:off x="256032" y="1463040"/>
            <a:ext cx="8229600" cy="3754874"/>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GRU is a </a:t>
            </a:r>
            <a:r>
              <a:rPr sz="1400" b="1" dirty="0">
                <a:solidFill>
                  <a:srgbClr val="E7E7E7"/>
                </a:solidFill>
                <a:latin typeface="Source Code Pro"/>
              </a:rPr>
              <a:t>simpler</a:t>
            </a:r>
            <a:r>
              <a:rPr sz="1400" dirty="0">
                <a:solidFill>
                  <a:srgbClr val="E7E7E7"/>
                </a:solidFill>
                <a:latin typeface="Source Code Pro"/>
              </a:rPr>
              <a:t> </a:t>
            </a:r>
            <a:r>
              <a:rPr sz="1400" b="1" dirty="0">
                <a:solidFill>
                  <a:srgbClr val="E7E7E7"/>
                </a:solidFill>
                <a:latin typeface="Source Code Pro"/>
              </a:rPr>
              <a:t>alternative</a:t>
            </a:r>
            <a:r>
              <a:rPr sz="1400" dirty="0">
                <a:solidFill>
                  <a:srgbClr val="E7E7E7"/>
                </a:solidFill>
                <a:latin typeface="Source Code Pro"/>
              </a:rPr>
              <a:t> to LSTM.</a:t>
            </a:r>
          </a:p>
          <a:p>
            <a:pPr algn="l"/>
            <a:endParaRPr sz="1400" dirty="0">
              <a:solidFill>
                <a:srgbClr val="E7E7E7"/>
              </a:solidFill>
              <a:latin typeface="Source Code Pro"/>
            </a:endParaRPr>
          </a:p>
          <a:p>
            <a:pPr algn="l"/>
            <a:r>
              <a:rPr sz="1400" dirty="0">
                <a:solidFill>
                  <a:srgbClr val="E7E7E7"/>
                </a:solidFill>
                <a:latin typeface="Source Code Pro"/>
              </a:rPr>
              <a:t>Only 2 </a:t>
            </a:r>
            <a:r>
              <a:rPr sz="1400" b="1" dirty="0">
                <a:solidFill>
                  <a:srgbClr val="4CAE97"/>
                </a:solidFill>
                <a:latin typeface="Source Code Pro"/>
              </a:rPr>
              <a:t>gates</a:t>
            </a:r>
            <a:r>
              <a:rPr sz="1400" dirty="0">
                <a:solidFill>
                  <a:srgbClr val="E7E7E7"/>
                </a:solidFill>
                <a:latin typeface="Source Code Pro"/>
              </a:rPr>
              <a:t> (</a:t>
            </a:r>
            <a:r>
              <a:rPr sz="1400" b="1" dirty="0">
                <a:solidFill>
                  <a:srgbClr val="4CAE97"/>
                </a:solidFill>
                <a:latin typeface="Source Code Pro"/>
              </a:rPr>
              <a:t>reset</a:t>
            </a:r>
            <a:r>
              <a:rPr sz="1400" dirty="0">
                <a:solidFill>
                  <a:srgbClr val="E7E7E7"/>
                </a:solidFill>
                <a:latin typeface="Source Code Pro"/>
              </a:rPr>
              <a:t>, </a:t>
            </a:r>
            <a:r>
              <a:rPr sz="1400" b="1" dirty="0">
                <a:solidFill>
                  <a:srgbClr val="E7E7E7"/>
                </a:solidFill>
                <a:latin typeface="Source Code Pro"/>
              </a:rPr>
              <a:t>update</a:t>
            </a:r>
            <a:r>
              <a:rPr sz="1400" dirty="0">
                <a:solidFill>
                  <a:srgbClr val="E7E7E7"/>
                </a:solidFill>
                <a:latin typeface="Source Code Pro"/>
              </a:rPr>
              <a:t>) instead of 3.</a:t>
            </a:r>
          </a:p>
          <a:p>
            <a:pPr algn="l"/>
            <a:r>
              <a:rPr sz="1400" dirty="0">
                <a:solidFill>
                  <a:srgbClr val="E7E7E7"/>
                </a:solidFill>
                <a:latin typeface="Source Code Pro"/>
              </a:rPr>
              <a:t>Simpler </a:t>
            </a:r>
            <a:r>
              <a:rPr sz="1400" b="1" dirty="0">
                <a:solidFill>
                  <a:srgbClr val="E7E7E7"/>
                </a:solidFill>
                <a:latin typeface="Source Code Pro"/>
              </a:rPr>
              <a:t>architecture</a:t>
            </a:r>
            <a:r>
              <a:rPr sz="1400" dirty="0">
                <a:solidFill>
                  <a:srgbClr val="E7E7E7"/>
                </a:solidFill>
                <a:latin typeface="Source Code Pro"/>
              </a:rPr>
              <a:t>: Fewer </a:t>
            </a:r>
            <a:r>
              <a:rPr sz="1400" b="1" dirty="0">
                <a:solidFill>
                  <a:srgbClr val="E7E7E7"/>
                </a:solidFill>
                <a:latin typeface="Source Code Pro"/>
              </a:rPr>
              <a:t>parameters</a:t>
            </a:r>
            <a:r>
              <a:rPr sz="1400" dirty="0">
                <a:solidFill>
                  <a:srgbClr val="E7E7E7"/>
                </a:solidFill>
                <a:latin typeface="Source Code Pro"/>
              </a:rPr>
              <a:t>.</a:t>
            </a:r>
          </a:p>
          <a:p>
            <a:pPr algn="l"/>
            <a:r>
              <a:rPr sz="1400" dirty="0">
                <a:solidFill>
                  <a:srgbClr val="E7E7E7"/>
                </a:solidFill>
                <a:latin typeface="Source Code Pro"/>
              </a:rPr>
              <a:t>Similar </a:t>
            </a:r>
            <a:r>
              <a:rPr sz="1400" b="1" dirty="0">
                <a:solidFill>
                  <a:srgbClr val="E7E7E7"/>
                </a:solidFill>
                <a:latin typeface="Source Code Pro"/>
              </a:rPr>
              <a:t>performance</a:t>
            </a:r>
            <a:r>
              <a:rPr sz="1400" dirty="0">
                <a:solidFill>
                  <a:srgbClr val="E7E7E7"/>
                </a:solidFill>
                <a:latin typeface="Source Code Pro"/>
              </a:rPr>
              <a:t>: Often as </a:t>
            </a:r>
            <a:r>
              <a:rPr sz="1400" b="1" dirty="0">
                <a:solidFill>
                  <a:srgbClr val="E7E7E7"/>
                </a:solidFill>
                <a:latin typeface="Source Code Pro"/>
              </a:rPr>
              <a:t>good</a:t>
            </a:r>
            <a:r>
              <a:rPr sz="1400" dirty="0">
                <a:solidFill>
                  <a:srgbClr val="E7E7E7"/>
                </a:solidFill>
                <a:latin typeface="Source Code Pro"/>
              </a:rPr>
              <a:t> as LSTM.</a:t>
            </a:r>
          </a:p>
          <a:p>
            <a:pPr algn="l"/>
            <a:endParaRPr sz="1400" dirty="0">
              <a:solidFill>
                <a:srgbClr val="E7E7E7"/>
              </a:solidFill>
              <a:latin typeface="Source Code Pro"/>
            </a:endParaRPr>
          </a:p>
          <a:p>
            <a:pPr algn="l"/>
            <a:r>
              <a:rPr sz="1400" b="1" dirty="0">
                <a:solidFill>
                  <a:srgbClr val="E7E7E7"/>
                </a:solidFill>
                <a:latin typeface="Source Code Pro"/>
              </a:rPr>
              <a:t>Reset</a:t>
            </a:r>
            <a:r>
              <a:rPr sz="1400" dirty="0">
                <a:solidFill>
                  <a:srgbClr val="E7E7E7"/>
                </a:solidFill>
                <a:latin typeface="Source Code Pro"/>
              </a:rPr>
              <a:t> </a:t>
            </a:r>
            <a:r>
              <a:rPr sz="1400" b="1" dirty="0">
                <a:solidFill>
                  <a:srgbClr val="4CAE97"/>
                </a:solidFill>
                <a:latin typeface="Source Code Pro"/>
              </a:rPr>
              <a:t>gate</a:t>
            </a:r>
            <a:r>
              <a:rPr sz="1400" dirty="0">
                <a:solidFill>
                  <a:srgbClr val="E7E7E7"/>
                </a:solidFill>
                <a:latin typeface="Source Code Pro"/>
              </a:rPr>
              <a:t>: How much to </a:t>
            </a:r>
            <a:r>
              <a:rPr sz="1400" b="1" dirty="0">
                <a:solidFill>
                  <a:srgbClr val="E7E7E7"/>
                </a:solidFill>
                <a:latin typeface="Source Code Pro"/>
              </a:rPr>
              <a:t>forget</a:t>
            </a:r>
            <a:r>
              <a:rPr sz="1400" dirty="0">
                <a:solidFill>
                  <a:srgbClr val="E7E7E7"/>
                </a:solidFill>
                <a:latin typeface="Source Code Pro"/>
              </a:rPr>
              <a:t>?</a:t>
            </a:r>
          </a:p>
          <a:p>
            <a:pPr algn="l"/>
            <a:r>
              <a:rPr sz="1400" b="1" dirty="0">
                <a:solidFill>
                  <a:srgbClr val="E7E7E7"/>
                </a:solidFill>
                <a:latin typeface="Source Code Pro"/>
              </a:rPr>
              <a:t>Update</a:t>
            </a:r>
            <a:r>
              <a:rPr sz="1400" dirty="0">
                <a:solidFill>
                  <a:srgbClr val="E7E7E7"/>
                </a:solidFill>
                <a:latin typeface="Source Code Pro"/>
              </a:rPr>
              <a:t> </a:t>
            </a:r>
            <a:r>
              <a:rPr sz="1400" b="1" dirty="0">
                <a:solidFill>
                  <a:srgbClr val="94EE6B"/>
                </a:solidFill>
                <a:latin typeface="Source Code Pro"/>
              </a:rPr>
              <a:t>gate</a:t>
            </a:r>
            <a:r>
              <a:rPr sz="1400" dirty="0">
                <a:solidFill>
                  <a:srgbClr val="E7E7E7"/>
                </a:solidFill>
                <a:latin typeface="Source Code Pro"/>
              </a:rPr>
              <a:t>: How much to </a:t>
            </a:r>
            <a:r>
              <a:rPr sz="1400" b="1" dirty="0">
                <a:solidFill>
                  <a:srgbClr val="E7E7E7"/>
                </a:solidFill>
                <a:latin typeface="Source Code Pro"/>
              </a:rPr>
              <a:t>update</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Equation:</a:t>
            </a:r>
          </a:p>
          <a:p>
            <a:pPr algn="l"/>
            <a:r>
              <a:rPr sz="1400" dirty="0">
                <a:solidFill>
                  <a:srgbClr val="E7E7E7"/>
                </a:solidFill>
                <a:latin typeface="Source Code Pro"/>
              </a:rPr>
              <a:t>  </a:t>
            </a:r>
            <a:r>
              <a:rPr sz="1400" dirty="0" err="1">
                <a:solidFill>
                  <a:srgbClr val="E7E7E7"/>
                </a:solidFill>
                <a:latin typeface="Source Code Pro"/>
              </a:rPr>
              <a:t>r_t</a:t>
            </a:r>
            <a:r>
              <a:rPr sz="1400" dirty="0">
                <a:solidFill>
                  <a:srgbClr val="E7E7E7"/>
                </a:solidFill>
                <a:latin typeface="Source Code Pro"/>
              </a:rPr>
              <a:t> = sigmoid(</a:t>
            </a:r>
            <a:r>
              <a:rPr sz="1400" dirty="0" err="1">
                <a:solidFill>
                  <a:srgbClr val="E7E7E7"/>
                </a:solidFill>
                <a:latin typeface="Source Code Pro"/>
              </a:rPr>
              <a:t>W_r</a:t>
            </a:r>
            <a:r>
              <a:rPr sz="1400" dirty="0">
                <a:solidFill>
                  <a:srgbClr val="E7E7E7"/>
                </a:solidFill>
                <a:latin typeface="Source Code Pro"/>
              </a:rPr>
              <a:t>[h_{t-1}, </a:t>
            </a:r>
            <a:r>
              <a:rPr sz="1400" dirty="0" err="1">
                <a:solidFill>
                  <a:srgbClr val="E7E7E7"/>
                </a:solidFill>
                <a:latin typeface="Source Code Pro"/>
              </a:rPr>
              <a:t>x_t</a:t>
            </a:r>
            <a:r>
              <a:rPr sz="1400" dirty="0">
                <a:solidFill>
                  <a:srgbClr val="E7E7E7"/>
                </a:solidFill>
                <a:latin typeface="Source Code Pro"/>
              </a:rPr>
              <a:t>])  # </a:t>
            </a:r>
            <a:r>
              <a:rPr sz="1400" b="1" dirty="0">
                <a:solidFill>
                  <a:srgbClr val="94EE6B"/>
                </a:solidFill>
                <a:latin typeface="Source Code Pro"/>
              </a:rPr>
              <a:t>reset</a:t>
            </a:r>
          </a:p>
          <a:p>
            <a:pPr algn="l"/>
            <a:r>
              <a:rPr sz="1400" dirty="0">
                <a:solidFill>
                  <a:srgbClr val="E7E7E7"/>
                </a:solidFill>
                <a:latin typeface="Source Code Pro"/>
              </a:rPr>
              <a:t>  </a:t>
            </a:r>
            <a:r>
              <a:rPr sz="1400" dirty="0" err="1">
                <a:solidFill>
                  <a:srgbClr val="E7E7E7"/>
                </a:solidFill>
                <a:latin typeface="Source Code Pro"/>
              </a:rPr>
              <a:t>z_t</a:t>
            </a:r>
            <a:r>
              <a:rPr sz="1400" dirty="0">
                <a:solidFill>
                  <a:srgbClr val="E7E7E7"/>
                </a:solidFill>
                <a:latin typeface="Source Code Pro"/>
              </a:rPr>
              <a:t> = sigmoid(</a:t>
            </a:r>
            <a:r>
              <a:rPr sz="1400" dirty="0" err="1">
                <a:solidFill>
                  <a:srgbClr val="E7E7E7"/>
                </a:solidFill>
                <a:latin typeface="Source Code Pro"/>
              </a:rPr>
              <a:t>W_z</a:t>
            </a:r>
            <a:r>
              <a:rPr sz="1400" dirty="0">
                <a:solidFill>
                  <a:srgbClr val="E7E7E7"/>
                </a:solidFill>
                <a:latin typeface="Source Code Pro"/>
              </a:rPr>
              <a:t>[h_{t-1}, </a:t>
            </a:r>
            <a:r>
              <a:rPr sz="1400" dirty="0" err="1">
                <a:solidFill>
                  <a:srgbClr val="E7E7E7"/>
                </a:solidFill>
                <a:latin typeface="Source Code Pro"/>
              </a:rPr>
              <a:t>x_t</a:t>
            </a:r>
            <a:r>
              <a:rPr sz="1400" dirty="0">
                <a:solidFill>
                  <a:srgbClr val="E7E7E7"/>
                </a:solidFill>
                <a:latin typeface="Source Code Pro"/>
              </a:rPr>
              <a:t>])  # </a:t>
            </a:r>
            <a:r>
              <a:rPr sz="1400" b="1" dirty="0">
                <a:solidFill>
                  <a:srgbClr val="E7E7E7"/>
                </a:solidFill>
                <a:latin typeface="Source Code Pro"/>
              </a:rPr>
              <a:t>update</a:t>
            </a:r>
          </a:p>
          <a:p>
            <a:pPr algn="l"/>
            <a:r>
              <a:rPr sz="1400" dirty="0">
                <a:solidFill>
                  <a:srgbClr val="E7E7E7"/>
                </a:solidFill>
                <a:latin typeface="Source Code Pro"/>
              </a:rPr>
              <a:t>  ~</a:t>
            </a:r>
            <a:r>
              <a:rPr sz="1400" dirty="0" err="1">
                <a:solidFill>
                  <a:srgbClr val="E7E7E7"/>
                </a:solidFill>
                <a:latin typeface="Source Code Pro"/>
              </a:rPr>
              <a:t>h_t</a:t>
            </a:r>
            <a:r>
              <a:rPr sz="1400" dirty="0">
                <a:solidFill>
                  <a:srgbClr val="E7E7E7"/>
                </a:solidFill>
                <a:latin typeface="Source Code Pro"/>
              </a:rPr>
              <a:t> = tanh(W[</a:t>
            </a:r>
            <a:r>
              <a:rPr sz="1400" dirty="0" err="1">
                <a:solidFill>
                  <a:srgbClr val="E7E7E7"/>
                </a:solidFill>
                <a:latin typeface="Source Code Pro"/>
              </a:rPr>
              <a:t>r_t</a:t>
            </a:r>
            <a:r>
              <a:rPr sz="1400" dirty="0">
                <a:solidFill>
                  <a:srgbClr val="E7E7E7"/>
                </a:solidFill>
                <a:latin typeface="Source Code Pro"/>
              </a:rPr>
              <a:t> × h_{t-1}, </a:t>
            </a:r>
            <a:r>
              <a:rPr sz="1400" dirty="0" err="1">
                <a:solidFill>
                  <a:srgbClr val="E7E7E7"/>
                </a:solidFill>
                <a:latin typeface="Source Code Pro"/>
              </a:rPr>
              <a:t>x_t</a:t>
            </a:r>
            <a:r>
              <a:rPr sz="1400" dirty="0">
                <a:solidFill>
                  <a:srgbClr val="E7E7E7"/>
                </a:solidFill>
                <a:latin typeface="Source Code Pro"/>
              </a:rPr>
              <a:t>])  # </a:t>
            </a:r>
            <a:r>
              <a:rPr sz="1400" b="1" dirty="0">
                <a:solidFill>
                  <a:srgbClr val="E7E7E7"/>
                </a:solidFill>
                <a:latin typeface="Source Code Pro"/>
              </a:rPr>
              <a:t>candidate</a:t>
            </a:r>
          </a:p>
          <a:p>
            <a:pPr algn="l"/>
            <a:r>
              <a:rPr sz="1400" dirty="0">
                <a:solidFill>
                  <a:srgbClr val="E7E7E7"/>
                </a:solidFill>
                <a:latin typeface="Source Code Pro"/>
              </a:rPr>
              <a:t>  </a:t>
            </a:r>
            <a:r>
              <a:rPr sz="1400" dirty="0" err="1">
                <a:solidFill>
                  <a:srgbClr val="E7E7E7"/>
                </a:solidFill>
                <a:latin typeface="Source Code Pro"/>
              </a:rPr>
              <a:t>h_t</a:t>
            </a:r>
            <a:r>
              <a:rPr sz="1400" dirty="0">
                <a:solidFill>
                  <a:srgbClr val="E7E7E7"/>
                </a:solidFill>
                <a:latin typeface="Source Code Pro"/>
              </a:rPr>
              <a:t> = (1 - </a:t>
            </a:r>
            <a:r>
              <a:rPr sz="1400" dirty="0" err="1">
                <a:solidFill>
                  <a:srgbClr val="E7E7E7"/>
                </a:solidFill>
                <a:latin typeface="Source Code Pro"/>
              </a:rPr>
              <a:t>z_t</a:t>
            </a:r>
            <a:r>
              <a:rPr sz="1400" dirty="0">
                <a:solidFill>
                  <a:srgbClr val="E7E7E7"/>
                </a:solidFill>
                <a:latin typeface="Source Code Pro"/>
              </a:rPr>
              <a:t>) × h_{t-1} + </a:t>
            </a:r>
            <a:r>
              <a:rPr sz="1400" dirty="0" err="1">
                <a:solidFill>
                  <a:srgbClr val="E7E7E7"/>
                </a:solidFill>
                <a:latin typeface="Source Code Pro"/>
              </a:rPr>
              <a:t>z_t</a:t>
            </a:r>
            <a:r>
              <a:rPr sz="1400" dirty="0">
                <a:solidFill>
                  <a:srgbClr val="E7E7E7"/>
                </a:solidFill>
                <a:latin typeface="Source Code Pro"/>
              </a:rPr>
              <a:t> × ~</a:t>
            </a:r>
            <a:r>
              <a:rPr sz="1400" dirty="0" err="1">
                <a:solidFill>
                  <a:srgbClr val="E7E7E7"/>
                </a:solidFill>
                <a:latin typeface="Source Code Pro"/>
              </a:rPr>
              <a:t>h_t</a:t>
            </a:r>
            <a:r>
              <a:rPr sz="1400" dirty="0">
                <a:solidFill>
                  <a:srgbClr val="E7E7E7"/>
                </a:solidFill>
                <a:latin typeface="Source Code Pro"/>
              </a:rPr>
              <a:t>  # </a:t>
            </a:r>
            <a:r>
              <a:rPr sz="1400" b="1" dirty="0">
                <a:solidFill>
                  <a:srgbClr val="E7E7E7"/>
                </a:solidFill>
                <a:latin typeface="Source Code Pro"/>
              </a:rPr>
              <a:t>combine</a:t>
            </a:r>
          </a:p>
          <a:p>
            <a:pPr algn="l"/>
            <a:endParaRPr sz="1400" b="1" dirty="0">
              <a:solidFill>
                <a:srgbClr val="E7E7E7"/>
              </a:solidFill>
              <a:latin typeface="Source Code Pro"/>
            </a:endParaRPr>
          </a:p>
          <a:p>
            <a:pPr algn="l"/>
            <a:r>
              <a:rPr sz="1400" dirty="0">
                <a:solidFill>
                  <a:srgbClr val="E7E7E7"/>
                </a:solidFill>
                <a:latin typeface="Source Code Pro"/>
              </a:rPr>
              <a:t>Result: Faster </a:t>
            </a:r>
            <a:r>
              <a:rPr sz="1400" b="1" dirty="0">
                <a:solidFill>
                  <a:srgbClr val="EC7955"/>
                </a:solidFill>
                <a:latin typeface="Source Code Pro"/>
              </a:rPr>
              <a:t>training</a:t>
            </a:r>
            <a:r>
              <a:rPr sz="1400" dirty="0">
                <a:solidFill>
                  <a:srgbClr val="E7E7E7"/>
                </a:solidFill>
                <a:latin typeface="Source Code Pro"/>
              </a:rPr>
              <a:t>, fewer </a:t>
            </a:r>
            <a:r>
              <a:rPr sz="1400" b="1" dirty="0">
                <a:solidFill>
                  <a:srgbClr val="E7E7E7"/>
                </a:solidFill>
                <a:latin typeface="Source Code Pro"/>
              </a:rPr>
              <a:t>parameters</a:t>
            </a:r>
            <a:r>
              <a:rPr sz="1400" dirty="0">
                <a:solidFill>
                  <a:srgbClr val="E7E7E7"/>
                </a:solidFill>
                <a:latin typeface="Source Code Pro"/>
              </a:rPr>
              <a:t>, similar </a:t>
            </a:r>
            <a:r>
              <a:rPr sz="1400" b="1" dirty="0">
                <a:solidFill>
                  <a:srgbClr val="E7E7E7"/>
                </a:solidFill>
                <a:latin typeface="Source Code Pro"/>
              </a:rPr>
              <a:t>accuracy</a:t>
            </a:r>
            <a:r>
              <a:rPr sz="1400" dirty="0">
                <a:solidFill>
                  <a:srgbClr val="E7E7E7"/>
                </a:solidFill>
                <a:latin typeface="Source Code Pro"/>
              </a:rPr>
              <a:t>.</a:t>
            </a:r>
          </a:p>
        </p:txBody>
      </p:sp>
    </p:spTree>
    <p:extLst>
      <p:ext uri="{BB962C8B-B14F-4D97-AF65-F5344CB8AC3E}">
        <p14:creationId xmlns:p14="http://schemas.microsoft.com/office/powerpoint/2010/main" val="2612402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DAA81348-BCB2-291E-1676-C8F39ACAEE09}"/>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LSTM vs GRU vs Vanilla RNN</a:t>
            </a:r>
          </a:p>
        </p:txBody>
      </p:sp>
      <p:sp>
        <p:nvSpPr>
          <p:cNvPr id="3" name="TextBox 2"/>
          <p:cNvSpPr txBox="1"/>
          <p:nvPr/>
        </p:nvSpPr>
        <p:spPr>
          <a:xfrm>
            <a:off x="256032" y="1463040"/>
            <a:ext cx="8229600" cy="3970318"/>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Vanilla </a:t>
            </a:r>
            <a:r>
              <a:rPr sz="1400" b="1" dirty="0">
                <a:solidFill>
                  <a:srgbClr val="E7E7E7"/>
                </a:solidFill>
                <a:latin typeface="Source Code Pro"/>
              </a:rPr>
              <a:t>RNN</a:t>
            </a:r>
            <a:r>
              <a:rPr sz="1400" dirty="0">
                <a:solidFill>
                  <a:srgbClr val="E7E7E7"/>
                </a:solidFill>
                <a:latin typeface="Source Code Pro"/>
              </a:rPr>
              <a:t>:</a:t>
            </a:r>
          </a:p>
          <a:p>
            <a:pPr algn="l"/>
            <a:r>
              <a:rPr sz="1400" dirty="0">
                <a:solidFill>
                  <a:srgbClr val="E7E7E7"/>
                </a:solidFill>
                <a:latin typeface="Source Code Pro"/>
              </a:rPr>
              <a:t>  </a:t>
            </a:r>
            <a:r>
              <a:rPr sz="1400" b="1" dirty="0">
                <a:solidFill>
                  <a:srgbClr val="E7E7E7"/>
                </a:solidFill>
                <a:latin typeface="Source Code Pro"/>
              </a:rPr>
              <a:t>Pros</a:t>
            </a:r>
            <a:r>
              <a:rPr sz="1400" dirty="0">
                <a:solidFill>
                  <a:srgbClr val="E7E7E7"/>
                </a:solidFill>
                <a:latin typeface="Source Code Pro"/>
              </a:rPr>
              <a:t>: Simple, </a:t>
            </a:r>
            <a:r>
              <a:rPr sz="1400" b="1" dirty="0">
                <a:solidFill>
                  <a:srgbClr val="E7E7E7"/>
                </a:solidFill>
                <a:latin typeface="Source Code Pro"/>
              </a:rPr>
              <a:t>fast</a:t>
            </a:r>
          </a:p>
          <a:p>
            <a:pPr algn="l"/>
            <a:r>
              <a:rPr sz="1400" dirty="0">
                <a:solidFill>
                  <a:srgbClr val="E7E7E7"/>
                </a:solidFill>
                <a:latin typeface="Source Code Pro"/>
              </a:rPr>
              <a:t>  </a:t>
            </a:r>
            <a:r>
              <a:rPr sz="1400" b="1" dirty="0">
                <a:solidFill>
                  <a:srgbClr val="E7E7E7"/>
                </a:solidFill>
                <a:latin typeface="Source Code Pro"/>
              </a:rPr>
              <a:t>Cons</a:t>
            </a:r>
            <a:r>
              <a:rPr sz="1400" dirty="0">
                <a:solidFill>
                  <a:srgbClr val="E7E7E7"/>
                </a:solidFill>
                <a:latin typeface="Source Code Pro"/>
              </a:rPr>
              <a:t>: </a:t>
            </a:r>
            <a:r>
              <a:rPr sz="1400" b="1" dirty="0">
                <a:solidFill>
                  <a:srgbClr val="E7E7E7"/>
                </a:solidFill>
                <a:latin typeface="Source Code Pro"/>
              </a:rPr>
              <a:t>Vanishing</a:t>
            </a:r>
            <a:r>
              <a:rPr sz="1400" dirty="0">
                <a:solidFill>
                  <a:srgbClr val="E7E7E7"/>
                </a:solidFill>
                <a:latin typeface="Source Code Pro"/>
              </a:rPr>
              <a:t> </a:t>
            </a:r>
            <a:r>
              <a:rPr sz="1400" b="1" dirty="0">
                <a:solidFill>
                  <a:srgbClr val="E7E7E7"/>
                </a:solidFill>
                <a:latin typeface="Source Code Pro"/>
              </a:rPr>
              <a:t>gradient</a:t>
            </a:r>
            <a:r>
              <a:rPr sz="1400" dirty="0">
                <a:solidFill>
                  <a:srgbClr val="E7E7E7"/>
                </a:solidFill>
                <a:latin typeface="Source Code Pro"/>
              </a:rPr>
              <a:t>, short-</a:t>
            </a:r>
            <a:r>
              <a:rPr sz="1400" b="1" dirty="0">
                <a:solidFill>
                  <a:srgbClr val="E7E7E7"/>
                </a:solidFill>
                <a:latin typeface="Source Code Pro"/>
              </a:rPr>
              <a:t>range</a:t>
            </a:r>
            <a:r>
              <a:rPr sz="1400" dirty="0">
                <a:solidFill>
                  <a:srgbClr val="E7E7E7"/>
                </a:solidFill>
                <a:latin typeface="Source Code Pro"/>
              </a:rPr>
              <a:t> </a:t>
            </a:r>
            <a:r>
              <a:rPr sz="1400" b="1" dirty="0">
                <a:solidFill>
                  <a:srgbClr val="E7E7E7"/>
                </a:solidFill>
                <a:latin typeface="Source Code Pro"/>
              </a:rPr>
              <a:t>only</a:t>
            </a:r>
          </a:p>
          <a:p>
            <a:pPr algn="l"/>
            <a:endParaRPr sz="1400" b="1" dirty="0">
              <a:solidFill>
                <a:srgbClr val="E7E7E7"/>
              </a:solidFill>
              <a:latin typeface="Source Code Pro"/>
            </a:endParaRPr>
          </a:p>
          <a:p>
            <a:pPr algn="l"/>
            <a:r>
              <a:rPr sz="1400" dirty="0">
                <a:solidFill>
                  <a:srgbClr val="E7E7E7"/>
                </a:solidFill>
                <a:latin typeface="Source Code Pro"/>
              </a:rPr>
              <a:t>LSTM:</a:t>
            </a:r>
          </a:p>
          <a:p>
            <a:pPr algn="l"/>
            <a:r>
              <a:rPr sz="1400" dirty="0">
                <a:solidFill>
                  <a:srgbClr val="E7E7E7"/>
                </a:solidFill>
                <a:latin typeface="Source Code Pro"/>
              </a:rPr>
              <a:t>  </a:t>
            </a:r>
            <a:r>
              <a:rPr sz="1400" b="1" dirty="0">
                <a:solidFill>
                  <a:srgbClr val="E7E7E7"/>
                </a:solidFill>
                <a:latin typeface="Source Code Pro"/>
              </a:rPr>
              <a:t>Pros</a:t>
            </a:r>
            <a:r>
              <a:rPr sz="1400" dirty="0">
                <a:solidFill>
                  <a:srgbClr val="E7E7E7"/>
                </a:solidFill>
                <a:latin typeface="Source Code Pro"/>
              </a:rPr>
              <a:t>: Long-</a:t>
            </a:r>
            <a:r>
              <a:rPr sz="1400" b="1" dirty="0">
                <a:solidFill>
                  <a:srgbClr val="E7E7E7"/>
                </a:solidFill>
                <a:latin typeface="Source Code Pro"/>
              </a:rPr>
              <a:t>range</a:t>
            </a:r>
            <a:r>
              <a:rPr sz="1400" dirty="0">
                <a:solidFill>
                  <a:srgbClr val="E7E7E7"/>
                </a:solidFill>
                <a:latin typeface="Source Code Pro"/>
              </a:rPr>
              <a:t> </a:t>
            </a:r>
            <a:r>
              <a:rPr sz="1400" b="1" dirty="0">
                <a:solidFill>
                  <a:srgbClr val="EC7955"/>
                </a:solidFill>
                <a:latin typeface="Source Code Pro"/>
              </a:rPr>
              <a:t>memory</a:t>
            </a:r>
            <a:r>
              <a:rPr sz="1400" dirty="0">
                <a:solidFill>
                  <a:srgbClr val="E7E7E7"/>
                </a:solidFill>
                <a:latin typeface="Source Code Pro"/>
              </a:rPr>
              <a:t>, </a:t>
            </a:r>
            <a:r>
              <a:rPr sz="1400" b="1" dirty="0">
                <a:solidFill>
                  <a:srgbClr val="E7E7E7"/>
                </a:solidFill>
                <a:latin typeface="Source Code Pro"/>
              </a:rPr>
              <a:t>works</a:t>
            </a:r>
            <a:r>
              <a:rPr sz="1400" dirty="0">
                <a:solidFill>
                  <a:srgbClr val="E7E7E7"/>
                </a:solidFill>
                <a:latin typeface="Source Code Pro"/>
              </a:rPr>
              <a:t> </a:t>
            </a:r>
            <a:r>
              <a:rPr sz="1400" b="1" dirty="0">
                <a:solidFill>
                  <a:srgbClr val="E7E7E7"/>
                </a:solidFill>
                <a:latin typeface="Source Code Pro"/>
              </a:rPr>
              <a:t>well</a:t>
            </a:r>
            <a:r>
              <a:rPr sz="1400" dirty="0">
                <a:solidFill>
                  <a:srgbClr val="E7E7E7"/>
                </a:solidFill>
                <a:latin typeface="Source Code Pro"/>
              </a:rPr>
              <a:t>, </a:t>
            </a:r>
            <a:r>
              <a:rPr sz="1400" b="1" dirty="0">
                <a:solidFill>
                  <a:srgbClr val="E7E7E7"/>
                </a:solidFill>
                <a:latin typeface="Source Code Pro"/>
              </a:rPr>
              <a:t>standard</a:t>
            </a:r>
          </a:p>
          <a:p>
            <a:pPr algn="l"/>
            <a:r>
              <a:rPr sz="1400" dirty="0">
                <a:solidFill>
                  <a:srgbClr val="E7E7E7"/>
                </a:solidFill>
                <a:latin typeface="Source Code Pro"/>
              </a:rPr>
              <a:t>  </a:t>
            </a:r>
            <a:r>
              <a:rPr sz="1400" b="1" dirty="0">
                <a:solidFill>
                  <a:srgbClr val="E7E7E7"/>
                </a:solidFill>
                <a:latin typeface="Source Code Pro"/>
              </a:rPr>
              <a:t>Cons</a:t>
            </a:r>
            <a:r>
              <a:rPr sz="1400" dirty="0">
                <a:solidFill>
                  <a:srgbClr val="E7E7E7"/>
                </a:solidFill>
                <a:latin typeface="Source Code Pro"/>
              </a:rPr>
              <a:t>: More </a:t>
            </a:r>
            <a:r>
              <a:rPr sz="1400" b="1" dirty="0">
                <a:solidFill>
                  <a:srgbClr val="FD4A4A"/>
                </a:solidFill>
                <a:latin typeface="Source Code Pro"/>
              </a:rPr>
              <a:t>parameters</a:t>
            </a:r>
            <a:r>
              <a:rPr sz="1400" dirty="0">
                <a:solidFill>
                  <a:srgbClr val="E7E7E7"/>
                </a:solidFill>
                <a:latin typeface="Source Code Pro"/>
              </a:rPr>
              <a:t>, </a:t>
            </a:r>
            <a:r>
              <a:rPr sz="1400" b="1" dirty="0">
                <a:solidFill>
                  <a:srgbClr val="E7E7E7"/>
                </a:solidFill>
                <a:latin typeface="Source Code Pro"/>
              </a:rPr>
              <a:t>slower</a:t>
            </a:r>
            <a:r>
              <a:rPr sz="1400" dirty="0">
                <a:solidFill>
                  <a:srgbClr val="E7E7E7"/>
                </a:solidFill>
                <a:latin typeface="Source Code Pro"/>
              </a:rPr>
              <a:t> </a:t>
            </a:r>
            <a:r>
              <a:rPr sz="1400" b="1" dirty="0">
                <a:solidFill>
                  <a:srgbClr val="E7E7E7"/>
                </a:solidFill>
                <a:latin typeface="Source Code Pro"/>
              </a:rPr>
              <a:t>training</a:t>
            </a:r>
          </a:p>
          <a:p>
            <a:pPr algn="l"/>
            <a:endParaRPr sz="1400" b="1" dirty="0">
              <a:solidFill>
                <a:srgbClr val="E7E7E7"/>
              </a:solidFill>
              <a:latin typeface="Source Code Pro"/>
            </a:endParaRPr>
          </a:p>
          <a:p>
            <a:pPr algn="l"/>
            <a:r>
              <a:rPr sz="1400" dirty="0">
                <a:solidFill>
                  <a:srgbClr val="E7E7E7"/>
                </a:solidFill>
                <a:latin typeface="Source Code Pro"/>
              </a:rPr>
              <a:t>GRU:</a:t>
            </a:r>
          </a:p>
          <a:p>
            <a:pPr algn="l"/>
            <a:r>
              <a:rPr sz="1400" dirty="0">
                <a:solidFill>
                  <a:srgbClr val="E7E7E7"/>
                </a:solidFill>
                <a:latin typeface="Source Code Pro"/>
              </a:rPr>
              <a:t>  </a:t>
            </a:r>
            <a:r>
              <a:rPr sz="1400" b="1" dirty="0">
                <a:solidFill>
                  <a:srgbClr val="E7E7E7"/>
                </a:solidFill>
                <a:latin typeface="Source Code Pro"/>
              </a:rPr>
              <a:t>Pros</a:t>
            </a:r>
            <a:r>
              <a:rPr sz="1400" dirty="0">
                <a:solidFill>
                  <a:srgbClr val="E7E7E7"/>
                </a:solidFill>
                <a:latin typeface="Source Code Pro"/>
              </a:rPr>
              <a:t>: Simpler than LSTM, </a:t>
            </a:r>
            <a:r>
              <a:rPr sz="1400" b="1" dirty="0">
                <a:solidFill>
                  <a:srgbClr val="E7E7E7"/>
                </a:solidFill>
                <a:latin typeface="Source Code Pro"/>
              </a:rPr>
              <a:t>fewer</a:t>
            </a:r>
            <a:r>
              <a:rPr sz="1400" dirty="0">
                <a:solidFill>
                  <a:srgbClr val="E7E7E7"/>
                </a:solidFill>
                <a:latin typeface="Source Code Pro"/>
              </a:rPr>
              <a:t> </a:t>
            </a:r>
            <a:r>
              <a:rPr sz="1400" b="1" dirty="0">
                <a:solidFill>
                  <a:srgbClr val="FD4A4A"/>
                </a:solidFill>
                <a:latin typeface="Source Code Pro"/>
              </a:rPr>
              <a:t>parameters</a:t>
            </a:r>
            <a:r>
              <a:rPr sz="1400" dirty="0">
                <a:solidFill>
                  <a:srgbClr val="E7E7E7"/>
                </a:solidFill>
                <a:latin typeface="Source Code Pro"/>
              </a:rPr>
              <a:t>, </a:t>
            </a:r>
            <a:r>
              <a:rPr sz="1400" b="1" dirty="0">
                <a:solidFill>
                  <a:srgbClr val="BD64B5"/>
                </a:solidFill>
                <a:latin typeface="Source Code Pro"/>
              </a:rPr>
              <a:t>faster</a:t>
            </a:r>
          </a:p>
          <a:p>
            <a:pPr algn="l"/>
            <a:r>
              <a:rPr sz="1400" dirty="0">
                <a:solidFill>
                  <a:srgbClr val="E7E7E7"/>
                </a:solidFill>
                <a:latin typeface="Source Code Pro"/>
              </a:rPr>
              <a:t>  </a:t>
            </a:r>
            <a:r>
              <a:rPr sz="1400" b="1" dirty="0">
                <a:solidFill>
                  <a:srgbClr val="E7E7E7"/>
                </a:solidFill>
                <a:latin typeface="Source Code Pro"/>
              </a:rPr>
              <a:t>Cons</a:t>
            </a:r>
            <a:r>
              <a:rPr sz="1400" dirty="0">
                <a:solidFill>
                  <a:srgbClr val="E7E7E7"/>
                </a:solidFill>
                <a:latin typeface="Source Code Pro"/>
              </a:rPr>
              <a:t>: Slightly </a:t>
            </a:r>
            <a:r>
              <a:rPr sz="1400" b="1" dirty="0">
                <a:solidFill>
                  <a:srgbClr val="E7E7E7"/>
                </a:solidFill>
                <a:latin typeface="Source Code Pro"/>
              </a:rPr>
              <a:t>less</a:t>
            </a:r>
            <a:r>
              <a:rPr sz="1400" dirty="0">
                <a:solidFill>
                  <a:srgbClr val="E7E7E7"/>
                </a:solidFill>
                <a:latin typeface="Source Code Pro"/>
              </a:rPr>
              <a:t> </a:t>
            </a:r>
            <a:r>
              <a:rPr sz="1400" b="1" dirty="0">
                <a:solidFill>
                  <a:srgbClr val="E7E7E7"/>
                </a:solidFill>
                <a:latin typeface="Source Code Pro"/>
              </a:rPr>
              <a:t>powerful</a:t>
            </a:r>
            <a:r>
              <a:rPr sz="1400" dirty="0">
                <a:solidFill>
                  <a:srgbClr val="E7E7E7"/>
                </a:solidFill>
                <a:latin typeface="Source Code Pro"/>
              </a:rPr>
              <a:t> than LSTM</a:t>
            </a:r>
          </a:p>
          <a:p>
            <a:pPr algn="l"/>
            <a:endParaRPr sz="1400" dirty="0">
              <a:solidFill>
                <a:srgbClr val="E7E7E7"/>
              </a:solidFill>
              <a:latin typeface="Source Code Pro"/>
            </a:endParaRPr>
          </a:p>
          <a:p>
            <a:pPr algn="l"/>
            <a:r>
              <a:rPr sz="1400" dirty="0">
                <a:solidFill>
                  <a:srgbClr val="E7E7E7"/>
                </a:solidFill>
                <a:latin typeface="Source Code Pro"/>
              </a:rPr>
              <a:t>When to use:</a:t>
            </a:r>
          </a:p>
          <a:p>
            <a:pPr algn="l"/>
            <a:r>
              <a:rPr sz="1400" dirty="0">
                <a:solidFill>
                  <a:srgbClr val="E7E7E7"/>
                </a:solidFill>
                <a:latin typeface="Source Code Pro"/>
              </a:rPr>
              <a:t>  - </a:t>
            </a:r>
            <a:r>
              <a:rPr sz="1400" b="1" dirty="0">
                <a:solidFill>
                  <a:srgbClr val="E7E7E7"/>
                </a:solidFill>
                <a:latin typeface="Source Code Pro"/>
              </a:rPr>
              <a:t>Small</a:t>
            </a:r>
            <a:r>
              <a:rPr sz="1400" dirty="0">
                <a:solidFill>
                  <a:srgbClr val="E7E7E7"/>
                </a:solidFill>
                <a:latin typeface="Source Code Pro"/>
              </a:rPr>
              <a:t> </a:t>
            </a:r>
            <a:r>
              <a:rPr sz="1400" b="1" dirty="0">
                <a:solidFill>
                  <a:srgbClr val="E7E7E7"/>
                </a:solidFill>
                <a:latin typeface="Source Code Pro"/>
              </a:rPr>
              <a:t>dataset</a:t>
            </a:r>
            <a:r>
              <a:rPr sz="1400" dirty="0">
                <a:solidFill>
                  <a:srgbClr val="E7E7E7"/>
                </a:solidFill>
                <a:latin typeface="Source Code Pro"/>
              </a:rPr>
              <a:t>? GRU</a:t>
            </a:r>
          </a:p>
          <a:p>
            <a:pPr algn="l"/>
            <a:r>
              <a:rPr sz="1400" dirty="0">
                <a:solidFill>
                  <a:srgbClr val="E7E7E7"/>
                </a:solidFill>
                <a:latin typeface="Source Code Pro"/>
              </a:rPr>
              <a:t>  - </a:t>
            </a:r>
            <a:r>
              <a:rPr sz="1400" b="1" dirty="0">
                <a:solidFill>
                  <a:srgbClr val="E7E7E7"/>
                </a:solidFill>
                <a:latin typeface="Source Code Pro"/>
              </a:rPr>
              <a:t>Large</a:t>
            </a:r>
            <a:r>
              <a:rPr sz="1400" dirty="0">
                <a:solidFill>
                  <a:srgbClr val="E7E7E7"/>
                </a:solidFill>
                <a:latin typeface="Source Code Pro"/>
              </a:rPr>
              <a:t> </a:t>
            </a:r>
            <a:r>
              <a:rPr sz="1400" b="1" dirty="0">
                <a:solidFill>
                  <a:srgbClr val="E7E7E7"/>
                </a:solidFill>
                <a:latin typeface="Source Code Pro"/>
              </a:rPr>
              <a:t>dataset</a:t>
            </a:r>
            <a:r>
              <a:rPr sz="1400" dirty="0">
                <a:solidFill>
                  <a:srgbClr val="E7E7E7"/>
                </a:solidFill>
                <a:latin typeface="Source Code Pro"/>
              </a:rPr>
              <a:t> + </a:t>
            </a:r>
            <a:r>
              <a:rPr sz="1400" b="1" dirty="0">
                <a:solidFill>
                  <a:srgbClr val="E7E7E7"/>
                </a:solidFill>
                <a:latin typeface="Source Code Pro"/>
              </a:rPr>
              <a:t>complex</a:t>
            </a:r>
            <a:r>
              <a:rPr sz="1400" dirty="0">
                <a:solidFill>
                  <a:srgbClr val="E7E7E7"/>
                </a:solidFill>
                <a:latin typeface="Source Code Pro"/>
              </a:rPr>
              <a:t>? LSTM</a:t>
            </a:r>
          </a:p>
          <a:p>
            <a:pPr algn="l"/>
            <a:r>
              <a:rPr sz="1400" dirty="0">
                <a:solidFill>
                  <a:srgbClr val="E7E7E7"/>
                </a:solidFill>
                <a:latin typeface="Source Code Pro"/>
              </a:rPr>
              <a:t>  - Quick </a:t>
            </a:r>
            <a:r>
              <a:rPr sz="1400" b="1" dirty="0">
                <a:solidFill>
                  <a:srgbClr val="E7E7E7"/>
                </a:solidFill>
                <a:latin typeface="Source Code Pro"/>
              </a:rPr>
              <a:t>prototype</a:t>
            </a:r>
            <a:r>
              <a:rPr sz="1400" dirty="0">
                <a:solidFill>
                  <a:srgbClr val="E7E7E7"/>
                </a:solidFill>
                <a:latin typeface="Source Code Pro"/>
              </a:rPr>
              <a:t>? GRU</a:t>
            </a:r>
          </a:p>
          <a:p>
            <a:pPr algn="l"/>
            <a:r>
              <a:rPr sz="1400" dirty="0">
                <a:solidFill>
                  <a:srgbClr val="E7E7E7"/>
                </a:solidFill>
                <a:latin typeface="Source Code Pro"/>
              </a:rPr>
              <a:t>  - Production </a:t>
            </a:r>
            <a:r>
              <a:rPr sz="1400" b="1" dirty="0">
                <a:solidFill>
                  <a:srgbClr val="BD64B5"/>
                </a:solidFill>
                <a:latin typeface="Source Code Pro"/>
              </a:rPr>
              <a:t>model</a:t>
            </a:r>
            <a:r>
              <a:rPr sz="1400" dirty="0">
                <a:solidFill>
                  <a:srgbClr val="E7E7E7"/>
                </a:solidFill>
                <a:latin typeface="Source Code Pro"/>
              </a:rPr>
              <a:t>? LSTM</a:t>
            </a:r>
          </a:p>
        </p:txBody>
      </p:sp>
    </p:spTree>
    <p:extLst>
      <p:ext uri="{BB962C8B-B14F-4D97-AF65-F5344CB8AC3E}">
        <p14:creationId xmlns:p14="http://schemas.microsoft.com/office/powerpoint/2010/main" val="3796202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3952D5D7-F6E2-949D-ACAB-7F8E8A9166BE}"/>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RNN for Time-Series Prediction</a:t>
            </a:r>
          </a:p>
        </p:txBody>
      </p:sp>
      <p:sp>
        <p:nvSpPr>
          <p:cNvPr id="3" name="TextBox 2"/>
          <p:cNvSpPr txBox="1"/>
          <p:nvPr/>
        </p:nvSpPr>
        <p:spPr>
          <a:xfrm>
            <a:off x="256032" y="1463040"/>
            <a:ext cx="8229600" cy="3754874"/>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Time-</a:t>
            </a:r>
            <a:r>
              <a:rPr sz="1400" b="1" dirty="0">
                <a:solidFill>
                  <a:srgbClr val="E7E7E7"/>
                </a:solidFill>
                <a:latin typeface="Source Code Pro"/>
              </a:rPr>
              <a:t>series</a:t>
            </a:r>
            <a:r>
              <a:rPr sz="1400" dirty="0">
                <a:solidFill>
                  <a:srgbClr val="E7E7E7"/>
                </a:solidFill>
                <a:latin typeface="Source Code Pro"/>
              </a:rPr>
              <a:t>: Stock </a:t>
            </a:r>
            <a:r>
              <a:rPr sz="1400" b="1" dirty="0">
                <a:solidFill>
                  <a:srgbClr val="E7E7E7"/>
                </a:solidFill>
                <a:latin typeface="Source Code Pro"/>
              </a:rPr>
              <a:t>prices</a:t>
            </a:r>
            <a:r>
              <a:rPr sz="1400" dirty="0">
                <a:solidFill>
                  <a:srgbClr val="E7E7E7"/>
                </a:solidFill>
                <a:latin typeface="Source Code Pro"/>
              </a:rPr>
              <a:t>, weather, </a:t>
            </a:r>
            <a:r>
              <a:rPr sz="1400" b="1" dirty="0">
                <a:solidFill>
                  <a:srgbClr val="E7E7E7"/>
                </a:solidFill>
                <a:latin typeface="Source Code Pro"/>
              </a:rPr>
              <a:t>traffic</a:t>
            </a:r>
            <a:r>
              <a:rPr sz="1400" dirty="0">
                <a:solidFill>
                  <a:srgbClr val="E7E7E7"/>
                </a:solidFill>
                <a:latin typeface="Source Code Pro"/>
              </a:rPr>
              <a:t>, </a:t>
            </a:r>
            <a:r>
              <a:rPr sz="1400" b="1" dirty="0">
                <a:solidFill>
                  <a:srgbClr val="E7E7E7"/>
                </a:solidFill>
                <a:latin typeface="Source Code Pro"/>
              </a:rPr>
              <a:t>heart</a:t>
            </a:r>
            <a:r>
              <a:rPr sz="1400" dirty="0">
                <a:solidFill>
                  <a:srgbClr val="E7E7E7"/>
                </a:solidFill>
                <a:latin typeface="Source Code Pro"/>
              </a:rPr>
              <a:t> </a:t>
            </a:r>
            <a:r>
              <a:rPr sz="1400" b="1" dirty="0">
                <a:solidFill>
                  <a:srgbClr val="94EE6B"/>
                </a:solidFill>
                <a:latin typeface="Source Code Pro"/>
              </a:rPr>
              <a:t>rate</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Input: Previous N </a:t>
            </a:r>
            <a:r>
              <a:rPr sz="1400" b="1" dirty="0">
                <a:solidFill>
                  <a:srgbClr val="E7E7E7"/>
                </a:solidFill>
                <a:latin typeface="Source Code Pro"/>
              </a:rPr>
              <a:t>values</a:t>
            </a:r>
            <a:r>
              <a:rPr sz="1400" dirty="0">
                <a:solidFill>
                  <a:srgbClr val="E7E7E7"/>
                </a:solidFill>
                <a:latin typeface="Source Code Pro"/>
              </a:rPr>
              <a:t> [x_1, x_2, ..., </a:t>
            </a:r>
            <a:r>
              <a:rPr sz="1400" dirty="0" err="1">
                <a:solidFill>
                  <a:srgbClr val="E7E7E7"/>
                </a:solidFill>
                <a:latin typeface="Source Code Pro"/>
              </a:rPr>
              <a:t>x_N</a:t>
            </a:r>
            <a:r>
              <a:rPr sz="1400" dirty="0">
                <a:solidFill>
                  <a:srgbClr val="E7E7E7"/>
                </a:solidFill>
                <a:latin typeface="Source Code Pro"/>
              </a:rPr>
              <a:t>]</a:t>
            </a:r>
          </a:p>
          <a:p>
            <a:pPr algn="l"/>
            <a:r>
              <a:rPr sz="1400" dirty="0">
                <a:solidFill>
                  <a:srgbClr val="E7E7E7"/>
                </a:solidFill>
                <a:latin typeface="Source Code Pro"/>
              </a:rPr>
              <a:t>Output: Next </a:t>
            </a:r>
            <a:r>
              <a:rPr sz="1400" b="1" dirty="0">
                <a:solidFill>
                  <a:srgbClr val="E7E7E7"/>
                </a:solidFill>
                <a:latin typeface="Source Code Pro"/>
              </a:rPr>
              <a:t>value</a:t>
            </a:r>
            <a:r>
              <a:rPr sz="1400" dirty="0">
                <a:solidFill>
                  <a:srgbClr val="E7E7E7"/>
                </a:solidFill>
                <a:latin typeface="Source Code Pro"/>
              </a:rPr>
              <a:t> y_{N+1}</a:t>
            </a:r>
          </a:p>
          <a:p>
            <a:pPr algn="l"/>
            <a:endParaRPr sz="1400" dirty="0">
              <a:solidFill>
                <a:srgbClr val="E7E7E7"/>
              </a:solidFill>
              <a:latin typeface="Source Code Pro"/>
            </a:endParaRPr>
          </a:p>
          <a:p>
            <a:pPr algn="l"/>
            <a:r>
              <a:rPr sz="1400" dirty="0">
                <a:solidFill>
                  <a:srgbClr val="E7E7E7"/>
                </a:solidFill>
                <a:latin typeface="Source Code Pro"/>
              </a:rPr>
              <a:t>Example:</a:t>
            </a:r>
          </a:p>
          <a:p>
            <a:pPr algn="l"/>
            <a:r>
              <a:rPr sz="1400" dirty="0">
                <a:solidFill>
                  <a:srgbClr val="E7E7E7"/>
                </a:solidFill>
                <a:latin typeface="Source Code Pro"/>
              </a:rPr>
              <a:t>  Stock </a:t>
            </a:r>
            <a:r>
              <a:rPr sz="1400" b="1" dirty="0">
                <a:solidFill>
                  <a:srgbClr val="E7E7E7"/>
                </a:solidFill>
                <a:latin typeface="Source Code Pro"/>
              </a:rPr>
              <a:t>prices</a:t>
            </a:r>
            <a:r>
              <a:rPr sz="1400" dirty="0">
                <a:solidFill>
                  <a:srgbClr val="E7E7E7"/>
                </a:solidFill>
                <a:latin typeface="Source Code Pro"/>
              </a:rPr>
              <a:t>: [100, 102, 101, 103, 104]</a:t>
            </a:r>
          </a:p>
          <a:p>
            <a:pPr algn="l"/>
            <a:r>
              <a:rPr sz="1400" dirty="0">
                <a:solidFill>
                  <a:srgbClr val="E7E7E7"/>
                </a:solidFill>
                <a:latin typeface="Source Code Pro"/>
              </a:rPr>
              <a:t>  Predict: 105?</a:t>
            </a:r>
          </a:p>
          <a:p>
            <a:pPr algn="l"/>
            <a:endParaRPr sz="1400" dirty="0">
              <a:solidFill>
                <a:srgbClr val="E7E7E7"/>
              </a:solidFill>
              <a:latin typeface="Source Code Pro"/>
            </a:endParaRPr>
          </a:p>
          <a:p>
            <a:pPr algn="l"/>
            <a:r>
              <a:rPr sz="1400" dirty="0">
                <a:solidFill>
                  <a:srgbClr val="E7E7E7"/>
                </a:solidFill>
                <a:latin typeface="Source Code Pro"/>
              </a:rPr>
              <a:t>LSTM learns </a:t>
            </a:r>
            <a:r>
              <a:rPr sz="1400" b="1" dirty="0">
                <a:solidFill>
                  <a:srgbClr val="E81A81"/>
                </a:solidFill>
                <a:latin typeface="Source Code Pro"/>
              </a:rPr>
              <a:t>patterns</a:t>
            </a:r>
            <a:r>
              <a:rPr sz="1400" dirty="0">
                <a:solidFill>
                  <a:srgbClr val="E7E7E7"/>
                </a:solidFill>
                <a:latin typeface="Source Code Pro"/>
              </a:rPr>
              <a:t>:</a:t>
            </a:r>
          </a:p>
          <a:p>
            <a:pPr algn="l"/>
            <a:r>
              <a:rPr sz="1400" dirty="0">
                <a:solidFill>
                  <a:srgbClr val="E7E7E7"/>
                </a:solidFill>
                <a:latin typeface="Source Code Pro"/>
              </a:rPr>
              <a:t>  - Trend (</a:t>
            </a:r>
            <a:r>
              <a:rPr sz="1400" b="1" dirty="0">
                <a:solidFill>
                  <a:srgbClr val="E7E7E7"/>
                </a:solidFill>
                <a:latin typeface="Source Code Pro"/>
              </a:rPr>
              <a:t>upward</a:t>
            </a:r>
            <a:r>
              <a:rPr sz="1400" dirty="0">
                <a:solidFill>
                  <a:srgbClr val="E7E7E7"/>
                </a:solidFill>
                <a:latin typeface="Source Code Pro"/>
              </a:rPr>
              <a:t>? </a:t>
            </a:r>
            <a:r>
              <a:rPr sz="1400" b="1" dirty="0">
                <a:solidFill>
                  <a:srgbClr val="E7E7E7"/>
                </a:solidFill>
                <a:latin typeface="Source Code Pro"/>
              </a:rPr>
              <a:t>downward</a:t>
            </a:r>
            <a:r>
              <a:rPr sz="1400" dirty="0">
                <a:solidFill>
                  <a:srgbClr val="E7E7E7"/>
                </a:solidFill>
                <a:latin typeface="Source Code Pro"/>
              </a:rPr>
              <a:t>?)</a:t>
            </a:r>
          </a:p>
          <a:p>
            <a:pPr algn="l"/>
            <a:r>
              <a:rPr sz="1400" dirty="0">
                <a:solidFill>
                  <a:srgbClr val="E7E7E7"/>
                </a:solidFill>
                <a:latin typeface="Source Code Pro"/>
              </a:rPr>
              <a:t>  - </a:t>
            </a:r>
            <a:r>
              <a:rPr sz="1400" b="1" dirty="0">
                <a:solidFill>
                  <a:srgbClr val="E81A81"/>
                </a:solidFill>
                <a:latin typeface="Source Code Pro"/>
              </a:rPr>
              <a:t>Seasonality</a:t>
            </a:r>
            <a:r>
              <a:rPr sz="1400" dirty="0">
                <a:solidFill>
                  <a:srgbClr val="E7E7E7"/>
                </a:solidFill>
                <a:latin typeface="Source Code Pro"/>
              </a:rPr>
              <a:t> (</a:t>
            </a:r>
            <a:r>
              <a:rPr sz="1400" b="1" dirty="0">
                <a:solidFill>
                  <a:srgbClr val="E7E7E7"/>
                </a:solidFill>
                <a:latin typeface="Source Code Pro"/>
              </a:rPr>
              <a:t>weekly</a:t>
            </a:r>
            <a:r>
              <a:rPr sz="1400" dirty="0">
                <a:solidFill>
                  <a:srgbClr val="E7E7E7"/>
                </a:solidFill>
                <a:latin typeface="Source Code Pro"/>
              </a:rPr>
              <a:t>? </a:t>
            </a:r>
            <a:r>
              <a:rPr sz="1400" b="1" dirty="0">
                <a:solidFill>
                  <a:srgbClr val="E7E7E7"/>
                </a:solidFill>
                <a:latin typeface="Source Code Pro"/>
              </a:rPr>
              <a:t>yearly</a:t>
            </a:r>
            <a:r>
              <a:rPr sz="1400" dirty="0">
                <a:solidFill>
                  <a:srgbClr val="E7E7E7"/>
                </a:solidFill>
                <a:latin typeface="Source Code Pro"/>
              </a:rPr>
              <a:t>?)</a:t>
            </a:r>
          </a:p>
          <a:p>
            <a:pPr algn="l"/>
            <a:r>
              <a:rPr sz="1400" dirty="0">
                <a:solidFill>
                  <a:srgbClr val="E7E7E7"/>
                </a:solidFill>
                <a:latin typeface="Source Code Pro"/>
              </a:rPr>
              <a:t>  - </a:t>
            </a:r>
            <a:r>
              <a:rPr sz="1400" b="1" dirty="0">
                <a:solidFill>
                  <a:srgbClr val="E7E7E7"/>
                </a:solidFill>
                <a:latin typeface="Source Code Pro"/>
              </a:rPr>
              <a:t>Volatility</a:t>
            </a:r>
            <a:r>
              <a:rPr sz="1400" dirty="0">
                <a:solidFill>
                  <a:srgbClr val="E7E7E7"/>
                </a:solidFill>
                <a:latin typeface="Source Code Pro"/>
              </a:rPr>
              <a:t> (</a:t>
            </a:r>
            <a:r>
              <a:rPr sz="1400" b="1" dirty="0">
                <a:solidFill>
                  <a:srgbClr val="EC7955"/>
                </a:solidFill>
                <a:latin typeface="Source Code Pro"/>
              </a:rPr>
              <a:t>stable</a:t>
            </a:r>
            <a:r>
              <a:rPr sz="1400" dirty="0">
                <a:solidFill>
                  <a:srgbClr val="E7E7E7"/>
                </a:solidFill>
                <a:latin typeface="Source Code Pro"/>
              </a:rPr>
              <a:t>? </a:t>
            </a:r>
            <a:r>
              <a:rPr sz="1400" b="1" dirty="0">
                <a:solidFill>
                  <a:srgbClr val="E7E7E7"/>
                </a:solidFill>
                <a:latin typeface="Source Code Pro"/>
              </a:rPr>
              <a:t>jumpy</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Sequence-to-</a:t>
            </a:r>
            <a:r>
              <a:rPr sz="1400" b="1" dirty="0">
                <a:solidFill>
                  <a:srgbClr val="94EE6B"/>
                </a:solidFill>
                <a:latin typeface="Source Code Pro"/>
              </a:rPr>
              <a:t>scalar</a:t>
            </a:r>
            <a:r>
              <a:rPr sz="1400" dirty="0">
                <a:solidFill>
                  <a:srgbClr val="E7E7E7"/>
                </a:solidFill>
                <a:latin typeface="Source Code Pro"/>
              </a:rPr>
              <a:t> </a:t>
            </a:r>
            <a:r>
              <a:rPr sz="1400" b="1" dirty="0">
                <a:solidFill>
                  <a:srgbClr val="E7E7E7"/>
                </a:solidFill>
                <a:latin typeface="Source Code Pro"/>
              </a:rPr>
              <a:t>architecture</a:t>
            </a:r>
            <a:r>
              <a:rPr sz="1400" dirty="0">
                <a:solidFill>
                  <a:srgbClr val="E7E7E7"/>
                </a:solidFill>
                <a:latin typeface="Source Code Pro"/>
              </a:rPr>
              <a:t>:</a:t>
            </a:r>
          </a:p>
          <a:p>
            <a:pPr algn="l"/>
            <a:r>
              <a:rPr sz="1400" dirty="0">
                <a:solidFill>
                  <a:srgbClr val="E7E7E7"/>
                </a:solidFill>
                <a:latin typeface="Source Code Pro"/>
              </a:rPr>
              <a:t>  Input → LSTM → LSTM → LSTM → Dense(1) → Prediction</a:t>
            </a:r>
          </a:p>
        </p:txBody>
      </p:sp>
    </p:spTree>
    <p:extLst>
      <p:ext uri="{BB962C8B-B14F-4D97-AF65-F5344CB8AC3E}">
        <p14:creationId xmlns:p14="http://schemas.microsoft.com/office/powerpoint/2010/main" val="1934597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C514BACC-F5A4-1251-0F2E-8DC477A22147}"/>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RNN for Text Classification</a:t>
            </a:r>
          </a:p>
        </p:txBody>
      </p:sp>
      <p:sp>
        <p:nvSpPr>
          <p:cNvPr id="3" name="TextBox 2"/>
          <p:cNvSpPr txBox="1"/>
          <p:nvPr/>
        </p:nvSpPr>
        <p:spPr>
          <a:xfrm>
            <a:off x="256032" y="1463040"/>
            <a:ext cx="8229600" cy="4185761"/>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Text </a:t>
            </a:r>
            <a:r>
              <a:rPr sz="1400" b="1" dirty="0">
                <a:solidFill>
                  <a:srgbClr val="E7E7E7"/>
                </a:solidFill>
                <a:latin typeface="Source Code Pro"/>
              </a:rPr>
              <a:t>classification</a:t>
            </a:r>
            <a:r>
              <a:rPr sz="1400" dirty="0">
                <a:solidFill>
                  <a:srgbClr val="E7E7E7"/>
                </a:solidFill>
                <a:latin typeface="Source Code Pro"/>
              </a:rPr>
              <a:t>: </a:t>
            </a:r>
            <a:r>
              <a:rPr sz="1400" b="1" dirty="0">
                <a:solidFill>
                  <a:srgbClr val="E7E7E7"/>
                </a:solidFill>
                <a:latin typeface="Source Code Pro"/>
              </a:rPr>
              <a:t>Sentiment</a:t>
            </a:r>
            <a:r>
              <a:rPr sz="1400" dirty="0">
                <a:solidFill>
                  <a:srgbClr val="E7E7E7"/>
                </a:solidFill>
                <a:latin typeface="Source Code Pro"/>
              </a:rPr>
              <a:t> (</a:t>
            </a:r>
            <a:r>
              <a:rPr sz="1400" b="1" dirty="0">
                <a:solidFill>
                  <a:srgbClr val="E81A81"/>
                </a:solidFill>
                <a:latin typeface="Source Code Pro"/>
              </a:rPr>
              <a:t>positive</a:t>
            </a:r>
            <a:r>
              <a:rPr sz="1400" dirty="0">
                <a:solidFill>
                  <a:srgbClr val="E7E7E7"/>
                </a:solidFill>
                <a:latin typeface="Source Code Pro"/>
              </a:rPr>
              <a:t>/</a:t>
            </a:r>
            <a:r>
              <a:rPr sz="1400" b="1" dirty="0">
                <a:solidFill>
                  <a:srgbClr val="E7E7E7"/>
                </a:solidFill>
                <a:latin typeface="Source Code Pro"/>
              </a:rPr>
              <a:t>negative</a:t>
            </a:r>
            <a:r>
              <a:rPr sz="1400" dirty="0">
                <a:solidFill>
                  <a:srgbClr val="E7E7E7"/>
                </a:solidFill>
                <a:latin typeface="Source Code Pro"/>
              </a:rPr>
              <a:t>), </a:t>
            </a:r>
            <a:r>
              <a:rPr sz="1400" b="1" dirty="0">
                <a:solidFill>
                  <a:srgbClr val="E7E7E7"/>
                </a:solidFill>
                <a:latin typeface="Source Code Pro"/>
              </a:rPr>
              <a:t>spam</a:t>
            </a:r>
            <a:r>
              <a:rPr sz="1400" dirty="0">
                <a:solidFill>
                  <a:srgbClr val="E7E7E7"/>
                </a:solidFill>
                <a:latin typeface="Source Code Pro"/>
              </a:rPr>
              <a:t>, </a:t>
            </a:r>
            <a:r>
              <a:rPr sz="1400" b="1" dirty="0">
                <a:solidFill>
                  <a:srgbClr val="E7E7E7"/>
                </a:solidFill>
                <a:latin typeface="Source Code Pro"/>
              </a:rPr>
              <a:t>topic</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Input: </a:t>
            </a:r>
            <a:r>
              <a:rPr sz="1400" b="1" dirty="0">
                <a:solidFill>
                  <a:srgbClr val="E7E7E7"/>
                </a:solidFill>
                <a:latin typeface="Source Code Pro"/>
              </a:rPr>
              <a:t>Sequence</a:t>
            </a:r>
            <a:r>
              <a:rPr sz="1400" dirty="0">
                <a:solidFill>
                  <a:srgbClr val="E7E7E7"/>
                </a:solidFill>
                <a:latin typeface="Source Code Pro"/>
              </a:rPr>
              <a:t> of </a:t>
            </a:r>
            <a:r>
              <a:rPr sz="1400" b="1" dirty="0">
                <a:solidFill>
                  <a:srgbClr val="E7E7E7"/>
                </a:solidFill>
                <a:latin typeface="Source Code Pro"/>
              </a:rPr>
              <a:t>word</a:t>
            </a:r>
            <a:r>
              <a:rPr sz="1400" dirty="0">
                <a:solidFill>
                  <a:srgbClr val="E7E7E7"/>
                </a:solidFill>
                <a:latin typeface="Source Code Pro"/>
              </a:rPr>
              <a:t> </a:t>
            </a:r>
            <a:r>
              <a:rPr sz="1400" b="1" dirty="0">
                <a:solidFill>
                  <a:srgbClr val="EC7955"/>
                </a:solidFill>
                <a:latin typeface="Source Code Pro"/>
              </a:rPr>
              <a:t>embeddings</a:t>
            </a:r>
          </a:p>
          <a:p>
            <a:pPr algn="l"/>
            <a:r>
              <a:rPr sz="1400" dirty="0">
                <a:solidFill>
                  <a:srgbClr val="E7E7E7"/>
                </a:solidFill>
                <a:latin typeface="Source Code Pro"/>
              </a:rPr>
              <a:t>Output: </a:t>
            </a:r>
            <a:r>
              <a:rPr sz="1400" b="1" dirty="0">
                <a:solidFill>
                  <a:srgbClr val="E7E7E7"/>
                </a:solidFill>
                <a:latin typeface="Source Code Pro"/>
              </a:rPr>
              <a:t>Single</a:t>
            </a:r>
            <a:r>
              <a:rPr sz="1400" dirty="0">
                <a:solidFill>
                  <a:srgbClr val="E7E7E7"/>
                </a:solidFill>
                <a:latin typeface="Source Code Pro"/>
              </a:rPr>
              <a:t> class label</a:t>
            </a:r>
          </a:p>
          <a:p>
            <a:pPr algn="l"/>
            <a:endParaRPr sz="1400" dirty="0">
              <a:solidFill>
                <a:srgbClr val="E7E7E7"/>
              </a:solidFill>
              <a:latin typeface="Source Code Pro"/>
            </a:endParaRPr>
          </a:p>
          <a:p>
            <a:pPr algn="l"/>
            <a:r>
              <a:rPr sz="1400" dirty="0">
                <a:solidFill>
                  <a:srgbClr val="E7E7E7"/>
                </a:solidFill>
                <a:latin typeface="Source Code Pro"/>
              </a:rPr>
              <a:t>Example:</a:t>
            </a:r>
          </a:p>
          <a:p>
            <a:pPr algn="l"/>
            <a:r>
              <a:rPr sz="1400" dirty="0">
                <a:solidFill>
                  <a:srgbClr val="E7E7E7"/>
                </a:solidFill>
                <a:latin typeface="Source Code Pro"/>
              </a:rPr>
              <a:t>  Text: "This </a:t>
            </a:r>
            <a:r>
              <a:rPr sz="1400" b="1" dirty="0">
                <a:solidFill>
                  <a:srgbClr val="4CAE97"/>
                </a:solidFill>
                <a:latin typeface="Source Code Pro"/>
              </a:rPr>
              <a:t>movie</a:t>
            </a:r>
            <a:r>
              <a:rPr sz="1400" dirty="0">
                <a:solidFill>
                  <a:srgbClr val="E7E7E7"/>
                </a:solidFill>
                <a:latin typeface="Source Code Pro"/>
              </a:rPr>
              <a:t> was </a:t>
            </a:r>
            <a:r>
              <a:rPr sz="1400" b="1" dirty="0">
                <a:solidFill>
                  <a:srgbClr val="E7E7E7"/>
                </a:solidFill>
                <a:latin typeface="Source Code Pro"/>
              </a:rPr>
              <a:t>amazing</a:t>
            </a:r>
            <a:r>
              <a:rPr sz="1400" dirty="0">
                <a:solidFill>
                  <a:srgbClr val="E7E7E7"/>
                </a:solidFill>
                <a:latin typeface="Source Code Pro"/>
              </a:rPr>
              <a:t>!"</a:t>
            </a:r>
          </a:p>
          <a:p>
            <a:pPr algn="l"/>
            <a:r>
              <a:rPr sz="1400" dirty="0">
                <a:solidFill>
                  <a:srgbClr val="E7E7E7"/>
                </a:solidFill>
                <a:latin typeface="Source Code Pro"/>
              </a:rPr>
              <a:t>  </a:t>
            </a:r>
            <a:r>
              <a:rPr sz="1400" b="1" dirty="0">
                <a:solidFill>
                  <a:srgbClr val="E7E7E7"/>
                </a:solidFill>
                <a:latin typeface="Source Code Pro"/>
              </a:rPr>
              <a:t>Embeddings</a:t>
            </a:r>
            <a:r>
              <a:rPr sz="1400" dirty="0">
                <a:solidFill>
                  <a:srgbClr val="E7E7E7"/>
                </a:solidFill>
                <a:latin typeface="Source Code Pro"/>
              </a:rPr>
              <a:t>: [</a:t>
            </a:r>
            <a:r>
              <a:rPr sz="1400" dirty="0" err="1">
                <a:solidFill>
                  <a:srgbClr val="E7E7E7"/>
                </a:solidFill>
                <a:latin typeface="Source Code Pro"/>
              </a:rPr>
              <a:t>v_this</a:t>
            </a:r>
            <a:r>
              <a:rPr sz="1400" dirty="0">
                <a:solidFill>
                  <a:srgbClr val="E7E7E7"/>
                </a:solidFill>
                <a:latin typeface="Source Code Pro"/>
              </a:rPr>
              <a:t>, </a:t>
            </a:r>
            <a:r>
              <a:rPr sz="1400" dirty="0" err="1">
                <a:solidFill>
                  <a:srgbClr val="E7E7E7"/>
                </a:solidFill>
                <a:latin typeface="Source Code Pro"/>
              </a:rPr>
              <a:t>v_movie</a:t>
            </a:r>
            <a:r>
              <a:rPr sz="1400" dirty="0">
                <a:solidFill>
                  <a:srgbClr val="E7E7E7"/>
                </a:solidFill>
                <a:latin typeface="Source Code Pro"/>
              </a:rPr>
              <a:t>, </a:t>
            </a:r>
            <a:r>
              <a:rPr sz="1400" dirty="0" err="1">
                <a:solidFill>
                  <a:srgbClr val="E7E7E7"/>
                </a:solidFill>
                <a:latin typeface="Source Code Pro"/>
              </a:rPr>
              <a:t>v_was</a:t>
            </a:r>
            <a:r>
              <a:rPr sz="1400" dirty="0">
                <a:solidFill>
                  <a:srgbClr val="E7E7E7"/>
                </a:solidFill>
                <a:latin typeface="Source Code Pro"/>
              </a:rPr>
              <a:t>, </a:t>
            </a:r>
            <a:r>
              <a:rPr sz="1400" dirty="0" err="1">
                <a:solidFill>
                  <a:srgbClr val="E7E7E7"/>
                </a:solidFill>
                <a:latin typeface="Source Code Pro"/>
              </a:rPr>
              <a:t>v_amazing</a:t>
            </a:r>
            <a:r>
              <a:rPr sz="1400" dirty="0">
                <a:solidFill>
                  <a:srgbClr val="E7E7E7"/>
                </a:solidFill>
                <a:latin typeface="Source Code Pro"/>
              </a:rPr>
              <a:t>]</a:t>
            </a:r>
          </a:p>
          <a:p>
            <a:pPr algn="l"/>
            <a:r>
              <a:rPr sz="1400" dirty="0">
                <a:solidFill>
                  <a:srgbClr val="E7E7E7"/>
                </a:solidFill>
                <a:latin typeface="Source Code Pro"/>
              </a:rPr>
              <a:t>  LSTM processes </a:t>
            </a:r>
            <a:r>
              <a:rPr sz="1400" b="1" dirty="0">
                <a:solidFill>
                  <a:srgbClr val="E7E7E7"/>
                </a:solidFill>
                <a:latin typeface="Source Code Pro"/>
              </a:rPr>
              <a:t>sequence</a:t>
            </a:r>
          </a:p>
          <a:p>
            <a:pPr algn="l"/>
            <a:r>
              <a:rPr sz="1400" dirty="0">
                <a:solidFill>
                  <a:srgbClr val="E7E7E7"/>
                </a:solidFill>
                <a:latin typeface="Source Code Pro"/>
              </a:rPr>
              <a:t>  Final </a:t>
            </a:r>
            <a:r>
              <a:rPr sz="1400" b="1" dirty="0">
                <a:solidFill>
                  <a:srgbClr val="E7E7E7"/>
                </a:solidFill>
                <a:latin typeface="Source Code Pro"/>
              </a:rPr>
              <a:t>hidden</a:t>
            </a:r>
            <a:r>
              <a:rPr sz="1400" dirty="0">
                <a:solidFill>
                  <a:srgbClr val="E7E7E7"/>
                </a:solidFill>
                <a:latin typeface="Source Code Pro"/>
              </a:rPr>
              <a:t> state → Dense → Softmax → Class</a:t>
            </a:r>
          </a:p>
          <a:p>
            <a:pPr algn="l"/>
            <a:endParaRPr sz="1400" dirty="0">
              <a:solidFill>
                <a:srgbClr val="E7E7E7"/>
              </a:solidFill>
              <a:latin typeface="Source Code Pro"/>
            </a:endParaRPr>
          </a:p>
          <a:p>
            <a:pPr algn="l"/>
            <a:r>
              <a:rPr sz="1400" dirty="0">
                <a:solidFill>
                  <a:srgbClr val="E7E7E7"/>
                </a:solidFill>
                <a:latin typeface="Source Code Pro"/>
              </a:rPr>
              <a:t>Architecture:</a:t>
            </a:r>
          </a:p>
          <a:p>
            <a:pPr algn="l"/>
            <a:r>
              <a:rPr sz="1400" dirty="0">
                <a:solidFill>
                  <a:srgbClr val="E7E7E7"/>
                </a:solidFill>
                <a:latin typeface="Source Code Pro"/>
              </a:rPr>
              <a:t>  Embedding → LSTM → </a:t>
            </a:r>
            <a:r>
              <a:rPr sz="1400" dirty="0" err="1">
                <a:solidFill>
                  <a:srgbClr val="E7E7E7"/>
                </a:solidFill>
                <a:latin typeface="Source Code Pro"/>
              </a:rPr>
              <a:t>GlobalAveragePooling</a:t>
            </a:r>
            <a:r>
              <a:rPr sz="1400" dirty="0">
                <a:solidFill>
                  <a:srgbClr val="E7E7E7"/>
                </a:solidFill>
                <a:latin typeface="Source Code Pro"/>
              </a:rPr>
              <a:t> → Dense(128) → Dense(</a:t>
            </a:r>
            <a:r>
              <a:rPr sz="1400" dirty="0" err="1">
                <a:solidFill>
                  <a:srgbClr val="E7E7E7"/>
                </a:solidFill>
                <a:latin typeface="Source Code Pro"/>
              </a:rPr>
              <a:t>num_classes</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Why it </a:t>
            </a:r>
            <a:r>
              <a:rPr sz="1400" b="1" dirty="0">
                <a:solidFill>
                  <a:srgbClr val="E7E7E7"/>
                </a:solidFill>
                <a:latin typeface="Source Code Pro"/>
              </a:rPr>
              <a:t>works</a:t>
            </a:r>
            <a:r>
              <a:rPr sz="1400" dirty="0">
                <a:solidFill>
                  <a:srgbClr val="E7E7E7"/>
                </a:solidFill>
                <a:latin typeface="Source Code Pro"/>
              </a:rPr>
              <a:t>:</a:t>
            </a:r>
          </a:p>
          <a:p>
            <a:pPr algn="l"/>
            <a:r>
              <a:rPr sz="1400" dirty="0">
                <a:solidFill>
                  <a:srgbClr val="E7E7E7"/>
                </a:solidFill>
                <a:latin typeface="Source Code Pro"/>
              </a:rPr>
              <a:t>  - LSTM reads </a:t>
            </a:r>
            <a:r>
              <a:rPr sz="1400" b="1" dirty="0">
                <a:solidFill>
                  <a:srgbClr val="E7E7E7"/>
                </a:solidFill>
                <a:latin typeface="Source Code Pro"/>
              </a:rPr>
              <a:t>entire</a:t>
            </a:r>
            <a:r>
              <a:rPr sz="1400" dirty="0">
                <a:solidFill>
                  <a:srgbClr val="E7E7E7"/>
                </a:solidFill>
                <a:latin typeface="Source Code Pro"/>
              </a:rPr>
              <a:t> </a:t>
            </a:r>
            <a:r>
              <a:rPr sz="1400" b="1" dirty="0">
                <a:solidFill>
                  <a:srgbClr val="E7E7E7"/>
                </a:solidFill>
                <a:latin typeface="Source Code Pro"/>
              </a:rPr>
              <a:t>sentence</a:t>
            </a:r>
          </a:p>
          <a:p>
            <a:pPr algn="l"/>
            <a:r>
              <a:rPr sz="1400" dirty="0">
                <a:solidFill>
                  <a:srgbClr val="E7E7E7"/>
                </a:solidFill>
                <a:latin typeface="Source Code Pro"/>
              </a:rPr>
              <a:t>  - Captures </a:t>
            </a:r>
            <a:r>
              <a:rPr sz="1400" b="1" dirty="0">
                <a:solidFill>
                  <a:srgbClr val="E81A81"/>
                </a:solidFill>
                <a:latin typeface="Source Code Pro"/>
              </a:rPr>
              <a:t>context</a:t>
            </a:r>
            <a:r>
              <a:rPr sz="1400" dirty="0">
                <a:solidFill>
                  <a:srgbClr val="E7E7E7"/>
                </a:solidFill>
                <a:latin typeface="Source Code Pro"/>
              </a:rPr>
              <a:t> and </a:t>
            </a:r>
            <a:r>
              <a:rPr sz="1400" b="1" dirty="0">
                <a:solidFill>
                  <a:srgbClr val="E7E7E7"/>
                </a:solidFill>
                <a:latin typeface="Source Code Pro"/>
              </a:rPr>
              <a:t>sentiment</a:t>
            </a:r>
          </a:p>
          <a:p>
            <a:pPr algn="l"/>
            <a:r>
              <a:rPr sz="1400" dirty="0">
                <a:solidFill>
                  <a:srgbClr val="E7E7E7"/>
                </a:solidFill>
                <a:latin typeface="Source Code Pro"/>
              </a:rPr>
              <a:t>  - Final </a:t>
            </a:r>
            <a:r>
              <a:rPr sz="1400" b="1" dirty="0">
                <a:solidFill>
                  <a:srgbClr val="E7E7E7"/>
                </a:solidFill>
                <a:latin typeface="Source Code Pro"/>
              </a:rPr>
              <a:t>state</a:t>
            </a:r>
            <a:r>
              <a:rPr sz="1400" dirty="0">
                <a:solidFill>
                  <a:srgbClr val="E7E7E7"/>
                </a:solidFill>
                <a:latin typeface="Source Code Pro"/>
              </a:rPr>
              <a:t> represents </a:t>
            </a:r>
            <a:r>
              <a:rPr sz="1400" b="1" dirty="0">
                <a:solidFill>
                  <a:srgbClr val="EC7955"/>
                </a:solidFill>
                <a:latin typeface="Source Code Pro"/>
              </a:rPr>
              <a:t>whole</a:t>
            </a:r>
            <a:r>
              <a:rPr sz="1400" dirty="0">
                <a:solidFill>
                  <a:srgbClr val="E7E7E7"/>
                </a:solidFill>
                <a:latin typeface="Source Code Pro"/>
              </a:rPr>
              <a:t> </a:t>
            </a:r>
            <a:r>
              <a:rPr sz="1400" b="1" dirty="0">
                <a:solidFill>
                  <a:srgbClr val="E7E7E7"/>
                </a:solidFill>
                <a:latin typeface="Source Code Pro"/>
              </a:rPr>
              <a:t>text</a:t>
            </a:r>
          </a:p>
        </p:txBody>
      </p:sp>
    </p:spTree>
    <p:extLst>
      <p:ext uri="{BB962C8B-B14F-4D97-AF65-F5344CB8AC3E}">
        <p14:creationId xmlns:p14="http://schemas.microsoft.com/office/powerpoint/2010/main" val="2222962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BB761B8A-AD39-74DB-CE21-C42C12BD774A}"/>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RNN for Text Generation</a:t>
            </a:r>
          </a:p>
        </p:txBody>
      </p:sp>
      <p:sp>
        <p:nvSpPr>
          <p:cNvPr id="3" name="TextBox 2"/>
          <p:cNvSpPr txBox="1"/>
          <p:nvPr/>
        </p:nvSpPr>
        <p:spPr>
          <a:xfrm>
            <a:off x="256032" y="1463040"/>
            <a:ext cx="8229600" cy="4572000"/>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Text </a:t>
            </a:r>
            <a:r>
              <a:rPr sz="1400" b="1" dirty="0">
                <a:solidFill>
                  <a:srgbClr val="E7E7E7"/>
                </a:solidFill>
                <a:latin typeface="Source Code Pro"/>
              </a:rPr>
              <a:t>generation</a:t>
            </a:r>
            <a:r>
              <a:rPr sz="1400" dirty="0">
                <a:solidFill>
                  <a:srgbClr val="E7E7E7"/>
                </a:solidFill>
                <a:latin typeface="Source Code Pro"/>
              </a:rPr>
              <a:t>: Write </a:t>
            </a:r>
            <a:r>
              <a:rPr sz="1400" b="1" dirty="0">
                <a:solidFill>
                  <a:srgbClr val="E7E7E7"/>
                </a:solidFill>
                <a:latin typeface="Source Code Pro"/>
              </a:rPr>
              <a:t>text</a:t>
            </a:r>
            <a:r>
              <a:rPr sz="1400" dirty="0">
                <a:solidFill>
                  <a:srgbClr val="E7E7E7"/>
                </a:solidFill>
                <a:latin typeface="Source Code Pro"/>
              </a:rPr>
              <a:t>, </a:t>
            </a:r>
            <a:r>
              <a:rPr sz="1400" b="1" dirty="0">
                <a:solidFill>
                  <a:srgbClr val="E7E7E7"/>
                </a:solidFill>
                <a:latin typeface="Source Code Pro"/>
              </a:rPr>
              <a:t>poetry</a:t>
            </a:r>
            <a:r>
              <a:rPr sz="1400" dirty="0">
                <a:solidFill>
                  <a:srgbClr val="E7E7E7"/>
                </a:solidFill>
                <a:latin typeface="Source Code Pro"/>
              </a:rPr>
              <a:t>, </a:t>
            </a:r>
            <a:r>
              <a:rPr sz="1400" b="1" dirty="0">
                <a:solidFill>
                  <a:srgbClr val="E7E7E7"/>
                </a:solidFill>
                <a:latin typeface="Source Code Pro"/>
              </a:rPr>
              <a:t>code</a:t>
            </a:r>
            <a:r>
              <a:rPr sz="1400" dirty="0">
                <a:solidFill>
                  <a:srgbClr val="E7E7E7"/>
                </a:solidFill>
                <a:latin typeface="Source Code Pro"/>
              </a:rPr>
              <a:t>, </a:t>
            </a:r>
            <a:r>
              <a:rPr sz="1400" b="1" dirty="0">
                <a:solidFill>
                  <a:srgbClr val="E7E7E7"/>
                </a:solidFill>
                <a:latin typeface="Source Code Pro"/>
              </a:rPr>
              <a:t>chat</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Input-Output: Many-to-</a:t>
            </a:r>
            <a:r>
              <a:rPr sz="1400" b="1" dirty="0">
                <a:solidFill>
                  <a:srgbClr val="E7E7E7"/>
                </a:solidFill>
                <a:latin typeface="Source Code Pro"/>
              </a:rPr>
              <a:t>many</a:t>
            </a:r>
            <a:r>
              <a:rPr sz="1400" dirty="0">
                <a:solidFill>
                  <a:srgbClr val="E7E7E7"/>
                </a:solidFill>
                <a:latin typeface="Source Code Pro"/>
              </a:rPr>
              <a:t> </a:t>
            </a:r>
            <a:r>
              <a:rPr sz="1400" b="1" dirty="0">
                <a:solidFill>
                  <a:srgbClr val="E7E7E7"/>
                </a:solidFill>
                <a:latin typeface="Source Code Pro"/>
              </a:rPr>
              <a:t>sequence</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Example:</a:t>
            </a:r>
          </a:p>
          <a:p>
            <a:pPr algn="l"/>
            <a:r>
              <a:rPr sz="1400" dirty="0">
                <a:solidFill>
                  <a:srgbClr val="E7E7E7"/>
                </a:solidFill>
                <a:latin typeface="Source Code Pro"/>
              </a:rPr>
              <a:t>  Input: "The </a:t>
            </a:r>
            <a:r>
              <a:rPr sz="1400" b="1" dirty="0">
                <a:solidFill>
                  <a:srgbClr val="FD4A4A"/>
                </a:solidFill>
                <a:latin typeface="Source Code Pro"/>
              </a:rPr>
              <a:t>quick</a:t>
            </a:r>
            <a:r>
              <a:rPr sz="1400" dirty="0">
                <a:solidFill>
                  <a:srgbClr val="E7E7E7"/>
                </a:solidFill>
                <a:latin typeface="Source Code Pro"/>
              </a:rPr>
              <a:t> brown"</a:t>
            </a:r>
          </a:p>
          <a:p>
            <a:pPr algn="l"/>
            <a:r>
              <a:rPr sz="1400" dirty="0">
                <a:solidFill>
                  <a:srgbClr val="E7E7E7"/>
                </a:solidFill>
                <a:latin typeface="Source Code Pro"/>
              </a:rPr>
              <a:t>  Output: "brown fox jumped"</a:t>
            </a:r>
          </a:p>
          <a:p>
            <a:pPr algn="l"/>
            <a:endParaRPr sz="1400" dirty="0">
              <a:solidFill>
                <a:srgbClr val="E7E7E7"/>
              </a:solidFill>
              <a:latin typeface="Source Code Pro"/>
            </a:endParaRPr>
          </a:p>
          <a:p>
            <a:pPr algn="l"/>
            <a:r>
              <a:rPr sz="1400" dirty="0">
                <a:solidFill>
                  <a:srgbClr val="E7E7E7"/>
                </a:solidFill>
                <a:latin typeface="Source Code Pro"/>
              </a:rPr>
              <a:t>Training:</a:t>
            </a:r>
          </a:p>
          <a:p>
            <a:pPr algn="l"/>
            <a:r>
              <a:rPr sz="1400" dirty="0">
                <a:solidFill>
                  <a:srgbClr val="E7E7E7"/>
                </a:solidFill>
                <a:latin typeface="Source Code Pro"/>
              </a:rPr>
              <a:t>  Provide </a:t>
            </a:r>
            <a:r>
              <a:rPr sz="1400" b="1" dirty="0">
                <a:solidFill>
                  <a:srgbClr val="E7E7E7"/>
                </a:solidFill>
                <a:latin typeface="Source Code Pro"/>
              </a:rPr>
              <a:t>text</a:t>
            </a:r>
            <a:r>
              <a:rPr sz="1400" dirty="0">
                <a:solidFill>
                  <a:srgbClr val="E7E7E7"/>
                </a:solidFill>
                <a:latin typeface="Source Code Pro"/>
              </a:rPr>
              <a:t> sequence. LSTM learns to </a:t>
            </a:r>
            <a:r>
              <a:rPr sz="1400" b="1" dirty="0">
                <a:solidFill>
                  <a:srgbClr val="E7E7E7"/>
                </a:solidFill>
                <a:latin typeface="Source Code Pro"/>
              </a:rPr>
              <a:t>predict</a:t>
            </a:r>
            <a:r>
              <a:rPr sz="1400" dirty="0">
                <a:solidFill>
                  <a:srgbClr val="E7E7E7"/>
                </a:solidFill>
                <a:latin typeface="Source Code Pro"/>
              </a:rPr>
              <a:t> </a:t>
            </a:r>
            <a:r>
              <a:rPr sz="1400" b="1" dirty="0">
                <a:solidFill>
                  <a:srgbClr val="FD4A4A"/>
                </a:solidFill>
                <a:latin typeface="Source Code Pro"/>
              </a:rPr>
              <a:t>next</a:t>
            </a:r>
            <a:r>
              <a:rPr sz="1400" dirty="0">
                <a:solidFill>
                  <a:srgbClr val="E7E7E7"/>
                </a:solidFill>
                <a:latin typeface="Source Code Pro"/>
              </a:rPr>
              <a:t> </a:t>
            </a:r>
            <a:r>
              <a:rPr sz="1400" b="1" dirty="0">
                <a:solidFill>
                  <a:srgbClr val="94EE6B"/>
                </a:solidFill>
                <a:latin typeface="Source Code Pro"/>
              </a:rPr>
              <a:t>word</a:t>
            </a:r>
            <a:r>
              <a:rPr sz="1400" dirty="0">
                <a:solidFill>
                  <a:srgbClr val="E7E7E7"/>
                </a:solidFill>
                <a:latin typeface="Source Code Pro"/>
              </a:rPr>
              <a:t>.</a:t>
            </a:r>
          </a:p>
          <a:p>
            <a:pPr algn="l"/>
            <a:r>
              <a:rPr sz="1400" dirty="0">
                <a:solidFill>
                  <a:srgbClr val="E7E7E7"/>
                </a:solidFill>
                <a:latin typeface="Source Code Pro"/>
              </a:rPr>
              <a:t>  At each </a:t>
            </a:r>
            <a:r>
              <a:rPr sz="1400" b="1" dirty="0">
                <a:solidFill>
                  <a:srgbClr val="4CAE97"/>
                </a:solidFill>
                <a:latin typeface="Source Code Pro"/>
              </a:rPr>
              <a:t>step</a:t>
            </a:r>
            <a:r>
              <a:rPr sz="1400" dirty="0">
                <a:solidFill>
                  <a:srgbClr val="E7E7E7"/>
                </a:solidFill>
                <a:latin typeface="Source Code Pro"/>
              </a:rPr>
              <a:t>: Given [</a:t>
            </a:r>
            <a:r>
              <a:rPr sz="1400" b="1" dirty="0">
                <a:solidFill>
                  <a:srgbClr val="EC7955"/>
                </a:solidFill>
                <a:latin typeface="Source Code Pro"/>
              </a:rPr>
              <a:t>word_1</a:t>
            </a:r>
            <a:r>
              <a:rPr sz="1400" dirty="0">
                <a:solidFill>
                  <a:srgbClr val="E7E7E7"/>
                </a:solidFill>
                <a:latin typeface="Source Code Pro"/>
              </a:rPr>
              <a:t>, </a:t>
            </a:r>
            <a:r>
              <a:rPr sz="1400" b="1" dirty="0">
                <a:solidFill>
                  <a:srgbClr val="E7E7E7"/>
                </a:solidFill>
                <a:latin typeface="Source Code Pro"/>
              </a:rPr>
              <a:t>word_2</a:t>
            </a:r>
            <a:r>
              <a:rPr sz="1400" dirty="0">
                <a:solidFill>
                  <a:srgbClr val="E7E7E7"/>
                </a:solidFill>
                <a:latin typeface="Source Code Pro"/>
              </a:rPr>
              <a:t>, ...] → </a:t>
            </a:r>
            <a:r>
              <a:rPr sz="1400" b="1" dirty="0">
                <a:solidFill>
                  <a:srgbClr val="E7E7E7"/>
                </a:solidFill>
                <a:latin typeface="Source Code Pro"/>
              </a:rPr>
              <a:t>predict</a:t>
            </a:r>
            <a:r>
              <a:rPr sz="1400" dirty="0">
                <a:solidFill>
                  <a:srgbClr val="E7E7E7"/>
                </a:solidFill>
                <a:latin typeface="Source Code Pro"/>
              </a:rPr>
              <a:t> </a:t>
            </a:r>
            <a:r>
              <a:rPr sz="1400" b="1" dirty="0">
                <a:solidFill>
                  <a:srgbClr val="E7E7E7"/>
                </a:solidFill>
                <a:latin typeface="Source Code Pro"/>
              </a:rPr>
              <a:t>word_</a:t>
            </a:r>
            <a:r>
              <a:rPr sz="1400" dirty="0">
                <a:solidFill>
                  <a:srgbClr val="E7E7E7"/>
                </a:solidFill>
                <a:latin typeface="Source Code Pro"/>
              </a:rPr>
              <a:t>{n+1}</a:t>
            </a:r>
          </a:p>
          <a:p>
            <a:pPr algn="l"/>
            <a:endParaRPr sz="1400" dirty="0">
              <a:solidFill>
                <a:srgbClr val="E7E7E7"/>
              </a:solidFill>
              <a:latin typeface="Source Code Pro"/>
            </a:endParaRPr>
          </a:p>
          <a:p>
            <a:pPr algn="l"/>
            <a:r>
              <a:rPr sz="1400" dirty="0">
                <a:solidFill>
                  <a:srgbClr val="E7E7E7"/>
                </a:solidFill>
                <a:latin typeface="Source Code Pro"/>
              </a:rPr>
              <a:t>Generation:</a:t>
            </a:r>
          </a:p>
          <a:p>
            <a:pPr algn="l"/>
            <a:r>
              <a:rPr sz="1400" dirty="0">
                <a:solidFill>
                  <a:srgbClr val="E7E7E7"/>
                </a:solidFill>
                <a:latin typeface="Source Code Pro"/>
              </a:rPr>
              <a:t>  1. Start with seed: "The"</a:t>
            </a:r>
          </a:p>
          <a:p>
            <a:pPr algn="l"/>
            <a:r>
              <a:rPr sz="1400" dirty="0">
                <a:solidFill>
                  <a:srgbClr val="E7E7E7"/>
                </a:solidFill>
                <a:latin typeface="Source Code Pro"/>
              </a:rPr>
              <a:t>  2. Predict </a:t>
            </a:r>
            <a:r>
              <a:rPr sz="1400" b="1" dirty="0">
                <a:solidFill>
                  <a:srgbClr val="FD4A4A"/>
                </a:solidFill>
                <a:latin typeface="Source Code Pro"/>
              </a:rPr>
              <a:t>next</a:t>
            </a:r>
            <a:r>
              <a:rPr sz="1400" dirty="0">
                <a:solidFill>
                  <a:srgbClr val="E7E7E7"/>
                </a:solidFill>
                <a:latin typeface="Source Code Pro"/>
              </a:rPr>
              <a:t> </a:t>
            </a:r>
            <a:r>
              <a:rPr sz="1400" b="1" dirty="0">
                <a:solidFill>
                  <a:srgbClr val="FD4A4A"/>
                </a:solidFill>
                <a:latin typeface="Source Code Pro"/>
              </a:rPr>
              <a:t>word</a:t>
            </a:r>
            <a:r>
              <a:rPr sz="1400" dirty="0">
                <a:solidFill>
                  <a:srgbClr val="E7E7E7"/>
                </a:solidFill>
                <a:latin typeface="Source Code Pro"/>
              </a:rPr>
              <a:t>: "quick"</a:t>
            </a:r>
          </a:p>
          <a:p>
            <a:pPr algn="l"/>
            <a:r>
              <a:rPr sz="1400" dirty="0">
                <a:solidFill>
                  <a:srgbClr val="E7E7E7"/>
                </a:solidFill>
                <a:latin typeface="Source Code Pro"/>
              </a:rPr>
              <a:t>  3. Use "The quick" → </a:t>
            </a:r>
            <a:r>
              <a:rPr sz="1400" b="1" dirty="0">
                <a:solidFill>
                  <a:srgbClr val="E7E7E7"/>
                </a:solidFill>
                <a:latin typeface="Source Code Pro"/>
              </a:rPr>
              <a:t>predict</a:t>
            </a:r>
            <a:r>
              <a:rPr sz="1400" dirty="0">
                <a:solidFill>
                  <a:srgbClr val="E7E7E7"/>
                </a:solidFill>
                <a:latin typeface="Source Code Pro"/>
              </a:rPr>
              <a:t> </a:t>
            </a:r>
            <a:r>
              <a:rPr sz="1400" b="1" dirty="0">
                <a:solidFill>
                  <a:srgbClr val="EC7955"/>
                </a:solidFill>
                <a:latin typeface="Source Code Pro"/>
              </a:rPr>
              <a:t>next</a:t>
            </a:r>
            <a:r>
              <a:rPr sz="1400" dirty="0">
                <a:solidFill>
                  <a:srgbClr val="E7E7E7"/>
                </a:solidFill>
                <a:latin typeface="Source Code Pro"/>
              </a:rPr>
              <a:t>: "brown"</a:t>
            </a:r>
          </a:p>
          <a:p>
            <a:pPr algn="l"/>
            <a:r>
              <a:rPr sz="1400" dirty="0">
                <a:solidFill>
                  <a:srgbClr val="E7E7E7"/>
                </a:solidFill>
                <a:latin typeface="Source Code Pro"/>
              </a:rPr>
              <a:t>  4. Use "The quick brown" → </a:t>
            </a:r>
            <a:r>
              <a:rPr sz="1400" b="1" dirty="0">
                <a:solidFill>
                  <a:srgbClr val="E7E7E7"/>
                </a:solidFill>
                <a:latin typeface="Source Code Pro"/>
              </a:rPr>
              <a:t>predict</a:t>
            </a:r>
            <a:r>
              <a:rPr sz="1400" dirty="0">
                <a:solidFill>
                  <a:srgbClr val="E7E7E7"/>
                </a:solidFill>
                <a:latin typeface="Source Code Pro"/>
              </a:rPr>
              <a:t>: "fox"</a:t>
            </a:r>
          </a:p>
          <a:p>
            <a:pPr algn="l"/>
            <a:r>
              <a:rPr sz="1400" dirty="0">
                <a:solidFill>
                  <a:srgbClr val="E7E7E7"/>
                </a:solidFill>
                <a:latin typeface="Source Code Pro"/>
              </a:rPr>
              <a:t>  5. Continue until end</a:t>
            </a:r>
          </a:p>
          <a:p>
            <a:pPr algn="l"/>
            <a:endParaRPr sz="1400" dirty="0">
              <a:solidFill>
                <a:srgbClr val="E7E7E7"/>
              </a:solidFill>
              <a:latin typeface="Source Code Pro"/>
            </a:endParaRPr>
          </a:p>
          <a:p>
            <a:pPr algn="l"/>
            <a:r>
              <a:rPr sz="1400" dirty="0">
                <a:solidFill>
                  <a:srgbClr val="E7E7E7"/>
                </a:solidFill>
                <a:latin typeface="Source Code Pro"/>
              </a:rPr>
              <a:t>Architecture: Embedding → LSTM(s) → Dense(</a:t>
            </a:r>
            <a:r>
              <a:rPr sz="1400" dirty="0" err="1">
                <a:solidFill>
                  <a:srgbClr val="E7E7E7"/>
                </a:solidFill>
                <a:latin typeface="Source Code Pro"/>
              </a:rPr>
              <a:t>vocab_size</a:t>
            </a:r>
            <a:r>
              <a:rPr sz="1400" dirty="0">
                <a:solidFill>
                  <a:srgbClr val="E7E7E7"/>
                </a:solidFill>
                <a:latin typeface="Source Code Pro"/>
              </a:rPr>
              <a:t>) → Softmax</a:t>
            </a:r>
          </a:p>
        </p:txBody>
      </p:sp>
    </p:spTree>
    <p:extLst>
      <p:ext uri="{BB962C8B-B14F-4D97-AF65-F5344CB8AC3E}">
        <p14:creationId xmlns:p14="http://schemas.microsoft.com/office/powerpoint/2010/main" val="4005158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572B421A-7769-7140-1880-651036E88089}"/>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Bidirectional RNN</a:t>
            </a:r>
          </a:p>
        </p:txBody>
      </p:sp>
      <p:sp>
        <p:nvSpPr>
          <p:cNvPr id="3" name="TextBox 2"/>
          <p:cNvSpPr txBox="1"/>
          <p:nvPr/>
        </p:nvSpPr>
        <p:spPr>
          <a:xfrm>
            <a:off x="256032" y="1463040"/>
            <a:ext cx="8229600" cy="3539430"/>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Unidirectional RNN: Reads left-to-</a:t>
            </a:r>
            <a:r>
              <a:rPr sz="1400" b="1" dirty="0">
                <a:solidFill>
                  <a:srgbClr val="E7E7E7"/>
                </a:solidFill>
                <a:latin typeface="Source Code Pro"/>
              </a:rPr>
              <a:t>right</a:t>
            </a:r>
            <a:r>
              <a:rPr sz="1400" dirty="0">
                <a:solidFill>
                  <a:srgbClr val="E7E7E7"/>
                </a:solidFill>
                <a:latin typeface="Source Code Pro"/>
              </a:rPr>
              <a:t> only.</a:t>
            </a:r>
          </a:p>
          <a:p>
            <a:pPr algn="l"/>
            <a:endParaRPr sz="1400" dirty="0">
              <a:solidFill>
                <a:srgbClr val="E7E7E7"/>
              </a:solidFill>
              <a:latin typeface="Source Code Pro"/>
            </a:endParaRPr>
          </a:p>
          <a:p>
            <a:pPr algn="l"/>
            <a:r>
              <a:rPr sz="1400" dirty="0">
                <a:solidFill>
                  <a:srgbClr val="E7E7E7"/>
                </a:solidFill>
                <a:latin typeface="Source Code Pro"/>
              </a:rPr>
              <a:t>"The </a:t>
            </a:r>
            <a:r>
              <a:rPr sz="1400" b="1" dirty="0">
                <a:solidFill>
                  <a:srgbClr val="E7E7E7"/>
                </a:solidFill>
                <a:latin typeface="Source Code Pro"/>
              </a:rPr>
              <a:t>quick</a:t>
            </a:r>
            <a:r>
              <a:rPr sz="1400" dirty="0">
                <a:solidFill>
                  <a:srgbClr val="E7E7E7"/>
                </a:solidFill>
                <a:latin typeface="Source Code Pro"/>
              </a:rPr>
              <a:t> brown fox jumped"</a:t>
            </a:r>
          </a:p>
          <a:p>
            <a:pPr algn="l"/>
            <a:r>
              <a:rPr sz="1400" b="1" dirty="0">
                <a:solidFill>
                  <a:srgbClr val="E7E7E7"/>
                </a:solidFill>
                <a:latin typeface="Source Code Pro"/>
              </a:rPr>
              <a:t>Problem</a:t>
            </a:r>
            <a:r>
              <a:rPr sz="1400" dirty="0">
                <a:solidFill>
                  <a:srgbClr val="E7E7E7"/>
                </a:solidFill>
                <a:latin typeface="Source Code Pro"/>
              </a:rPr>
              <a:t>: When </a:t>
            </a:r>
            <a:r>
              <a:rPr sz="1400" b="1" dirty="0">
                <a:solidFill>
                  <a:srgbClr val="E7E7E7"/>
                </a:solidFill>
                <a:latin typeface="Source Code Pro"/>
              </a:rPr>
              <a:t>reading</a:t>
            </a:r>
            <a:r>
              <a:rPr sz="1400" dirty="0">
                <a:solidFill>
                  <a:srgbClr val="E7E7E7"/>
                </a:solidFill>
                <a:latin typeface="Source Code Pro"/>
              </a:rPr>
              <a:t> "brown", doesn't know "jumped" is </a:t>
            </a:r>
            <a:r>
              <a:rPr sz="1400" b="1" dirty="0">
                <a:solidFill>
                  <a:srgbClr val="94EE6B"/>
                </a:solidFill>
                <a:latin typeface="Source Code Pro"/>
              </a:rPr>
              <a:t>coming</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Bidirectional RNN: Reads both </a:t>
            </a:r>
            <a:r>
              <a:rPr sz="1400" b="1" dirty="0">
                <a:solidFill>
                  <a:srgbClr val="E81A81"/>
                </a:solidFill>
                <a:latin typeface="Source Code Pro"/>
              </a:rPr>
              <a:t>directions</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Forward: Left → </a:t>
            </a:r>
            <a:r>
              <a:rPr sz="1400" b="1" dirty="0">
                <a:solidFill>
                  <a:srgbClr val="E7E7E7"/>
                </a:solidFill>
                <a:latin typeface="Source Code Pro"/>
              </a:rPr>
              <a:t>Right</a:t>
            </a:r>
          </a:p>
          <a:p>
            <a:pPr algn="l"/>
            <a:r>
              <a:rPr sz="1400" dirty="0">
                <a:solidFill>
                  <a:srgbClr val="E7E7E7"/>
                </a:solidFill>
                <a:latin typeface="Source Code Pro"/>
              </a:rPr>
              <a:t>Backward: </a:t>
            </a:r>
            <a:r>
              <a:rPr sz="1400" b="1" dirty="0">
                <a:solidFill>
                  <a:srgbClr val="E7E7E7"/>
                </a:solidFill>
                <a:latin typeface="Source Code Pro"/>
              </a:rPr>
              <a:t>Right</a:t>
            </a:r>
            <a:r>
              <a:rPr sz="1400" dirty="0">
                <a:solidFill>
                  <a:srgbClr val="E7E7E7"/>
                </a:solidFill>
                <a:latin typeface="Source Code Pro"/>
              </a:rPr>
              <a:t> → Left</a:t>
            </a:r>
          </a:p>
          <a:p>
            <a:pPr algn="l"/>
            <a:r>
              <a:rPr sz="1400" dirty="0">
                <a:solidFill>
                  <a:srgbClr val="E7E7E7"/>
                </a:solidFill>
                <a:latin typeface="Source Code Pro"/>
              </a:rPr>
              <a:t>Combine: [</a:t>
            </a:r>
            <a:r>
              <a:rPr sz="1400" b="1" dirty="0">
                <a:solidFill>
                  <a:srgbClr val="94EE6B"/>
                </a:solidFill>
                <a:latin typeface="Source Code Pro"/>
              </a:rPr>
              <a:t>forward</a:t>
            </a:r>
            <a:r>
              <a:rPr sz="1400" dirty="0">
                <a:solidFill>
                  <a:srgbClr val="E7E7E7"/>
                </a:solidFill>
                <a:latin typeface="Source Code Pro"/>
              </a:rPr>
              <a:t> </a:t>
            </a:r>
            <a:r>
              <a:rPr sz="1400" b="1" dirty="0">
                <a:solidFill>
                  <a:srgbClr val="4CAE97"/>
                </a:solidFill>
                <a:latin typeface="Source Code Pro"/>
              </a:rPr>
              <a:t>state</a:t>
            </a:r>
            <a:r>
              <a:rPr sz="1400" dirty="0">
                <a:solidFill>
                  <a:srgbClr val="E7E7E7"/>
                </a:solidFill>
                <a:latin typeface="Source Code Pro"/>
              </a:rPr>
              <a:t>, </a:t>
            </a:r>
            <a:r>
              <a:rPr sz="1400" b="1" dirty="0">
                <a:solidFill>
                  <a:srgbClr val="E7E7E7"/>
                </a:solidFill>
                <a:latin typeface="Source Code Pro"/>
              </a:rPr>
              <a:t>backward</a:t>
            </a:r>
            <a:r>
              <a:rPr sz="1400" dirty="0">
                <a:solidFill>
                  <a:srgbClr val="E7E7E7"/>
                </a:solidFill>
                <a:latin typeface="Source Code Pro"/>
              </a:rPr>
              <a:t> </a:t>
            </a:r>
            <a:r>
              <a:rPr sz="1400" b="1" dirty="0">
                <a:solidFill>
                  <a:srgbClr val="4CAE97"/>
                </a:solidFill>
                <a:latin typeface="Source Code Pro"/>
              </a:rPr>
              <a:t>state</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Result: Each </a:t>
            </a:r>
            <a:r>
              <a:rPr sz="1400" b="1" dirty="0">
                <a:solidFill>
                  <a:srgbClr val="E7E7E7"/>
                </a:solidFill>
                <a:latin typeface="Source Code Pro"/>
              </a:rPr>
              <a:t>timestep</a:t>
            </a:r>
            <a:r>
              <a:rPr sz="1400" dirty="0">
                <a:solidFill>
                  <a:srgbClr val="E7E7E7"/>
                </a:solidFill>
                <a:latin typeface="Source Code Pro"/>
              </a:rPr>
              <a:t> sees </a:t>
            </a:r>
            <a:r>
              <a:rPr sz="1400" b="1" dirty="0">
                <a:solidFill>
                  <a:srgbClr val="E7E7E7"/>
                </a:solidFill>
                <a:latin typeface="Source Code Pro"/>
              </a:rPr>
              <a:t>complete</a:t>
            </a:r>
            <a:r>
              <a:rPr sz="1400" dirty="0">
                <a:solidFill>
                  <a:srgbClr val="E7E7E7"/>
                </a:solidFill>
                <a:latin typeface="Source Code Pro"/>
              </a:rPr>
              <a:t> context.</a:t>
            </a:r>
          </a:p>
          <a:p>
            <a:pPr algn="l"/>
            <a:r>
              <a:rPr sz="1400" b="1" dirty="0">
                <a:solidFill>
                  <a:srgbClr val="4CAE97"/>
                </a:solidFill>
                <a:latin typeface="Source Code Pro"/>
              </a:rPr>
              <a:t>Much</a:t>
            </a:r>
            <a:r>
              <a:rPr sz="1400" dirty="0">
                <a:solidFill>
                  <a:srgbClr val="E7E7E7"/>
                </a:solidFill>
                <a:latin typeface="Source Code Pro"/>
              </a:rPr>
              <a:t> better for </a:t>
            </a:r>
            <a:r>
              <a:rPr sz="1400" b="1" dirty="0">
                <a:solidFill>
                  <a:srgbClr val="E7E7E7"/>
                </a:solidFill>
                <a:latin typeface="Source Code Pro"/>
              </a:rPr>
              <a:t>classification</a:t>
            </a:r>
            <a:r>
              <a:rPr sz="1400" dirty="0">
                <a:solidFill>
                  <a:srgbClr val="E7E7E7"/>
                </a:solidFill>
                <a:latin typeface="Source Code Pro"/>
              </a:rPr>
              <a:t>, NER, </a:t>
            </a:r>
            <a:r>
              <a:rPr sz="1400" b="1" dirty="0">
                <a:solidFill>
                  <a:srgbClr val="E7E7E7"/>
                </a:solidFill>
                <a:latin typeface="Source Code Pro"/>
              </a:rPr>
              <a:t>translation</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Architecture: Input → </a:t>
            </a:r>
            <a:r>
              <a:rPr sz="1400" dirty="0" err="1">
                <a:solidFill>
                  <a:srgbClr val="E7E7E7"/>
                </a:solidFill>
                <a:latin typeface="Source Code Pro"/>
              </a:rPr>
              <a:t>BiLSTM</a:t>
            </a:r>
            <a:r>
              <a:rPr sz="1400" dirty="0">
                <a:solidFill>
                  <a:srgbClr val="E7E7E7"/>
                </a:solidFill>
                <a:latin typeface="Source Code Pro"/>
              </a:rPr>
              <a:t> → Dense</a:t>
            </a:r>
          </a:p>
        </p:txBody>
      </p:sp>
    </p:spTree>
    <p:extLst>
      <p:ext uri="{BB962C8B-B14F-4D97-AF65-F5344CB8AC3E}">
        <p14:creationId xmlns:p14="http://schemas.microsoft.com/office/powerpoint/2010/main" val="3906902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16972BC6-6524-83F5-C24E-C6D88F7D605F}"/>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Encoder-Decoder for Sequence-to-Sequence</a:t>
            </a:r>
          </a:p>
        </p:txBody>
      </p:sp>
      <p:sp>
        <p:nvSpPr>
          <p:cNvPr id="3" name="TextBox 2"/>
          <p:cNvSpPr txBox="1"/>
          <p:nvPr/>
        </p:nvSpPr>
        <p:spPr>
          <a:xfrm>
            <a:off x="256032" y="1463040"/>
            <a:ext cx="8229600" cy="3754874"/>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Sequence-to-</a:t>
            </a:r>
            <a:r>
              <a:rPr sz="1400" b="1" dirty="0">
                <a:solidFill>
                  <a:srgbClr val="E7E7E7"/>
                </a:solidFill>
                <a:latin typeface="Source Code Pro"/>
              </a:rPr>
              <a:t>Sequence</a:t>
            </a:r>
            <a:r>
              <a:rPr sz="1400" dirty="0">
                <a:solidFill>
                  <a:srgbClr val="E7E7E7"/>
                </a:solidFill>
                <a:latin typeface="Source Code Pro"/>
              </a:rPr>
              <a:t> (</a:t>
            </a:r>
            <a:r>
              <a:rPr sz="1400" b="1" dirty="0">
                <a:solidFill>
                  <a:srgbClr val="94EE6B"/>
                </a:solidFill>
                <a:latin typeface="Source Code Pro"/>
              </a:rPr>
              <a:t>Seq2Seq</a:t>
            </a:r>
            <a:r>
              <a:rPr sz="1400" dirty="0">
                <a:solidFill>
                  <a:srgbClr val="E7E7E7"/>
                </a:solidFill>
                <a:latin typeface="Source Code Pro"/>
              </a:rPr>
              <a:t>): </a:t>
            </a:r>
            <a:r>
              <a:rPr sz="1400" b="1" dirty="0">
                <a:solidFill>
                  <a:srgbClr val="E7E7E7"/>
                </a:solidFill>
                <a:latin typeface="Source Code Pro"/>
              </a:rPr>
              <a:t>Input</a:t>
            </a:r>
            <a:r>
              <a:rPr sz="1400" dirty="0">
                <a:solidFill>
                  <a:srgbClr val="E7E7E7"/>
                </a:solidFill>
                <a:latin typeface="Source Code Pro"/>
              </a:rPr>
              <a:t> </a:t>
            </a:r>
            <a:r>
              <a:rPr sz="1400" b="1" dirty="0">
                <a:solidFill>
                  <a:srgbClr val="94EE6B"/>
                </a:solidFill>
                <a:latin typeface="Source Code Pro"/>
              </a:rPr>
              <a:t>sequence</a:t>
            </a:r>
            <a:r>
              <a:rPr sz="1400" dirty="0">
                <a:solidFill>
                  <a:srgbClr val="E7E7E7"/>
                </a:solidFill>
                <a:latin typeface="Source Code Pro"/>
              </a:rPr>
              <a:t> </a:t>
            </a:r>
            <a:r>
              <a:rPr sz="1400" b="1" dirty="0">
                <a:solidFill>
                  <a:srgbClr val="E7E7E7"/>
                </a:solidFill>
                <a:latin typeface="Source Code Pro"/>
              </a:rPr>
              <a:t>different</a:t>
            </a:r>
            <a:r>
              <a:rPr sz="1400" dirty="0">
                <a:solidFill>
                  <a:srgbClr val="E7E7E7"/>
                </a:solidFill>
                <a:latin typeface="Source Code Pro"/>
              </a:rPr>
              <a:t> </a:t>
            </a:r>
            <a:r>
              <a:rPr sz="1400" b="1" dirty="0">
                <a:solidFill>
                  <a:srgbClr val="E7E7E7"/>
                </a:solidFill>
                <a:latin typeface="Source Code Pro"/>
              </a:rPr>
              <a:t>length</a:t>
            </a:r>
            <a:r>
              <a:rPr sz="1400" dirty="0">
                <a:solidFill>
                  <a:srgbClr val="E7E7E7"/>
                </a:solidFill>
                <a:latin typeface="Source Code Pro"/>
              </a:rPr>
              <a:t> than </a:t>
            </a:r>
            <a:r>
              <a:rPr sz="1400" b="1" dirty="0">
                <a:solidFill>
                  <a:srgbClr val="E7E7E7"/>
                </a:solidFill>
                <a:latin typeface="Source Code Pro"/>
              </a:rPr>
              <a:t>output</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Examples:</a:t>
            </a:r>
          </a:p>
          <a:p>
            <a:pPr algn="l"/>
            <a:r>
              <a:rPr sz="1400" dirty="0">
                <a:solidFill>
                  <a:srgbClr val="E7E7E7"/>
                </a:solidFill>
                <a:latin typeface="Source Code Pro"/>
              </a:rPr>
              <a:t>  </a:t>
            </a:r>
            <a:r>
              <a:rPr sz="1400" b="1" dirty="0">
                <a:solidFill>
                  <a:srgbClr val="E7E7E7"/>
                </a:solidFill>
                <a:latin typeface="Source Code Pro"/>
              </a:rPr>
              <a:t>Machine</a:t>
            </a:r>
            <a:r>
              <a:rPr sz="1400" dirty="0">
                <a:solidFill>
                  <a:srgbClr val="E7E7E7"/>
                </a:solidFill>
                <a:latin typeface="Source Code Pro"/>
              </a:rPr>
              <a:t> </a:t>
            </a:r>
            <a:r>
              <a:rPr sz="1400" b="1" dirty="0">
                <a:solidFill>
                  <a:srgbClr val="E7E7E7"/>
                </a:solidFill>
                <a:latin typeface="Source Code Pro"/>
              </a:rPr>
              <a:t>translation</a:t>
            </a:r>
            <a:r>
              <a:rPr sz="1400" dirty="0">
                <a:solidFill>
                  <a:srgbClr val="E7E7E7"/>
                </a:solidFill>
                <a:latin typeface="Source Code Pro"/>
              </a:rPr>
              <a:t>: "Hello" (English) → "Bonjour" (French)</a:t>
            </a:r>
          </a:p>
          <a:p>
            <a:pPr algn="l"/>
            <a:r>
              <a:rPr sz="1400" dirty="0">
                <a:solidFill>
                  <a:srgbClr val="E7E7E7"/>
                </a:solidFill>
                <a:latin typeface="Source Code Pro"/>
              </a:rPr>
              <a:t>  </a:t>
            </a:r>
            <a:r>
              <a:rPr sz="1400" b="1" dirty="0">
                <a:solidFill>
                  <a:srgbClr val="E7E7E7"/>
                </a:solidFill>
                <a:latin typeface="Source Code Pro"/>
              </a:rPr>
              <a:t>Summarization</a:t>
            </a:r>
            <a:r>
              <a:rPr sz="1400" dirty="0">
                <a:solidFill>
                  <a:srgbClr val="E7E7E7"/>
                </a:solidFill>
                <a:latin typeface="Source Code Pro"/>
              </a:rPr>
              <a:t>: Long </a:t>
            </a:r>
            <a:r>
              <a:rPr sz="1400" b="1" dirty="0">
                <a:solidFill>
                  <a:srgbClr val="E7E7E7"/>
                </a:solidFill>
                <a:latin typeface="Source Code Pro"/>
              </a:rPr>
              <a:t>text</a:t>
            </a:r>
            <a:r>
              <a:rPr sz="1400" dirty="0">
                <a:solidFill>
                  <a:srgbClr val="E7E7E7"/>
                </a:solidFill>
                <a:latin typeface="Source Code Pro"/>
              </a:rPr>
              <a:t> → Short </a:t>
            </a:r>
            <a:r>
              <a:rPr sz="1400" b="1" dirty="0">
                <a:solidFill>
                  <a:srgbClr val="E7E7E7"/>
                </a:solidFill>
                <a:latin typeface="Source Code Pro"/>
              </a:rPr>
              <a:t>summary</a:t>
            </a:r>
          </a:p>
          <a:p>
            <a:pPr algn="l"/>
            <a:r>
              <a:rPr sz="1400" dirty="0">
                <a:solidFill>
                  <a:srgbClr val="E7E7E7"/>
                </a:solidFill>
                <a:latin typeface="Source Code Pro"/>
              </a:rPr>
              <a:t>  </a:t>
            </a:r>
            <a:r>
              <a:rPr sz="1400" b="1" dirty="0">
                <a:solidFill>
                  <a:srgbClr val="E7E7E7"/>
                </a:solidFill>
                <a:latin typeface="Source Code Pro"/>
              </a:rPr>
              <a:t>Chatbot</a:t>
            </a:r>
            <a:r>
              <a:rPr sz="1400" dirty="0">
                <a:solidFill>
                  <a:srgbClr val="E7E7E7"/>
                </a:solidFill>
                <a:latin typeface="Source Code Pro"/>
              </a:rPr>
              <a:t>: User </a:t>
            </a:r>
            <a:r>
              <a:rPr sz="1400" b="1" dirty="0">
                <a:solidFill>
                  <a:srgbClr val="94EE6B"/>
                </a:solidFill>
                <a:latin typeface="Source Code Pro"/>
              </a:rPr>
              <a:t>question</a:t>
            </a:r>
            <a:r>
              <a:rPr sz="1400" dirty="0">
                <a:solidFill>
                  <a:srgbClr val="E7E7E7"/>
                </a:solidFill>
                <a:latin typeface="Source Code Pro"/>
              </a:rPr>
              <a:t> → Bot </a:t>
            </a:r>
            <a:r>
              <a:rPr sz="1400" b="1" dirty="0">
                <a:solidFill>
                  <a:srgbClr val="E7E7E7"/>
                </a:solidFill>
                <a:latin typeface="Source Code Pro"/>
              </a:rPr>
              <a:t>answer</a:t>
            </a:r>
          </a:p>
          <a:p>
            <a:pPr algn="l"/>
            <a:endParaRPr sz="1400" b="1" dirty="0">
              <a:solidFill>
                <a:srgbClr val="E7E7E7"/>
              </a:solidFill>
              <a:latin typeface="Source Code Pro"/>
            </a:endParaRPr>
          </a:p>
          <a:p>
            <a:pPr algn="l"/>
            <a:r>
              <a:rPr sz="1400" dirty="0">
                <a:solidFill>
                  <a:srgbClr val="E7E7E7"/>
                </a:solidFill>
                <a:latin typeface="Source Code Pro"/>
              </a:rPr>
              <a:t>Architecture:</a:t>
            </a:r>
          </a:p>
          <a:p>
            <a:pPr algn="l"/>
            <a:r>
              <a:rPr sz="1400" dirty="0">
                <a:solidFill>
                  <a:srgbClr val="E7E7E7"/>
                </a:solidFill>
                <a:latin typeface="Source Code Pro"/>
              </a:rPr>
              <a:t>  Encoder: </a:t>
            </a:r>
            <a:r>
              <a:rPr sz="1400" b="1" dirty="0">
                <a:solidFill>
                  <a:srgbClr val="E7E7E7"/>
                </a:solidFill>
                <a:latin typeface="Source Code Pro"/>
              </a:rPr>
              <a:t>Process</a:t>
            </a:r>
            <a:r>
              <a:rPr sz="1400" dirty="0">
                <a:solidFill>
                  <a:srgbClr val="E7E7E7"/>
                </a:solidFill>
                <a:latin typeface="Source Code Pro"/>
              </a:rPr>
              <a:t> </a:t>
            </a:r>
            <a:r>
              <a:rPr sz="1400" b="1" dirty="0">
                <a:solidFill>
                  <a:srgbClr val="E7E7E7"/>
                </a:solidFill>
                <a:latin typeface="Source Code Pro"/>
              </a:rPr>
              <a:t>input</a:t>
            </a:r>
            <a:r>
              <a:rPr sz="1400" dirty="0">
                <a:solidFill>
                  <a:srgbClr val="E7E7E7"/>
                </a:solidFill>
                <a:latin typeface="Source Code Pro"/>
              </a:rPr>
              <a:t> </a:t>
            </a:r>
            <a:r>
              <a:rPr sz="1400" b="1" dirty="0">
                <a:solidFill>
                  <a:srgbClr val="BD64B5"/>
                </a:solidFill>
                <a:latin typeface="Source Code Pro"/>
              </a:rPr>
              <a:t>sequence</a:t>
            </a:r>
            <a:r>
              <a:rPr sz="1400" dirty="0">
                <a:solidFill>
                  <a:srgbClr val="E7E7E7"/>
                </a:solidFill>
                <a:latin typeface="Source Code Pro"/>
              </a:rPr>
              <a:t>, compress to context </a:t>
            </a:r>
            <a:r>
              <a:rPr sz="1400" b="1" dirty="0">
                <a:solidFill>
                  <a:srgbClr val="E7E7E7"/>
                </a:solidFill>
                <a:latin typeface="Source Code Pro"/>
              </a:rPr>
              <a:t>vector</a:t>
            </a:r>
          </a:p>
          <a:p>
            <a:pPr algn="l"/>
            <a:r>
              <a:rPr sz="1400" dirty="0">
                <a:solidFill>
                  <a:srgbClr val="E7E7E7"/>
                </a:solidFill>
                <a:latin typeface="Source Code Pro"/>
              </a:rPr>
              <a:t>  Decoder: Use context </a:t>
            </a:r>
            <a:r>
              <a:rPr sz="1400" b="1" dirty="0">
                <a:solidFill>
                  <a:srgbClr val="E7E7E7"/>
                </a:solidFill>
                <a:latin typeface="Source Code Pro"/>
              </a:rPr>
              <a:t>vector</a:t>
            </a:r>
            <a:r>
              <a:rPr sz="1400" dirty="0">
                <a:solidFill>
                  <a:srgbClr val="E7E7E7"/>
                </a:solidFill>
                <a:latin typeface="Source Code Pro"/>
              </a:rPr>
              <a:t>, </a:t>
            </a:r>
            <a:r>
              <a:rPr sz="1400" b="1" dirty="0">
                <a:solidFill>
                  <a:srgbClr val="E7E7E7"/>
                </a:solidFill>
                <a:latin typeface="Source Code Pro"/>
              </a:rPr>
              <a:t>generate</a:t>
            </a:r>
            <a:r>
              <a:rPr sz="1400" dirty="0">
                <a:solidFill>
                  <a:srgbClr val="E7E7E7"/>
                </a:solidFill>
                <a:latin typeface="Source Code Pro"/>
              </a:rPr>
              <a:t> </a:t>
            </a:r>
            <a:r>
              <a:rPr sz="1400" b="1" dirty="0">
                <a:solidFill>
                  <a:srgbClr val="E7E7E7"/>
                </a:solidFill>
                <a:latin typeface="Source Code Pro"/>
              </a:rPr>
              <a:t>output</a:t>
            </a:r>
            <a:r>
              <a:rPr sz="1400" dirty="0">
                <a:solidFill>
                  <a:srgbClr val="E7E7E7"/>
                </a:solidFill>
                <a:latin typeface="Source Code Pro"/>
              </a:rPr>
              <a:t> </a:t>
            </a:r>
            <a:r>
              <a:rPr sz="1400" b="1" dirty="0">
                <a:solidFill>
                  <a:srgbClr val="E81A81"/>
                </a:solidFill>
                <a:latin typeface="Source Code Pro"/>
              </a:rPr>
              <a:t>sequence</a:t>
            </a:r>
          </a:p>
          <a:p>
            <a:pPr algn="l"/>
            <a:endParaRPr sz="1400" b="1" dirty="0">
              <a:solidFill>
                <a:srgbClr val="E81A81"/>
              </a:solidFill>
              <a:latin typeface="Source Code Pro"/>
            </a:endParaRPr>
          </a:p>
          <a:p>
            <a:pPr algn="l"/>
            <a:r>
              <a:rPr sz="1400" dirty="0">
                <a:solidFill>
                  <a:srgbClr val="E7E7E7"/>
                </a:solidFill>
                <a:latin typeface="Source Code Pro"/>
              </a:rPr>
              <a:t>Encoder: Input → LSTM → </a:t>
            </a:r>
            <a:r>
              <a:rPr sz="1400" b="1" dirty="0">
                <a:solidFill>
                  <a:srgbClr val="FD4A4A"/>
                </a:solidFill>
                <a:latin typeface="Source Code Pro"/>
              </a:rPr>
              <a:t>LSTM</a:t>
            </a:r>
            <a:r>
              <a:rPr sz="1400" dirty="0">
                <a:solidFill>
                  <a:srgbClr val="E7E7E7"/>
                </a:solidFill>
                <a:latin typeface="Source Code Pro"/>
              </a:rPr>
              <a:t> → Final </a:t>
            </a:r>
            <a:r>
              <a:rPr sz="1400" b="1" dirty="0">
                <a:solidFill>
                  <a:srgbClr val="E7E7E7"/>
                </a:solidFill>
                <a:latin typeface="Source Code Pro"/>
              </a:rPr>
              <a:t>hidden</a:t>
            </a:r>
            <a:r>
              <a:rPr sz="1400" dirty="0">
                <a:solidFill>
                  <a:srgbClr val="E7E7E7"/>
                </a:solidFill>
                <a:latin typeface="Source Code Pro"/>
              </a:rPr>
              <a:t> </a:t>
            </a:r>
            <a:r>
              <a:rPr sz="1400" b="1" dirty="0">
                <a:solidFill>
                  <a:srgbClr val="BD64B5"/>
                </a:solidFill>
                <a:latin typeface="Source Code Pro"/>
              </a:rPr>
              <a:t>state</a:t>
            </a:r>
            <a:r>
              <a:rPr sz="1400" dirty="0">
                <a:solidFill>
                  <a:srgbClr val="E7E7E7"/>
                </a:solidFill>
                <a:latin typeface="Source Code Pro"/>
              </a:rPr>
              <a:t> (context)</a:t>
            </a:r>
          </a:p>
          <a:p>
            <a:pPr algn="l"/>
            <a:r>
              <a:rPr sz="1400" dirty="0">
                <a:solidFill>
                  <a:srgbClr val="E7E7E7"/>
                </a:solidFill>
                <a:latin typeface="Source Code Pro"/>
              </a:rPr>
              <a:t>Decoder: Context → LSTM → </a:t>
            </a:r>
            <a:r>
              <a:rPr sz="1400" b="1" dirty="0">
                <a:solidFill>
                  <a:srgbClr val="E7E7E7"/>
                </a:solidFill>
                <a:latin typeface="Source Code Pro"/>
              </a:rPr>
              <a:t>Output</a:t>
            </a:r>
            <a:r>
              <a:rPr sz="1400" dirty="0">
                <a:solidFill>
                  <a:srgbClr val="E7E7E7"/>
                </a:solidFill>
                <a:latin typeface="Source Code Pro"/>
              </a:rPr>
              <a:t> → </a:t>
            </a:r>
            <a:r>
              <a:rPr sz="1400" b="1" dirty="0">
                <a:solidFill>
                  <a:srgbClr val="E7E7E7"/>
                </a:solidFill>
                <a:latin typeface="Source Code Pro"/>
              </a:rPr>
              <a:t>Output</a:t>
            </a:r>
            <a:r>
              <a:rPr sz="1400" dirty="0">
                <a:solidFill>
                  <a:srgbClr val="E7E7E7"/>
                </a:solidFill>
                <a:latin typeface="Source Code Pro"/>
              </a:rPr>
              <a:t> → </a:t>
            </a:r>
            <a:r>
              <a:rPr sz="1400" b="1" dirty="0">
                <a:solidFill>
                  <a:srgbClr val="E7E7E7"/>
                </a:solidFill>
                <a:latin typeface="Source Code Pro"/>
              </a:rPr>
              <a:t>Output</a:t>
            </a:r>
          </a:p>
          <a:p>
            <a:pPr algn="l"/>
            <a:endParaRPr sz="1400" b="1" dirty="0">
              <a:solidFill>
                <a:srgbClr val="E7E7E7"/>
              </a:solidFill>
              <a:latin typeface="Source Code Pro"/>
            </a:endParaRPr>
          </a:p>
          <a:p>
            <a:pPr algn="l"/>
            <a:r>
              <a:rPr sz="1400" b="1" dirty="0">
                <a:solidFill>
                  <a:srgbClr val="E7E7E7"/>
                </a:solidFill>
                <a:latin typeface="Source Code Pro"/>
              </a:rPr>
              <a:t>Attention</a:t>
            </a:r>
            <a:r>
              <a:rPr sz="1400" dirty="0">
                <a:solidFill>
                  <a:srgbClr val="E7E7E7"/>
                </a:solidFill>
                <a:latin typeface="Source Code Pro"/>
              </a:rPr>
              <a:t> (next </a:t>
            </a:r>
            <a:r>
              <a:rPr sz="1400" b="1" dirty="0">
                <a:solidFill>
                  <a:srgbClr val="E7E7E7"/>
                </a:solidFill>
                <a:latin typeface="Source Code Pro"/>
              </a:rPr>
              <a:t>slide</a:t>
            </a:r>
            <a:r>
              <a:rPr sz="1400" dirty="0">
                <a:solidFill>
                  <a:srgbClr val="E7E7E7"/>
                </a:solidFill>
                <a:latin typeface="Source Code Pro"/>
              </a:rPr>
              <a:t>) improves this </a:t>
            </a:r>
            <a:r>
              <a:rPr sz="1400" b="1" dirty="0">
                <a:solidFill>
                  <a:srgbClr val="E7E7E7"/>
                </a:solidFill>
                <a:latin typeface="Source Code Pro"/>
              </a:rPr>
              <a:t>approach</a:t>
            </a:r>
            <a:r>
              <a:rPr sz="1400" dirty="0">
                <a:solidFill>
                  <a:srgbClr val="E7E7E7"/>
                </a:solidFill>
                <a:latin typeface="Source Code Pro"/>
              </a:rPr>
              <a:t>.</a:t>
            </a:r>
          </a:p>
        </p:txBody>
      </p:sp>
    </p:spTree>
    <p:extLst>
      <p:ext uri="{BB962C8B-B14F-4D97-AF65-F5344CB8AC3E}">
        <p14:creationId xmlns:p14="http://schemas.microsoft.com/office/powerpoint/2010/main" val="2107346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EB399DED-1598-81F6-DE27-901E704CFE69}"/>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Attention Mechanism for RNNs</a:t>
            </a:r>
          </a:p>
        </p:txBody>
      </p:sp>
      <p:sp>
        <p:nvSpPr>
          <p:cNvPr id="3" name="TextBox 2"/>
          <p:cNvSpPr txBox="1"/>
          <p:nvPr/>
        </p:nvSpPr>
        <p:spPr>
          <a:xfrm>
            <a:off x="256032" y="1463040"/>
            <a:ext cx="8229600" cy="3754874"/>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Problem with Seq2Seq: </a:t>
            </a:r>
            <a:r>
              <a:rPr sz="1400" b="1" dirty="0">
                <a:solidFill>
                  <a:srgbClr val="E7E7E7"/>
                </a:solidFill>
                <a:latin typeface="Source Code Pro"/>
              </a:rPr>
              <a:t>Entire</a:t>
            </a:r>
            <a:r>
              <a:rPr sz="1400" dirty="0">
                <a:solidFill>
                  <a:srgbClr val="E7E7E7"/>
                </a:solidFill>
                <a:latin typeface="Source Code Pro"/>
              </a:rPr>
              <a:t> </a:t>
            </a:r>
            <a:r>
              <a:rPr sz="1400" b="1" dirty="0">
                <a:solidFill>
                  <a:srgbClr val="BD64B5"/>
                </a:solidFill>
                <a:latin typeface="Source Code Pro"/>
              </a:rPr>
              <a:t>input</a:t>
            </a:r>
            <a:r>
              <a:rPr sz="1400" dirty="0">
                <a:solidFill>
                  <a:srgbClr val="E7E7E7"/>
                </a:solidFill>
                <a:latin typeface="Source Code Pro"/>
              </a:rPr>
              <a:t> </a:t>
            </a:r>
            <a:r>
              <a:rPr sz="1400" b="1" dirty="0">
                <a:solidFill>
                  <a:srgbClr val="E7E7E7"/>
                </a:solidFill>
                <a:latin typeface="Source Code Pro"/>
              </a:rPr>
              <a:t>compressed</a:t>
            </a:r>
            <a:r>
              <a:rPr sz="1400" dirty="0">
                <a:solidFill>
                  <a:srgbClr val="E7E7E7"/>
                </a:solidFill>
                <a:latin typeface="Source Code Pro"/>
              </a:rPr>
              <a:t> to one </a:t>
            </a:r>
            <a:r>
              <a:rPr sz="1400" b="1" dirty="0">
                <a:solidFill>
                  <a:srgbClr val="E7E7E7"/>
                </a:solidFill>
                <a:latin typeface="Source Code Pro"/>
              </a:rPr>
              <a:t>vector</a:t>
            </a:r>
            <a:r>
              <a:rPr sz="1400" dirty="0">
                <a:solidFill>
                  <a:srgbClr val="E7E7E7"/>
                </a:solidFill>
                <a:latin typeface="Source Code Pro"/>
              </a:rPr>
              <a:t>. </a:t>
            </a:r>
            <a:r>
              <a:rPr sz="1400" b="1" dirty="0">
                <a:solidFill>
                  <a:srgbClr val="E7E7E7"/>
                </a:solidFill>
                <a:latin typeface="Source Code Pro"/>
              </a:rPr>
              <a:t>Loss</a:t>
            </a:r>
            <a:r>
              <a:rPr sz="1400" dirty="0">
                <a:solidFill>
                  <a:srgbClr val="E7E7E7"/>
                </a:solidFill>
                <a:latin typeface="Source Code Pro"/>
              </a:rPr>
              <a:t> </a:t>
            </a:r>
            <a:r>
              <a:rPr sz="1400" b="1" dirty="0">
                <a:solidFill>
                  <a:srgbClr val="E81A81"/>
                </a:solidFill>
                <a:latin typeface="Source Code Pro"/>
              </a:rPr>
              <a:t>information</a:t>
            </a:r>
            <a:r>
              <a:rPr sz="1400" dirty="0">
                <a:solidFill>
                  <a:srgbClr val="E7E7E7"/>
                </a:solidFill>
                <a:latin typeface="Source Code Pro"/>
              </a:rPr>
              <a:t>!</a:t>
            </a:r>
          </a:p>
          <a:p>
            <a:pPr algn="l"/>
            <a:endParaRPr sz="1400" dirty="0">
              <a:solidFill>
                <a:srgbClr val="E7E7E7"/>
              </a:solidFill>
              <a:latin typeface="Source Code Pro"/>
            </a:endParaRPr>
          </a:p>
          <a:p>
            <a:pPr algn="l"/>
            <a:r>
              <a:rPr sz="1400" b="1" dirty="0">
                <a:solidFill>
                  <a:srgbClr val="E7E7E7"/>
                </a:solidFill>
                <a:latin typeface="Source Code Pro"/>
              </a:rPr>
              <a:t>Attention</a:t>
            </a:r>
            <a:r>
              <a:rPr sz="1400" dirty="0">
                <a:solidFill>
                  <a:srgbClr val="E7E7E7"/>
                </a:solidFill>
                <a:latin typeface="Source Code Pro"/>
              </a:rPr>
              <a:t>: Decoder looks at </a:t>
            </a:r>
            <a:r>
              <a:rPr sz="1400" b="1" dirty="0">
                <a:solidFill>
                  <a:srgbClr val="EC7955"/>
                </a:solidFill>
                <a:latin typeface="Source Code Pro"/>
              </a:rPr>
              <a:t>all</a:t>
            </a:r>
            <a:r>
              <a:rPr sz="1400" dirty="0">
                <a:solidFill>
                  <a:srgbClr val="E7E7E7"/>
                </a:solidFill>
                <a:latin typeface="Source Code Pro"/>
              </a:rPr>
              <a:t> </a:t>
            </a:r>
            <a:r>
              <a:rPr sz="1400" b="1" dirty="0">
                <a:solidFill>
                  <a:srgbClr val="E7E7E7"/>
                </a:solidFill>
                <a:latin typeface="Source Code Pro"/>
              </a:rPr>
              <a:t>encoder</a:t>
            </a:r>
            <a:r>
              <a:rPr sz="1400" dirty="0">
                <a:solidFill>
                  <a:srgbClr val="E7E7E7"/>
                </a:solidFill>
                <a:latin typeface="Source Code Pro"/>
              </a:rPr>
              <a:t> </a:t>
            </a:r>
            <a:r>
              <a:rPr sz="1400" b="1" dirty="0">
                <a:solidFill>
                  <a:srgbClr val="E7E7E7"/>
                </a:solidFill>
                <a:latin typeface="Source Code Pro"/>
              </a:rPr>
              <a:t>hidden</a:t>
            </a:r>
            <a:r>
              <a:rPr sz="1400" dirty="0">
                <a:solidFill>
                  <a:srgbClr val="E7E7E7"/>
                </a:solidFill>
                <a:latin typeface="Source Code Pro"/>
              </a:rPr>
              <a:t> </a:t>
            </a:r>
            <a:r>
              <a:rPr sz="1400" b="1" dirty="0">
                <a:solidFill>
                  <a:srgbClr val="E7E7E7"/>
                </a:solidFill>
                <a:latin typeface="Source Code Pro"/>
              </a:rPr>
              <a:t>states</a:t>
            </a:r>
            <a:r>
              <a:rPr sz="1400" dirty="0">
                <a:solidFill>
                  <a:srgbClr val="E7E7E7"/>
                </a:solidFill>
                <a:latin typeface="Source Code Pro"/>
              </a:rPr>
              <a:t>, </a:t>
            </a:r>
            <a:r>
              <a:rPr sz="1400" b="1" dirty="0">
                <a:solidFill>
                  <a:srgbClr val="E7E7E7"/>
                </a:solidFill>
                <a:latin typeface="Source Code Pro"/>
              </a:rPr>
              <a:t>focuses</a:t>
            </a:r>
            <a:r>
              <a:rPr sz="1400" dirty="0">
                <a:solidFill>
                  <a:srgbClr val="E7E7E7"/>
                </a:solidFill>
                <a:latin typeface="Source Code Pro"/>
              </a:rPr>
              <a:t> on </a:t>
            </a:r>
            <a:r>
              <a:rPr sz="1400" b="1" dirty="0">
                <a:solidFill>
                  <a:srgbClr val="94EE6B"/>
                </a:solidFill>
                <a:latin typeface="Source Code Pro"/>
              </a:rPr>
              <a:t>relevant</a:t>
            </a:r>
            <a:r>
              <a:rPr sz="1400" dirty="0">
                <a:solidFill>
                  <a:srgbClr val="E7E7E7"/>
                </a:solidFill>
                <a:latin typeface="Source Code Pro"/>
              </a:rPr>
              <a:t> ones.</a:t>
            </a:r>
          </a:p>
          <a:p>
            <a:pPr algn="l"/>
            <a:endParaRPr sz="1400" dirty="0">
              <a:solidFill>
                <a:srgbClr val="E7E7E7"/>
              </a:solidFill>
              <a:latin typeface="Source Code Pro"/>
            </a:endParaRPr>
          </a:p>
          <a:p>
            <a:pPr algn="l"/>
            <a:r>
              <a:rPr sz="1400" dirty="0">
                <a:solidFill>
                  <a:srgbClr val="E7E7E7"/>
                </a:solidFill>
                <a:latin typeface="Source Code Pro"/>
              </a:rPr>
              <a:t>At each </a:t>
            </a:r>
            <a:r>
              <a:rPr sz="1400" b="1" dirty="0">
                <a:solidFill>
                  <a:srgbClr val="E7E7E7"/>
                </a:solidFill>
                <a:latin typeface="Source Code Pro"/>
              </a:rPr>
              <a:t>decode</a:t>
            </a:r>
            <a:r>
              <a:rPr sz="1400" dirty="0">
                <a:solidFill>
                  <a:srgbClr val="E7E7E7"/>
                </a:solidFill>
                <a:latin typeface="Source Code Pro"/>
              </a:rPr>
              <a:t> </a:t>
            </a:r>
            <a:r>
              <a:rPr sz="1400" b="1" dirty="0">
                <a:solidFill>
                  <a:srgbClr val="BD64B5"/>
                </a:solidFill>
                <a:latin typeface="Source Code Pro"/>
              </a:rPr>
              <a:t>step</a:t>
            </a:r>
            <a:r>
              <a:rPr sz="1400" dirty="0">
                <a:solidFill>
                  <a:srgbClr val="E7E7E7"/>
                </a:solidFill>
                <a:latin typeface="Source Code Pro"/>
              </a:rPr>
              <a:t>:</a:t>
            </a:r>
          </a:p>
          <a:p>
            <a:pPr algn="l"/>
            <a:r>
              <a:rPr sz="1400" dirty="0">
                <a:solidFill>
                  <a:srgbClr val="E7E7E7"/>
                </a:solidFill>
                <a:latin typeface="Source Code Pro"/>
              </a:rPr>
              <a:t>  1. Compute </a:t>
            </a:r>
            <a:r>
              <a:rPr sz="1400" b="1" dirty="0">
                <a:solidFill>
                  <a:srgbClr val="E7E7E7"/>
                </a:solidFill>
                <a:latin typeface="Source Code Pro"/>
              </a:rPr>
              <a:t>similarity</a:t>
            </a:r>
            <a:r>
              <a:rPr sz="1400" dirty="0">
                <a:solidFill>
                  <a:srgbClr val="E7E7E7"/>
                </a:solidFill>
                <a:latin typeface="Source Code Pro"/>
              </a:rPr>
              <a:t> between </a:t>
            </a:r>
            <a:r>
              <a:rPr sz="1400" b="1" dirty="0">
                <a:solidFill>
                  <a:srgbClr val="E7E7E7"/>
                </a:solidFill>
                <a:latin typeface="Source Code Pro"/>
              </a:rPr>
              <a:t>decoder</a:t>
            </a:r>
            <a:r>
              <a:rPr sz="1400" dirty="0">
                <a:solidFill>
                  <a:srgbClr val="E7E7E7"/>
                </a:solidFill>
                <a:latin typeface="Source Code Pro"/>
              </a:rPr>
              <a:t> </a:t>
            </a:r>
            <a:r>
              <a:rPr sz="1400" b="1" dirty="0">
                <a:solidFill>
                  <a:srgbClr val="E7E7E7"/>
                </a:solidFill>
                <a:latin typeface="Source Code Pro"/>
              </a:rPr>
              <a:t>state</a:t>
            </a:r>
            <a:r>
              <a:rPr sz="1400" dirty="0">
                <a:solidFill>
                  <a:srgbClr val="E7E7E7"/>
                </a:solidFill>
                <a:latin typeface="Source Code Pro"/>
              </a:rPr>
              <a:t> and </a:t>
            </a:r>
            <a:r>
              <a:rPr sz="1400" b="1" dirty="0">
                <a:solidFill>
                  <a:srgbClr val="4CAE97"/>
                </a:solidFill>
                <a:latin typeface="Source Code Pro"/>
              </a:rPr>
              <a:t>all</a:t>
            </a:r>
            <a:r>
              <a:rPr sz="1400" dirty="0">
                <a:solidFill>
                  <a:srgbClr val="E7E7E7"/>
                </a:solidFill>
                <a:latin typeface="Source Code Pro"/>
              </a:rPr>
              <a:t> </a:t>
            </a:r>
            <a:r>
              <a:rPr sz="1400" b="1" dirty="0">
                <a:solidFill>
                  <a:srgbClr val="E7E7E7"/>
                </a:solidFill>
                <a:latin typeface="Source Code Pro"/>
              </a:rPr>
              <a:t>encoder</a:t>
            </a:r>
            <a:r>
              <a:rPr sz="1400" dirty="0">
                <a:solidFill>
                  <a:srgbClr val="E7E7E7"/>
                </a:solidFill>
                <a:latin typeface="Source Code Pro"/>
              </a:rPr>
              <a:t> </a:t>
            </a:r>
            <a:r>
              <a:rPr sz="1400" b="1" dirty="0">
                <a:solidFill>
                  <a:srgbClr val="E7E7E7"/>
                </a:solidFill>
                <a:latin typeface="Source Code Pro"/>
              </a:rPr>
              <a:t>states</a:t>
            </a:r>
          </a:p>
          <a:p>
            <a:pPr algn="l"/>
            <a:r>
              <a:rPr sz="1400" dirty="0">
                <a:solidFill>
                  <a:srgbClr val="E7E7E7"/>
                </a:solidFill>
                <a:latin typeface="Source Code Pro"/>
              </a:rPr>
              <a:t>  2. Softmax over </a:t>
            </a:r>
            <a:r>
              <a:rPr sz="1400" b="1" dirty="0">
                <a:solidFill>
                  <a:srgbClr val="E7E7E7"/>
                </a:solidFill>
                <a:latin typeface="Source Code Pro"/>
              </a:rPr>
              <a:t>similarities</a:t>
            </a:r>
            <a:r>
              <a:rPr sz="1400" dirty="0">
                <a:solidFill>
                  <a:srgbClr val="E7E7E7"/>
                </a:solidFill>
                <a:latin typeface="Source Code Pro"/>
              </a:rPr>
              <a:t> → </a:t>
            </a:r>
            <a:r>
              <a:rPr sz="1400" b="1" dirty="0">
                <a:solidFill>
                  <a:srgbClr val="E7E7E7"/>
                </a:solidFill>
                <a:latin typeface="Source Code Pro"/>
              </a:rPr>
              <a:t>attention</a:t>
            </a:r>
            <a:r>
              <a:rPr sz="1400" dirty="0">
                <a:solidFill>
                  <a:srgbClr val="E7E7E7"/>
                </a:solidFill>
                <a:latin typeface="Source Code Pro"/>
              </a:rPr>
              <a:t> </a:t>
            </a:r>
            <a:r>
              <a:rPr sz="1400" b="1" dirty="0">
                <a:solidFill>
                  <a:srgbClr val="E7E7E7"/>
                </a:solidFill>
                <a:latin typeface="Source Code Pro"/>
              </a:rPr>
              <a:t>weights</a:t>
            </a:r>
          </a:p>
          <a:p>
            <a:pPr algn="l"/>
            <a:r>
              <a:rPr sz="1400" dirty="0">
                <a:solidFill>
                  <a:srgbClr val="E7E7E7"/>
                </a:solidFill>
                <a:latin typeface="Source Code Pro"/>
              </a:rPr>
              <a:t>  3. </a:t>
            </a:r>
            <a:r>
              <a:rPr sz="1400" b="1" dirty="0">
                <a:solidFill>
                  <a:srgbClr val="E7E7E7"/>
                </a:solidFill>
                <a:latin typeface="Source Code Pro"/>
              </a:rPr>
              <a:t>Weighted</a:t>
            </a:r>
            <a:r>
              <a:rPr sz="1400" dirty="0">
                <a:solidFill>
                  <a:srgbClr val="E7E7E7"/>
                </a:solidFill>
                <a:latin typeface="Source Code Pro"/>
              </a:rPr>
              <a:t> </a:t>
            </a:r>
            <a:r>
              <a:rPr sz="1400" b="1" dirty="0">
                <a:solidFill>
                  <a:srgbClr val="E7E7E7"/>
                </a:solidFill>
                <a:latin typeface="Source Code Pro"/>
              </a:rPr>
              <a:t>average</a:t>
            </a:r>
            <a:r>
              <a:rPr sz="1400" dirty="0">
                <a:solidFill>
                  <a:srgbClr val="E7E7E7"/>
                </a:solidFill>
                <a:latin typeface="Source Code Pro"/>
              </a:rPr>
              <a:t> of </a:t>
            </a:r>
            <a:r>
              <a:rPr sz="1400" b="1" dirty="0">
                <a:solidFill>
                  <a:srgbClr val="E7E7E7"/>
                </a:solidFill>
                <a:latin typeface="Source Code Pro"/>
              </a:rPr>
              <a:t>encoder</a:t>
            </a:r>
            <a:r>
              <a:rPr sz="1400" dirty="0">
                <a:solidFill>
                  <a:srgbClr val="E7E7E7"/>
                </a:solidFill>
                <a:latin typeface="Source Code Pro"/>
              </a:rPr>
              <a:t> </a:t>
            </a:r>
            <a:r>
              <a:rPr sz="1400" b="1" dirty="0">
                <a:solidFill>
                  <a:srgbClr val="E7E7E7"/>
                </a:solidFill>
                <a:latin typeface="Source Code Pro"/>
              </a:rPr>
              <a:t>states</a:t>
            </a:r>
            <a:r>
              <a:rPr sz="1400" dirty="0">
                <a:solidFill>
                  <a:srgbClr val="E7E7E7"/>
                </a:solidFill>
                <a:latin typeface="Source Code Pro"/>
              </a:rPr>
              <a:t> → context </a:t>
            </a:r>
            <a:r>
              <a:rPr sz="1400" b="1" dirty="0">
                <a:solidFill>
                  <a:srgbClr val="E7E7E7"/>
                </a:solidFill>
                <a:latin typeface="Source Code Pro"/>
              </a:rPr>
              <a:t>vector</a:t>
            </a:r>
          </a:p>
          <a:p>
            <a:pPr algn="l"/>
            <a:r>
              <a:rPr sz="1400" dirty="0">
                <a:solidFill>
                  <a:srgbClr val="E7E7E7"/>
                </a:solidFill>
                <a:latin typeface="Source Code Pro"/>
              </a:rPr>
              <a:t>  4. Decoder uses </a:t>
            </a:r>
            <a:r>
              <a:rPr sz="1400" b="1" dirty="0">
                <a:solidFill>
                  <a:srgbClr val="E7E7E7"/>
                </a:solidFill>
                <a:latin typeface="Source Code Pro"/>
              </a:rPr>
              <a:t>context</a:t>
            </a:r>
            <a:r>
              <a:rPr sz="1400" dirty="0">
                <a:solidFill>
                  <a:srgbClr val="E7E7E7"/>
                </a:solidFill>
                <a:latin typeface="Source Code Pro"/>
              </a:rPr>
              <a:t> + </a:t>
            </a:r>
            <a:r>
              <a:rPr sz="1400" b="1" dirty="0">
                <a:solidFill>
                  <a:srgbClr val="E7E7E7"/>
                </a:solidFill>
                <a:latin typeface="Source Code Pro"/>
              </a:rPr>
              <a:t>hidden</a:t>
            </a:r>
            <a:r>
              <a:rPr sz="1400" dirty="0">
                <a:solidFill>
                  <a:srgbClr val="E7E7E7"/>
                </a:solidFill>
                <a:latin typeface="Source Code Pro"/>
              </a:rPr>
              <a:t> </a:t>
            </a:r>
            <a:r>
              <a:rPr sz="1400" b="1" dirty="0">
                <a:solidFill>
                  <a:srgbClr val="E7E7E7"/>
                </a:solidFill>
                <a:latin typeface="Source Code Pro"/>
              </a:rPr>
              <a:t>state</a:t>
            </a:r>
            <a:r>
              <a:rPr sz="1400" dirty="0">
                <a:solidFill>
                  <a:srgbClr val="E7E7E7"/>
                </a:solidFill>
                <a:latin typeface="Source Code Pro"/>
              </a:rPr>
              <a:t> → </a:t>
            </a:r>
            <a:r>
              <a:rPr sz="1400" b="1" dirty="0">
                <a:solidFill>
                  <a:srgbClr val="E7E7E7"/>
                </a:solidFill>
                <a:latin typeface="Source Code Pro"/>
              </a:rPr>
              <a:t>output</a:t>
            </a:r>
          </a:p>
          <a:p>
            <a:pPr algn="l"/>
            <a:endParaRPr sz="1400" b="1" dirty="0">
              <a:solidFill>
                <a:srgbClr val="E7E7E7"/>
              </a:solidFill>
              <a:latin typeface="Source Code Pro"/>
            </a:endParaRPr>
          </a:p>
          <a:p>
            <a:pPr algn="l"/>
            <a:r>
              <a:rPr sz="1400" dirty="0">
                <a:solidFill>
                  <a:srgbClr val="E7E7E7"/>
                </a:solidFill>
                <a:latin typeface="Source Code Pro"/>
              </a:rPr>
              <a:t>Result: Decoder </a:t>
            </a:r>
            <a:r>
              <a:rPr sz="1400" b="1" dirty="0">
                <a:solidFill>
                  <a:srgbClr val="E7E7E7"/>
                </a:solidFill>
                <a:latin typeface="Source Code Pro"/>
              </a:rPr>
              <a:t>attends</a:t>
            </a:r>
            <a:r>
              <a:rPr sz="1400" dirty="0">
                <a:solidFill>
                  <a:srgbClr val="E7E7E7"/>
                </a:solidFill>
                <a:latin typeface="Source Code Pro"/>
              </a:rPr>
              <a:t> to </a:t>
            </a:r>
            <a:r>
              <a:rPr sz="1400" b="1" dirty="0">
                <a:solidFill>
                  <a:srgbClr val="FD4A4A"/>
                </a:solidFill>
                <a:latin typeface="Source Code Pro"/>
              </a:rPr>
              <a:t>relevant</a:t>
            </a:r>
            <a:r>
              <a:rPr sz="1400" dirty="0">
                <a:solidFill>
                  <a:srgbClr val="E7E7E7"/>
                </a:solidFill>
                <a:latin typeface="Source Code Pro"/>
              </a:rPr>
              <a:t> </a:t>
            </a:r>
            <a:r>
              <a:rPr sz="1400" b="1" dirty="0">
                <a:solidFill>
                  <a:srgbClr val="E7E7E7"/>
                </a:solidFill>
                <a:latin typeface="Source Code Pro"/>
              </a:rPr>
              <a:t>parts</a:t>
            </a:r>
            <a:r>
              <a:rPr sz="1400" dirty="0">
                <a:solidFill>
                  <a:srgbClr val="E7E7E7"/>
                </a:solidFill>
                <a:latin typeface="Source Code Pro"/>
              </a:rPr>
              <a:t> of </a:t>
            </a:r>
            <a:r>
              <a:rPr sz="1400" b="1" dirty="0">
                <a:solidFill>
                  <a:srgbClr val="E81A81"/>
                </a:solidFill>
                <a:latin typeface="Source Code Pro"/>
              </a:rPr>
              <a:t>input</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Example: </a:t>
            </a:r>
            <a:r>
              <a:rPr sz="1400" b="1" dirty="0">
                <a:solidFill>
                  <a:srgbClr val="E7E7E7"/>
                </a:solidFill>
                <a:latin typeface="Source Code Pro"/>
              </a:rPr>
              <a:t>Translating</a:t>
            </a:r>
            <a:r>
              <a:rPr sz="1400" dirty="0">
                <a:solidFill>
                  <a:srgbClr val="E7E7E7"/>
                </a:solidFill>
                <a:latin typeface="Source Code Pro"/>
              </a:rPr>
              <a:t> "The cat sat" → </a:t>
            </a:r>
            <a:r>
              <a:rPr sz="1400" b="1" dirty="0">
                <a:solidFill>
                  <a:srgbClr val="E7E7E7"/>
                </a:solidFill>
                <a:latin typeface="Source Code Pro"/>
              </a:rPr>
              <a:t>Decoder</a:t>
            </a:r>
            <a:r>
              <a:rPr sz="1400" dirty="0">
                <a:solidFill>
                  <a:srgbClr val="E7E7E7"/>
                </a:solidFill>
                <a:latin typeface="Source Code Pro"/>
              </a:rPr>
              <a:t> </a:t>
            </a:r>
            <a:r>
              <a:rPr sz="1400" b="1" dirty="0">
                <a:solidFill>
                  <a:srgbClr val="E7E7E7"/>
                </a:solidFill>
                <a:latin typeface="Source Code Pro"/>
              </a:rPr>
              <a:t>attends</a:t>
            </a:r>
            <a:r>
              <a:rPr sz="1400" dirty="0">
                <a:solidFill>
                  <a:srgbClr val="E7E7E7"/>
                </a:solidFill>
                <a:latin typeface="Source Code Pro"/>
              </a:rPr>
              <a:t> to "cat" when </a:t>
            </a:r>
            <a:r>
              <a:rPr sz="1400" b="1" dirty="0">
                <a:solidFill>
                  <a:srgbClr val="E7E7E7"/>
                </a:solidFill>
                <a:latin typeface="Source Code Pro"/>
              </a:rPr>
              <a:t>outputting</a:t>
            </a:r>
            <a:r>
              <a:rPr sz="1400" dirty="0">
                <a:solidFill>
                  <a:srgbClr val="E7E7E7"/>
                </a:solidFill>
                <a:latin typeface="Source Code Pro"/>
              </a:rPr>
              <a:t> animal </a:t>
            </a:r>
            <a:r>
              <a:rPr sz="1400" b="1" dirty="0">
                <a:solidFill>
                  <a:srgbClr val="E7E7E7"/>
                </a:solidFill>
                <a:latin typeface="Source Code Pro"/>
              </a:rPr>
              <a:t>word</a:t>
            </a:r>
            <a:r>
              <a:rPr sz="1400" dirty="0">
                <a:solidFill>
                  <a:srgbClr val="E7E7E7"/>
                </a:solidFill>
                <a:latin typeface="Source Code Pro"/>
              </a:rPr>
              <a:t>.</a:t>
            </a:r>
          </a:p>
        </p:txBody>
      </p:sp>
    </p:spTree>
    <p:extLst>
      <p:ext uri="{BB962C8B-B14F-4D97-AF65-F5344CB8AC3E}">
        <p14:creationId xmlns:p14="http://schemas.microsoft.com/office/powerpoint/2010/main" val="2886373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0C0ADA3A-242A-17CD-A1A7-820A8E55E04B}"/>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Backpropagation Through Time (BPTT)</a:t>
            </a:r>
          </a:p>
        </p:txBody>
      </p:sp>
      <p:sp>
        <p:nvSpPr>
          <p:cNvPr id="3" name="TextBox 2"/>
          <p:cNvSpPr txBox="1"/>
          <p:nvPr/>
        </p:nvSpPr>
        <p:spPr>
          <a:xfrm>
            <a:off x="256032" y="1463040"/>
            <a:ext cx="8229600" cy="3754874"/>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RNNs </a:t>
            </a:r>
            <a:r>
              <a:rPr sz="1400" b="1" dirty="0">
                <a:solidFill>
                  <a:srgbClr val="E7E7E7"/>
                </a:solidFill>
                <a:latin typeface="Source Code Pro"/>
              </a:rPr>
              <a:t>train</a:t>
            </a:r>
            <a:r>
              <a:rPr sz="1400" dirty="0">
                <a:solidFill>
                  <a:srgbClr val="E7E7E7"/>
                </a:solidFill>
                <a:latin typeface="Source Code Pro"/>
              </a:rPr>
              <a:t> using </a:t>
            </a:r>
            <a:r>
              <a:rPr sz="1400" b="1" dirty="0">
                <a:solidFill>
                  <a:srgbClr val="E7E7E7"/>
                </a:solidFill>
                <a:latin typeface="Source Code Pro"/>
              </a:rPr>
              <a:t>Backpropagation</a:t>
            </a:r>
            <a:r>
              <a:rPr sz="1400" dirty="0">
                <a:solidFill>
                  <a:srgbClr val="E7E7E7"/>
                </a:solidFill>
                <a:latin typeface="Source Code Pro"/>
              </a:rPr>
              <a:t> Through </a:t>
            </a:r>
            <a:r>
              <a:rPr sz="1400" b="1" dirty="0">
                <a:solidFill>
                  <a:srgbClr val="E7E7E7"/>
                </a:solidFill>
                <a:latin typeface="Source Code Pro"/>
              </a:rPr>
              <a:t>Time</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Standard </a:t>
            </a:r>
            <a:r>
              <a:rPr sz="1400" b="1" dirty="0">
                <a:solidFill>
                  <a:srgbClr val="E7E7E7"/>
                </a:solidFill>
                <a:latin typeface="Source Code Pro"/>
              </a:rPr>
              <a:t>backprop</a:t>
            </a:r>
            <a:r>
              <a:rPr sz="1400" dirty="0">
                <a:solidFill>
                  <a:srgbClr val="E7E7E7"/>
                </a:solidFill>
                <a:latin typeface="Source Code Pro"/>
              </a:rPr>
              <a:t>: </a:t>
            </a:r>
            <a:r>
              <a:rPr sz="1400" b="1" dirty="0">
                <a:solidFill>
                  <a:srgbClr val="4CAE97"/>
                </a:solidFill>
                <a:latin typeface="Source Code Pro"/>
              </a:rPr>
              <a:t>backward</a:t>
            </a:r>
            <a:r>
              <a:rPr sz="1400" dirty="0">
                <a:solidFill>
                  <a:srgbClr val="E7E7E7"/>
                </a:solidFill>
                <a:latin typeface="Source Code Pro"/>
              </a:rPr>
              <a:t> through </a:t>
            </a:r>
            <a:r>
              <a:rPr sz="1400" b="1" dirty="0">
                <a:solidFill>
                  <a:srgbClr val="E7E7E7"/>
                </a:solidFill>
                <a:latin typeface="Source Code Pro"/>
              </a:rPr>
              <a:t>layers</a:t>
            </a:r>
            <a:r>
              <a:rPr sz="1400" dirty="0">
                <a:solidFill>
                  <a:srgbClr val="E7E7E7"/>
                </a:solidFill>
                <a:latin typeface="Source Code Pro"/>
              </a:rPr>
              <a:t>.</a:t>
            </a:r>
          </a:p>
          <a:p>
            <a:pPr algn="l"/>
            <a:r>
              <a:rPr sz="1400" dirty="0">
                <a:solidFill>
                  <a:srgbClr val="E7E7E7"/>
                </a:solidFill>
                <a:latin typeface="Source Code Pro"/>
              </a:rPr>
              <a:t>BPTT: </a:t>
            </a:r>
            <a:r>
              <a:rPr sz="1400" b="1" dirty="0">
                <a:solidFill>
                  <a:srgbClr val="BD64B5"/>
                </a:solidFill>
                <a:latin typeface="Source Code Pro"/>
              </a:rPr>
              <a:t>backward</a:t>
            </a:r>
            <a:r>
              <a:rPr sz="1400" dirty="0">
                <a:solidFill>
                  <a:srgbClr val="E7E7E7"/>
                </a:solidFill>
                <a:latin typeface="Source Code Pro"/>
              </a:rPr>
              <a:t> through </a:t>
            </a:r>
            <a:r>
              <a:rPr sz="1400" b="1" dirty="0">
                <a:solidFill>
                  <a:srgbClr val="E7E7E7"/>
                </a:solidFill>
                <a:latin typeface="Source Code Pro"/>
              </a:rPr>
              <a:t>time</a:t>
            </a:r>
            <a:r>
              <a:rPr sz="1400" dirty="0">
                <a:solidFill>
                  <a:srgbClr val="E7E7E7"/>
                </a:solidFill>
                <a:latin typeface="Source Code Pro"/>
              </a:rPr>
              <a:t> </a:t>
            </a:r>
            <a:r>
              <a:rPr sz="1400" b="1" dirty="0">
                <a:solidFill>
                  <a:srgbClr val="E7E7E7"/>
                </a:solidFill>
                <a:latin typeface="Source Code Pro"/>
              </a:rPr>
              <a:t>steps</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Given loss L and </a:t>
            </a:r>
            <a:r>
              <a:rPr sz="1400" b="1" dirty="0">
                <a:solidFill>
                  <a:srgbClr val="E7E7E7"/>
                </a:solidFill>
                <a:latin typeface="Source Code Pro"/>
              </a:rPr>
              <a:t>unrolled</a:t>
            </a:r>
            <a:r>
              <a:rPr sz="1400" dirty="0">
                <a:solidFill>
                  <a:srgbClr val="E7E7E7"/>
                </a:solidFill>
                <a:latin typeface="Source Code Pro"/>
              </a:rPr>
              <a:t> </a:t>
            </a:r>
            <a:r>
              <a:rPr sz="1400" b="1" dirty="0">
                <a:solidFill>
                  <a:srgbClr val="E7E7E7"/>
                </a:solidFill>
                <a:latin typeface="Source Code Pro"/>
              </a:rPr>
              <a:t>network</a:t>
            </a:r>
            <a:r>
              <a:rPr sz="1400" dirty="0">
                <a:solidFill>
                  <a:srgbClr val="E7E7E7"/>
                </a:solidFill>
                <a:latin typeface="Source Code Pro"/>
              </a:rPr>
              <a:t> (T </a:t>
            </a:r>
            <a:r>
              <a:rPr sz="1400" b="1" dirty="0">
                <a:solidFill>
                  <a:srgbClr val="E7E7E7"/>
                </a:solidFill>
                <a:latin typeface="Source Code Pro"/>
              </a:rPr>
              <a:t>timesteps</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dL/</a:t>
            </a:r>
            <a:r>
              <a:rPr sz="1400" dirty="0" err="1">
                <a:solidFill>
                  <a:srgbClr val="E7E7E7"/>
                </a:solidFill>
                <a:latin typeface="Source Code Pro"/>
              </a:rPr>
              <a:t>dW</a:t>
            </a:r>
            <a:r>
              <a:rPr sz="1400" dirty="0">
                <a:solidFill>
                  <a:srgbClr val="E7E7E7"/>
                </a:solidFill>
                <a:latin typeface="Source Code Pro"/>
              </a:rPr>
              <a:t> = Sum over all </a:t>
            </a:r>
            <a:r>
              <a:rPr sz="1400" b="1" dirty="0">
                <a:solidFill>
                  <a:srgbClr val="E7E7E7"/>
                </a:solidFill>
                <a:latin typeface="Source Code Pro"/>
              </a:rPr>
              <a:t>timesteps</a:t>
            </a:r>
            <a:r>
              <a:rPr sz="1400" dirty="0">
                <a:solidFill>
                  <a:srgbClr val="E7E7E7"/>
                </a:solidFill>
                <a:latin typeface="Source Code Pro"/>
              </a:rPr>
              <a:t>: dL/</a:t>
            </a:r>
            <a:r>
              <a:rPr sz="1400" dirty="0" err="1">
                <a:solidFill>
                  <a:srgbClr val="E7E7E7"/>
                </a:solidFill>
                <a:latin typeface="Source Code Pro"/>
              </a:rPr>
              <a:t>dy_t</a:t>
            </a:r>
            <a:r>
              <a:rPr sz="1400" dirty="0">
                <a:solidFill>
                  <a:srgbClr val="E7E7E7"/>
                </a:solidFill>
                <a:latin typeface="Source Code Pro"/>
              </a:rPr>
              <a:t> × </a:t>
            </a:r>
            <a:r>
              <a:rPr sz="1400" dirty="0" err="1">
                <a:solidFill>
                  <a:srgbClr val="E7E7E7"/>
                </a:solidFill>
                <a:latin typeface="Source Code Pro"/>
              </a:rPr>
              <a:t>dy_t</a:t>
            </a:r>
            <a:r>
              <a:rPr sz="1400" dirty="0">
                <a:solidFill>
                  <a:srgbClr val="E7E7E7"/>
                </a:solidFill>
                <a:latin typeface="Source Code Pro"/>
              </a:rPr>
              <a:t>/</a:t>
            </a:r>
            <a:r>
              <a:rPr sz="1400" dirty="0" err="1">
                <a:solidFill>
                  <a:srgbClr val="E7E7E7"/>
                </a:solidFill>
                <a:latin typeface="Source Code Pro"/>
              </a:rPr>
              <a:t>dW</a:t>
            </a:r>
            <a:endParaRPr sz="1400" dirty="0">
              <a:solidFill>
                <a:srgbClr val="E7E7E7"/>
              </a:solidFill>
              <a:latin typeface="Source Code Pro"/>
            </a:endParaRPr>
          </a:p>
          <a:p>
            <a:pPr algn="l"/>
            <a:endParaRPr sz="1400" dirty="0">
              <a:solidFill>
                <a:srgbClr val="E7E7E7"/>
              </a:solidFill>
              <a:latin typeface="Source Code Pro"/>
            </a:endParaRPr>
          </a:p>
          <a:p>
            <a:pPr algn="l"/>
            <a:r>
              <a:rPr sz="1400" b="1" dirty="0">
                <a:solidFill>
                  <a:srgbClr val="E7E7E7"/>
                </a:solidFill>
                <a:latin typeface="Source Code Pro"/>
              </a:rPr>
              <a:t>Problem</a:t>
            </a:r>
            <a:r>
              <a:rPr sz="1400" dirty="0">
                <a:solidFill>
                  <a:srgbClr val="E7E7E7"/>
                </a:solidFill>
                <a:latin typeface="Source Code Pro"/>
              </a:rPr>
              <a:t>: </a:t>
            </a:r>
            <a:r>
              <a:rPr sz="1400" b="1" dirty="0">
                <a:solidFill>
                  <a:srgbClr val="E81A81"/>
                </a:solidFill>
                <a:latin typeface="Source Code Pro"/>
              </a:rPr>
              <a:t>Gradient</a:t>
            </a:r>
            <a:r>
              <a:rPr sz="1400" dirty="0">
                <a:solidFill>
                  <a:srgbClr val="E7E7E7"/>
                </a:solidFill>
                <a:latin typeface="Source Code Pro"/>
              </a:rPr>
              <a:t> flows through </a:t>
            </a:r>
            <a:r>
              <a:rPr sz="1400" b="1" dirty="0">
                <a:solidFill>
                  <a:srgbClr val="E7E7E7"/>
                </a:solidFill>
                <a:latin typeface="Source Code Pro"/>
              </a:rPr>
              <a:t>many</a:t>
            </a:r>
            <a:r>
              <a:rPr sz="1400" dirty="0">
                <a:solidFill>
                  <a:srgbClr val="E7E7E7"/>
                </a:solidFill>
                <a:latin typeface="Source Code Pro"/>
              </a:rPr>
              <a:t> </a:t>
            </a:r>
            <a:r>
              <a:rPr sz="1400" b="1" dirty="0">
                <a:solidFill>
                  <a:srgbClr val="E7E7E7"/>
                </a:solidFill>
                <a:latin typeface="Source Code Pro"/>
              </a:rPr>
              <a:t>timesteps</a:t>
            </a:r>
            <a:r>
              <a:rPr sz="1400" dirty="0">
                <a:solidFill>
                  <a:srgbClr val="E7E7E7"/>
                </a:solidFill>
                <a:latin typeface="Source Code Pro"/>
              </a:rPr>
              <a:t>.</a:t>
            </a:r>
          </a:p>
          <a:p>
            <a:pPr algn="l"/>
            <a:r>
              <a:rPr sz="1400" b="1" dirty="0">
                <a:solidFill>
                  <a:srgbClr val="E7E7E7"/>
                </a:solidFill>
                <a:latin typeface="Source Code Pro"/>
              </a:rPr>
              <a:t>Each</a:t>
            </a:r>
            <a:r>
              <a:rPr sz="1400" dirty="0">
                <a:solidFill>
                  <a:srgbClr val="E7E7E7"/>
                </a:solidFill>
                <a:latin typeface="Source Code Pro"/>
              </a:rPr>
              <a:t> step: </a:t>
            </a:r>
            <a:r>
              <a:rPr sz="1400" b="1" dirty="0">
                <a:solidFill>
                  <a:srgbClr val="E7E7E7"/>
                </a:solidFill>
                <a:latin typeface="Source Code Pro"/>
              </a:rPr>
              <a:t>gradient</a:t>
            </a:r>
            <a:r>
              <a:rPr sz="1400" dirty="0">
                <a:solidFill>
                  <a:srgbClr val="E7E7E7"/>
                </a:solidFill>
                <a:latin typeface="Source Code Pro"/>
              </a:rPr>
              <a:t> × (0.9) → </a:t>
            </a:r>
            <a:r>
              <a:rPr sz="1400" b="1" dirty="0">
                <a:solidFill>
                  <a:srgbClr val="94EE6B"/>
                </a:solidFill>
                <a:latin typeface="Source Code Pro"/>
              </a:rPr>
              <a:t>decays</a:t>
            </a:r>
            <a:r>
              <a:rPr sz="1400" dirty="0">
                <a:solidFill>
                  <a:srgbClr val="E7E7E7"/>
                </a:solidFill>
                <a:latin typeface="Source Code Pro"/>
              </a:rPr>
              <a:t> </a:t>
            </a:r>
            <a:r>
              <a:rPr sz="1400" b="1" dirty="0">
                <a:solidFill>
                  <a:srgbClr val="E7E7E7"/>
                </a:solidFill>
                <a:latin typeface="Source Code Pro"/>
              </a:rPr>
              <a:t>exponentially</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Why LSTM helps: </a:t>
            </a:r>
            <a:r>
              <a:rPr sz="1400" b="1" dirty="0">
                <a:solidFill>
                  <a:srgbClr val="E7E7E7"/>
                </a:solidFill>
                <a:latin typeface="Source Code Pro"/>
              </a:rPr>
              <a:t>Cell</a:t>
            </a:r>
            <a:r>
              <a:rPr sz="1400" dirty="0">
                <a:solidFill>
                  <a:srgbClr val="E7E7E7"/>
                </a:solidFill>
                <a:latin typeface="Source Code Pro"/>
              </a:rPr>
              <a:t> </a:t>
            </a:r>
            <a:r>
              <a:rPr sz="1400" b="1" dirty="0">
                <a:solidFill>
                  <a:srgbClr val="EC7955"/>
                </a:solidFill>
                <a:latin typeface="Source Code Pro"/>
              </a:rPr>
              <a:t>state</a:t>
            </a:r>
            <a:r>
              <a:rPr sz="1400" dirty="0">
                <a:solidFill>
                  <a:srgbClr val="E7E7E7"/>
                </a:solidFill>
                <a:latin typeface="Source Code Pro"/>
              </a:rPr>
              <a:t> acts as </a:t>
            </a:r>
            <a:r>
              <a:rPr sz="1400" b="1" dirty="0">
                <a:solidFill>
                  <a:srgbClr val="E7E7E7"/>
                </a:solidFill>
                <a:latin typeface="Source Code Pro"/>
              </a:rPr>
              <a:t>gradient</a:t>
            </a:r>
            <a:r>
              <a:rPr sz="1400" dirty="0">
                <a:solidFill>
                  <a:srgbClr val="E7E7E7"/>
                </a:solidFill>
                <a:latin typeface="Source Code Pro"/>
              </a:rPr>
              <a:t> </a:t>
            </a:r>
            <a:r>
              <a:rPr sz="1400" b="1" dirty="0">
                <a:solidFill>
                  <a:srgbClr val="E7E7E7"/>
                </a:solidFill>
                <a:latin typeface="Source Code Pro"/>
              </a:rPr>
              <a:t>highway</a:t>
            </a:r>
            <a:r>
              <a:rPr sz="1400" dirty="0">
                <a:solidFill>
                  <a:srgbClr val="E7E7E7"/>
                </a:solidFill>
                <a:latin typeface="Source Code Pro"/>
              </a:rPr>
              <a:t>.</a:t>
            </a:r>
          </a:p>
          <a:p>
            <a:pPr algn="l"/>
            <a:r>
              <a:rPr sz="1400" b="1" dirty="0">
                <a:solidFill>
                  <a:srgbClr val="E81A81"/>
                </a:solidFill>
                <a:latin typeface="Source Code Pro"/>
              </a:rPr>
              <a:t>Gradient</a:t>
            </a:r>
            <a:r>
              <a:rPr sz="1400" dirty="0">
                <a:solidFill>
                  <a:srgbClr val="E7E7E7"/>
                </a:solidFill>
                <a:latin typeface="Source Code Pro"/>
              </a:rPr>
              <a:t> can </a:t>
            </a:r>
            <a:r>
              <a:rPr sz="1400" b="1" dirty="0">
                <a:solidFill>
                  <a:srgbClr val="E7E7E7"/>
                </a:solidFill>
                <a:latin typeface="Source Code Pro"/>
              </a:rPr>
              <a:t>bypass</a:t>
            </a:r>
            <a:r>
              <a:rPr sz="1400" dirty="0">
                <a:solidFill>
                  <a:srgbClr val="E7E7E7"/>
                </a:solidFill>
                <a:latin typeface="Source Code Pro"/>
              </a:rPr>
              <a:t> </a:t>
            </a:r>
            <a:r>
              <a:rPr sz="1400" b="1" dirty="0">
                <a:solidFill>
                  <a:srgbClr val="E7E7E7"/>
                </a:solidFill>
                <a:latin typeface="Source Code Pro"/>
              </a:rPr>
              <a:t>multiplications</a:t>
            </a:r>
            <a:r>
              <a:rPr sz="1400" dirty="0">
                <a:solidFill>
                  <a:srgbClr val="E7E7E7"/>
                </a:solidFill>
                <a:latin typeface="Source Code Pro"/>
              </a:rPr>
              <a:t>, avoid </a:t>
            </a:r>
            <a:r>
              <a:rPr sz="1400" b="1" dirty="0">
                <a:solidFill>
                  <a:srgbClr val="FD4A4A"/>
                </a:solidFill>
                <a:latin typeface="Source Code Pro"/>
              </a:rPr>
              <a:t>vanishing</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BPTT truncation: </a:t>
            </a:r>
            <a:r>
              <a:rPr sz="1400" b="1" dirty="0">
                <a:solidFill>
                  <a:srgbClr val="E7E7E7"/>
                </a:solidFill>
                <a:latin typeface="Source Code Pro"/>
              </a:rPr>
              <a:t>Only</a:t>
            </a:r>
            <a:r>
              <a:rPr sz="1400" dirty="0">
                <a:solidFill>
                  <a:srgbClr val="E7E7E7"/>
                </a:solidFill>
                <a:latin typeface="Source Code Pro"/>
              </a:rPr>
              <a:t> </a:t>
            </a:r>
            <a:r>
              <a:rPr sz="1400" b="1" dirty="0">
                <a:solidFill>
                  <a:srgbClr val="E7E7E7"/>
                </a:solidFill>
                <a:latin typeface="Source Code Pro"/>
              </a:rPr>
              <a:t>backprop</a:t>
            </a:r>
            <a:r>
              <a:rPr sz="1400" dirty="0">
                <a:solidFill>
                  <a:srgbClr val="E7E7E7"/>
                </a:solidFill>
                <a:latin typeface="Source Code Pro"/>
              </a:rPr>
              <a:t> k </a:t>
            </a:r>
            <a:r>
              <a:rPr sz="1400" b="1" dirty="0">
                <a:solidFill>
                  <a:srgbClr val="E7E7E7"/>
                </a:solidFill>
                <a:latin typeface="Source Code Pro"/>
              </a:rPr>
              <a:t>steps</a:t>
            </a:r>
            <a:r>
              <a:rPr sz="1400" dirty="0">
                <a:solidFill>
                  <a:srgbClr val="E7E7E7"/>
                </a:solidFill>
                <a:latin typeface="Source Code Pro"/>
              </a:rPr>
              <a:t> (memory </a:t>
            </a:r>
            <a:r>
              <a:rPr sz="1400" b="1" dirty="0">
                <a:solidFill>
                  <a:srgbClr val="E7E7E7"/>
                </a:solidFill>
                <a:latin typeface="Source Code Pro"/>
              </a:rPr>
              <a:t>tradeoff</a:t>
            </a:r>
            <a:r>
              <a:rPr sz="1400" dirty="0">
                <a:solidFill>
                  <a:srgbClr val="E7E7E7"/>
                </a:solidFill>
                <a:latin typeface="Source Code Pro"/>
              </a:rPr>
              <a:t>).</a:t>
            </a:r>
          </a:p>
        </p:txBody>
      </p:sp>
    </p:spTree>
    <p:extLst>
      <p:ext uri="{BB962C8B-B14F-4D97-AF65-F5344CB8AC3E}">
        <p14:creationId xmlns:p14="http://schemas.microsoft.com/office/powerpoint/2010/main" val="2319927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3283F099-0F97-B6B9-F989-139BFAA89DB0}"/>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RNN Implementation - Stock Price Prediction</a:t>
            </a:r>
          </a:p>
        </p:txBody>
      </p:sp>
      <p:sp>
        <p:nvSpPr>
          <p:cNvPr id="3" name="TextBox 2"/>
          <p:cNvSpPr txBox="1"/>
          <p:nvPr/>
        </p:nvSpPr>
        <p:spPr>
          <a:xfrm>
            <a:off x="256032" y="1463040"/>
            <a:ext cx="8229600" cy="3754874"/>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Practical example: </a:t>
            </a:r>
            <a:r>
              <a:rPr sz="1400" b="1" dirty="0">
                <a:solidFill>
                  <a:srgbClr val="E7E7E7"/>
                </a:solidFill>
                <a:latin typeface="Source Code Pro"/>
              </a:rPr>
              <a:t>Predict</a:t>
            </a:r>
            <a:r>
              <a:rPr sz="1400" dirty="0">
                <a:solidFill>
                  <a:srgbClr val="E7E7E7"/>
                </a:solidFill>
                <a:latin typeface="Source Code Pro"/>
              </a:rPr>
              <a:t> </a:t>
            </a:r>
            <a:r>
              <a:rPr sz="1400" b="1" dirty="0">
                <a:solidFill>
                  <a:srgbClr val="E7E7E7"/>
                </a:solidFill>
                <a:latin typeface="Source Code Pro"/>
              </a:rPr>
              <a:t>stock</a:t>
            </a:r>
            <a:r>
              <a:rPr sz="1400" dirty="0">
                <a:solidFill>
                  <a:srgbClr val="E7E7E7"/>
                </a:solidFill>
                <a:latin typeface="Source Code Pro"/>
              </a:rPr>
              <a:t> </a:t>
            </a:r>
            <a:r>
              <a:rPr sz="1400" b="1" dirty="0">
                <a:solidFill>
                  <a:srgbClr val="FD4A4A"/>
                </a:solidFill>
                <a:latin typeface="Source Code Pro"/>
              </a:rPr>
              <a:t>price</a:t>
            </a:r>
            <a:r>
              <a:rPr sz="1400" dirty="0">
                <a:solidFill>
                  <a:srgbClr val="E7E7E7"/>
                </a:solidFill>
                <a:latin typeface="Source Code Pro"/>
              </a:rPr>
              <a:t> </a:t>
            </a:r>
            <a:r>
              <a:rPr sz="1400" b="1" dirty="0">
                <a:solidFill>
                  <a:srgbClr val="E7E7E7"/>
                </a:solidFill>
                <a:latin typeface="Source Code Pro"/>
              </a:rPr>
              <a:t>tomorrow</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Data:</a:t>
            </a:r>
          </a:p>
          <a:p>
            <a:pPr algn="l"/>
            <a:r>
              <a:rPr sz="1400" dirty="0">
                <a:solidFill>
                  <a:srgbClr val="E7E7E7"/>
                </a:solidFill>
                <a:latin typeface="Source Code Pro"/>
              </a:rPr>
              <a:t>  Input: Past 30 </a:t>
            </a:r>
            <a:r>
              <a:rPr sz="1400" b="1" dirty="0">
                <a:solidFill>
                  <a:srgbClr val="E7E7E7"/>
                </a:solidFill>
                <a:latin typeface="Source Code Pro"/>
              </a:rPr>
              <a:t>days</a:t>
            </a:r>
            <a:r>
              <a:rPr sz="1400" dirty="0">
                <a:solidFill>
                  <a:srgbClr val="E7E7E7"/>
                </a:solidFill>
                <a:latin typeface="Source Code Pro"/>
              </a:rPr>
              <a:t> </a:t>
            </a:r>
            <a:r>
              <a:rPr sz="1400" b="1" dirty="0">
                <a:solidFill>
                  <a:srgbClr val="E7E7E7"/>
                </a:solidFill>
                <a:latin typeface="Source Code Pro"/>
              </a:rPr>
              <a:t>prices</a:t>
            </a:r>
          </a:p>
          <a:p>
            <a:pPr algn="l"/>
            <a:r>
              <a:rPr sz="1400" dirty="0">
                <a:solidFill>
                  <a:srgbClr val="E7E7E7"/>
                </a:solidFill>
                <a:latin typeface="Source Code Pro"/>
              </a:rPr>
              <a:t>  Output: </a:t>
            </a:r>
            <a:r>
              <a:rPr sz="1400" b="1" dirty="0">
                <a:solidFill>
                  <a:srgbClr val="EC7955"/>
                </a:solidFill>
                <a:latin typeface="Source Code Pro"/>
              </a:rPr>
              <a:t>Tomorrow</a:t>
            </a:r>
            <a:r>
              <a:rPr sz="1400" dirty="0">
                <a:solidFill>
                  <a:srgbClr val="E7E7E7"/>
                </a:solidFill>
                <a:latin typeface="Source Code Pro"/>
              </a:rPr>
              <a:t>'s </a:t>
            </a:r>
            <a:r>
              <a:rPr sz="1400" b="1" dirty="0">
                <a:solidFill>
                  <a:srgbClr val="4CAE97"/>
                </a:solidFill>
                <a:latin typeface="Source Code Pro"/>
              </a:rPr>
              <a:t>price</a:t>
            </a:r>
          </a:p>
          <a:p>
            <a:pPr algn="l"/>
            <a:endParaRPr sz="1400" b="1" dirty="0">
              <a:solidFill>
                <a:srgbClr val="4CAE97"/>
              </a:solidFill>
              <a:latin typeface="Source Code Pro"/>
            </a:endParaRPr>
          </a:p>
          <a:p>
            <a:pPr algn="l"/>
            <a:r>
              <a:rPr sz="1400" dirty="0">
                <a:solidFill>
                  <a:srgbClr val="E7E7E7"/>
                </a:solidFill>
                <a:latin typeface="Source Code Pro"/>
              </a:rPr>
              <a:t>Model:</a:t>
            </a:r>
          </a:p>
          <a:p>
            <a:pPr algn="l"/>
            <a:r>
              <a:rPr sz="1400" dirty="0">
                <a:solidFill>
                  <a:srgbClr val="E7E7E7"/>
                </a:solidFill>
                <a:latin typeface="Source Code Pro"/>
              </a:rPr>
              <a:t>  prices (30) → Normalize → LSTM(64) → LSTM(32) → Dense(1) → Prediction</a:t>
            </a:r>
          </a:p>
          <a:p>
            <a:pPr algn="l"/>
            <a:endParaRPr sz="1400" dirty="0">
              <a:solidFill>
                <a:srgbClr val="E7E7E7"/>
              </a:solidFill>
              <a:latin typeface="Source Code Pro"/>
            </a:endParaRPr>
          </a:p>
          <a:p>
            <a:pPr algn="l"/>
            <a:r>
              <a:rPr sz="1400" dirty="0">
                <a:solidFill>
                  <a:srgbClr val="E7E7E7"/>
                </a:solidFill>
                <a:latin typeface="Source Code Pro"/>
              </a:rPr>
              <a:t>Training:</a:t>
            </a:r>
          </a:p>
          <a:p>
            <a:pPr algn="l"/>
            <a:r>
              <a:rPr sz="1400" dirty="0">
                <a:solidFill>
                  <a:srgbClr val="E7E7E7"/>
                </a:solidFill>
                <a:latin typeface="Source Code Pro"/>
              </a:rPr>
              <a:t>  Loss: MSE (mean squared error)</a:t>
            </a:r>
          </a:p>
          <a:p>
            <a:pPr algn="l"/>
            <a:r>
              <a:rPr sz="1400" dirty="0">
                <a:solidFill>
                  <a:srgbClr val="E7E7E7"/>
                </a:solidFill>
                <a:latin typeface="Source Code Pro"/>
              </a:rPr>
              <a:t>  Optimizer: Adam</a:t>
            </a:r>
          </a:p>
          <a:p>
            <a:pPr algn="l"/>
            <a:r>
              <a:rPr sz="1400" dirty="0">
                <a:solidFill>
                  <a:srgbClr val="E7E7E7"/>
                </a:solidFill>
                <a:latin typeface="Source Code Pro"/>
              </a:rPr>
              <a:t>  Epochs: 50</a:t>
            </a:r>
          </a:p>
          <a:p>
            <a:pPr algn="l"/>
            <a:r>
              <a:rPr sz="1400" dirty="0">
                <a:solidFill>
                  <a:srgbClr val="E7E7E7"/>
                </a:solidFill>
                <a:latin typeface="Source Code Pro"/>
              </a:rPr>
              <a:t>  Early </a:t>
            </a:r>
            <a:r>
              <a:rPr sz="1400" b="1" dirty="0">
                <a:solidFill>
                  <a:srgbClr val="E7E7E7"/>
                </a:solidFill>
                <a:latin typeface="Source Code Pro"/>
              </a:rPr>
              <a:t>stopping</a:t>
            </a:r>
            <a:r>
              <a:rPr sz="1400" dirty="0">
                <a:solidFill>
                  <a:srgbClr val="E7E7E7"/>
                </a:solidFill>
                <a:latin typeface="Source Code Pro"/>
              </a:rPr>
              <a:t>: </a:t>
            </a:r>
            <a:r>
              <a:rPr sz="1400" b="1" dirty="0">
                <a:solidFill>
                  <a:srgbClr val="FD4A4A"/>
                </a:solidFill>
                <a:latin typeface="Source Code Pro"/>
              </a:rPr>
              <a:t>Prevent</a:t>
            </a:r>
            <a:r>
              <a:rPr sz="1400" dirty="0">
                <a:solidFill>
                  <a:srgbClr val="E7E7E7"/>
                </a:solidFill>
                <a:latin typeface="Source Code Pro"/>
              </a:rPr>
              <a:t> </a:t>
            </a:r>
            <a:r>
              <a:rPr sz="1400" b="1" dirty="0">
                <a:solidFill>
                  <a:srgbClr val="BD64B5"/>
                </a:solidFill>
                <a:latin typeface="Source Code Pro"/>
              </a:rPr>
              <a:t>overfitting</a:t>
            </a:r>
          </a:p>
          <a:p>
            <a:pPr algn="l"/>
            <a:endParaRPr sz="1400" b="1" dirty="0">
              <a:solidFill>
                <a:srgbClr val="BD64B5"/>
              </a:solidFill>
              <a:latin typeface="Source Code Pro"/>
            </a:endParaRPr>
          </a:p>
          <a:p>
            <a:pPr algn="l"/>
            <a:r>
              <a:rPr sz="1400" dirty="0">
                <a:solidFill>
                  <a:srgbClr val="E7E7E7"/>
                </a:solidFill>
                <a:latin typeface="Source Code Pro"/>
              </a:rPr>
              <a:t>Expected </a:t>
            </a:r>
            <a:r>
              <a:rPr sz="1400" b="1" dirty="0">
                <a:solidFill>
                  <a:srgbClr val="E7E7E7"/>
                </a:solidFill>
                <a:latin typeface="Source Code Pro"/>
              </a:rPr>
              <a:t>accuracy</a:t>
            </a:r>
            <a:r>
              <a:rPr sz="1400" dirty="0">
                <a:solidFill>
                  <a:srgbClr val="E7E7E7"/>
                </a:solidFill>
                <a:latin typeface="Source Code Pro"/>
              </a:rPr>
              <a:t>: R² = 0.85-0.95 (explains 85-95% of </a:t>
            </a:r>
            <a:r>
              <a:rPr sz="1400" b="1" dirty="0">
                <a:solidFill>
                  <a:srgbClr val="FD4A4A"/>
                </a:solidFill>
                <a:latin typeface="Source Code Pro"/>
              </a:rPr>
              <a:t>variance</a:t>
            </a:r>
            <a:r>
              <a:rPr sz="1400" dirty="0">
                <a:solidFill>
                  <a:srgbClr val="E7E7E7"/>
                </a:solidFill>
                <a:latin typeface="Source Code Pro"/>
              </a:rPr>
              <a:t>)</a:t>
            </a:r>
          </a:p>
        </p:txBody>
      </p:sp>
    </p:spTree>
    <p:extLst>
      <p:ext uri="{BB962C8B-B14F-4D97-AF65-F5344CB8AC3E}">
        <p14:creationId xmlns:p14="http://schemas.microsoft.com/office/powerpoint/2010/main" val="652846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1D811694-FB03-8F93-7A35-B487F5A812D7}"/>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RNN Challenges and Solutions</a:t>
            </a:r>
          </a:p>
        </p:txBody>
      </p:sp>
      <p:sp>
        <p:nvSpPr>
          <p:cNvPr id="3" name="TextBox 2"/>
          <p:cNvSpPr txBox="1"/>
          <p:nvPr/>
        </p:nvSpPr>
        <p:spPr>
          <a:xfrm>
            <a:off x="256032" y="1463040"/>
            <a:ext cx="8229600" cy="3323987"/>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Challenge 1: </a:t>
            </a:r>
            <a:r>
              <a:rPr sz="1400" b="1" dirty="0">
                <a:solidFill>
                  <a:srgbClr val="E7E7E7"/>
                </a:solidFill>
                <a:latin typeface="Source Code Pro"/>
              </a:rPr>
              <a:t>Vanishing</a:t>
            </a:r>
            <a:r>
              <a:rPr sz="1400" dirty="0">
                <a:solidFill>
                  <a:srgbClr val="E7E7E7"/>
                </a:solidFill>
                <a:latin typeface="Source Code Pro"/>
              </a:rPr>
              <a:t>/</a:t>
            </a:r>
            <a:r>
              <a:rPr sz="1400" b="1" dirty="0">
                <a:solidFill>
                  <a:srgbClr val="E7E7E7"/>
                </a:solidFill>
                <a:latin typeface="Source Code Pro"/>
              </a:rPr>
              <a:t>Exploding</a:t>
            </a:r>
            <a:r>
              <a:rPr sz="1400" dirty="0">
                <a:solidFill>
                  <a:srgbClr val="E7E7E7"/>
                </a:solidFill>
                <a:latin typeface="Source Code Pro"/>
              </a:rPr>
              <a:t> </a:t>
            </a:r>
            <a:r>
              <a:rPr sz="1400" b="1" dirty="0">
                <a:solidFill>
                  <a:srgbClr val="E7E7E7"/>
                </a:solidFill>
                <a:latin typeface="Source Code Pro"/>
              </a:rPr>
              <a:t>gradient</a:t>
            </a:r>
          </a:p>
          <a:p>
            <a:pPr algn="l"/>
            <a:r>
              <a:rPr sz="1400" dirty="0">
                <a:solidFill>
                  <a:srgbClr val="E7E7E7"/>
                </a:solidFill>
                <a:latin typeface="Source Code Pro"/>
              </a:rPr>
              <a:t>  Solution: Use LSTM/GRU, </a:t>
            </a:r>
            <a:r>
              <a:rPr sz="1400" b="1" dirty="0">
                <a:solidFill>
                  <a:srgbClr val="E7E7E7"/>
                </a:solidFill>
                <a:latin typeface="Source Code Pro"/>
              </a:rPr>
              <a:t>gradient</a:t>
            </a:r>
            <a:r>
              <a:rPr sz="1400" dirty="0">
                <a:solidFill>
                  <a:srgbClr val="E7E7E7"/>
                </a:solidFill>
                <a:latin typeface="Source Code Pro"/>
              </a:rPr>
              <a:t> </a:t>
            </a:r>
            <a:r>
              <a:rPr sz="1400" b="1" dirty="0">
                <a:solidFill>
                  <a:srgbClr val="E7E7E7"/>
                </a:solidFill>
                <a:latin typeface="Source Code Pro"/>
              </a:rPr>
              <a:t>clipping</a:t>
            </a:r>
          </a:p>
          <a:p>
            <a:pPr algn="l"/>
            <a:endParaRPr sz="1400" b="1" dirty="0">
              <a:solidFill>
                <a:srgbClr val="E7E7E7"/>
              </a:solidFill>
              <a:latin typeface="Source Code Pro"/>
            </a:endParaRPr>
          </a:p>
          <a:p>
            <a:pPr algn="l"/>
            <a:r>
              <a:rPr sz="1400" dirty="0">
                <a:solidFill>
                  <a:srgbClr val="E7E7E7"/>
                </a:solidFill>
                <a:latin typeface="Source Code Pro"/>
              </a:rPr>
              <a:t>Challenge 2: </a:t>
            </a:r>
            <a:r>
              <a:rPr sz="1400" b="1" dirty="0">
                <a:solidFill>
                  <a:srgbClr val="94EE6B"/>
                </a:solidFill>
                <a:latin typeface="Source Code Pro"/>
              </a:rPr>
              <a:t>Long</a:t>
            </a:r>
            <a:r>
              <a:rPr sz="1400" dirty="0">
                <a:solidFill>
                  <a:srgbClr val="E7E7E7"/>
                </a:solidFill>
                <a:latin typeface="Source Code Pro"/>
              </a:rPr>
              <a:t> </a:t>
            </a:r>
            <a:r>
              <a:rPr sz="1400" b="1" dirty="0">
                <a:solidFill>
                  <a:srgbClr val="E81A81"/>
                </a:solidFill>
                <a:latin typeface="Source Code Pro"/>
              </a:rPr>
              <a:t>sequences</a:t>
            </a:r>
            <a:r>
              <a:rPr sz="1400" dirty="0">
                <a:solidFill>
                  <a:srgbClr val="E7E7E7"/>
                </a:solidFill>
                <a:latin typeface="Source Code Pro"/>
              </a:rPr>
              <a:t> require </a:t>
            </a:r>
            <a:r>
              <a:rPr sz="1400" b="1" dirty="0">
                <a:solidFill>
                  <a:srgbClr val="E7E7E7"/>
                </a:solidFill>
                <a:latin typeface="Source Code Pro"/>
              </a:rPr>
              <a:t>lots</a:t>
            </a:r>
            <a:r>
              <a:rPr sz="1400" dirty="0">
                <a:solidFill>
                  <a:srgbClr val="E7E7E7"/>
                </a:solidFill>
                <a:latin typeface="Source Code Pro"/>
              </a:rPr>
              <a:t> of </a:t>
            </a:r>
            <a:r>
              <a:rPr sz="1400" b="1" dirty="0">
                <a:solidFill>
                  <a:srgbClr val="E7E7E7"/>
                </a:solidFill>
                <a:latin typeface="Source Code Pro"/>
              </a:rPr>
              <a:t>memory</a:t>
            </a:r>
          </a:p>
          <a:p>
            <a:pPr algn="l"/>
            <a:r>
              <a:rPr sz="1400" dirty="0">
                <a:solidFill>
                  <a:srgbClr val="E7E7E7"/>
                </a:solidFill>
                <a:latin typeface="Source Code Pro"/>
              </a:rPr>
              <a:t>  Solution: Truncate </a:t>
            </a:r>
            <a:r>
              <a:rPr sz="1400" b="1" dirty="0">
                <a:solidFill>
                  <a:srgbClr val="BD64B5"/>
                </a:solidFill>
                <a:latin typeface="Source Code Pro"/>
              </a:rPr>
              <a:t>sequences</a:t>
            </a:r>
            <a:r>
              <a:rPr sz="1400" dirty="0">
                <a:solidFill>
                  <a:srgbClr val="E7E7E7"/>
                </a:solidFill>
                <a:latin typeface="Source Code Pro"/>
              </a:rPr>
              <a:t>, use </a:t>
            </a:r>
            <a:r>
              <a:rPr sz="1400" b="1" dirty="0">
                <a:solidFill>
                  <a:srgbClr val="94EE6B"/>
                </a:solidFill>
                <a:latin typeface="Source Code Pro"/>
              </a:rPr>
              <a:t>hierarchical</a:t>
            </a:r>
            <a:r>
              <a:rPr sz="1400" dirty="0">
                <a:solidFill>
                  <a:srgbClr val="E7E7E7"/>
                </a:solidFill>
                <a:latin typeface="Source Code Pro"/>
              </a:rPr>
              <a:t> RNN</a:t>
            </a:r>
          </a:p>
          <a:p>
            <a:pPr algn="l"/>
            <a:endParaRPr sz="1400" dirty="0">
              <a:solidFill>
                <a:srgbClr val="E7E7E7"/>
              </a:solidFill>
              <a:latin typeface="Source Code Pro"/>
            </a:endParaRPr>
          </a:p>
          <a:p>
            <a:pPr algn="l"/>
            <a:r>
              <a:rPr sz="1400" dirty="0">
                <a:solidFill>
                  <a:srgbClr val="E7E7E7"/>
                </a:solidFill>
                <a:latin typeface="Source Code Pro"/>
              </a:rPr>
              <a:t>Challenge 3: </a:t>
            </a:r>
            <a:r>
              <a:rPr sz="1400" b="1" dirty="0">
                <a:solidFill>
                  <a:srgbClr val="E7E7E7"/>
                </a:solidFill>
                <a:latin typeface="Source Code Pro"/>
              </a:rPr>
              <a:t>Slow</a:t>
            </a:r>
            <a:r>
              <a:rPr sz="1400" dirty="0">
                <a:solidFill>
                  <a:srgbClr val="E7E7E7"/>
                </a:solidFill>
                <a:latin typeface="Source Code Pro"/>
              </a:rPr>
              <a:t> </a:t>
            </a:r>
            <a:r>
              <a:rPr sz="1400" b="1" dirty="0">
                <a:solidFill>
                  <a:srgbClr val="FD4A4A"/>
                </a:solidFill>
                <a:latin typeface="Source Code Pro"/>
              </a:rPr>
              <a:t>training</a:t>
            </a:r>
            <a:r>
              <a:rPr sz="1400" dirty="0">
                <a:solidFill>
                  <a:srgbClr val="E7E7E7"/>
                </a:solidFill>
                <a:latin typeface="Source Code Pro"/>
              </a:rPr>
              <a:t> (many </a:t>
            </a:r>
            <a:r>
              <a:rPr sz="1400" b="1" dirty="0">
                <a:solidFill>
                  <a:srgbClr val="E7E7E7"/>
                </a:solidFill>
                <a:latin typeface="Source Code Pro"/>
              </a:rPr>
              <a:t>timesteps</a:t>
            </a:r>
            <a:r>
              <a:rPr sz="1400" dirty="0">
                <a:solidFill>
                  <a:srgbClr val="E7E7E7"/>
                </a:solidFill>
                <a:latin typeface="Source Code Pro"/>
              </a:rPr>
              <a:t>)</a:t>
            </a:r>
          </a:p>
          <a:p>
            <a:pPr algn="l"/>
            <a:r>
              <a:rPr sz="1400" dirty="0">
                <a:solidFill>
                  <a:srgbClr val="E7E7E7"/>
                </a:solidFill>
                <a:latin typeface="Source Code Pro"/>
              </a:rPr>
              <a:t>  Solution: Use GPU, batch </a:t>
            </a:r>
            <a:r>
              <a:rPr sz="1400" b="1" dirty="0">
                <a:solidFill>
                  <a:srgbClr val="EC7955"/>
                </a:solidFill>
                <a:latin typeface="Source Code Pro"/>
              </a:rPr>
              <a:t>processing</a:t>
            </a:r>
            <a:r>
              <a:rPr sz="1400" dirty="0">
                <a:solidFill>
                  <a:srgbClr val="E7E7E7"/>
                </a:solidFill>
                <a:latin typeface="Source Code Pro"/>
              </a:rPr>
              <a:t>, </a:t>
            </a:r>
            <a:r>
              <a:rPr sz="1400" b="1" dirty="0">
                <a:solidFill>
                  <a:srgbClr val="E7E7E7"/>
                </a:solidFill>
                <a:latin typeface="Source Code Pro"/>
              </a:rPr>
              <a:t>reduce</a:t>
            </a:r>
            <a:r>
              <a:rPr sz="1400" dirty="0">
                <a:solidFill>
                  <a:srgbClr val="E7E7E7"/>
                </a:solidFill>
                <a:latin typeface="Source Code Pro"/>
              </a:rPr>
              <a:t> </a:t>
            </a:r>
            <a:r>
              <a:rPr sz="1400" b="1" dirty="0">
                <a:solidFill>
                  <a:srgbClr val="E7E7E7"/>
                </a:solidFill>
                <a:latin typeface="Source Code Pro"/>
              </a:rPr>
              <a:t>sequence</a:t>
            </a:r>
            <a:r>
              <a:rPr sz="1400" dirty="0">
                <a:solidFill>
                  <a:srgbClr val="E7E7E7"/>
                </a:solidFill>
                <a:latin typeface="Source Code Pro"/>
              </a:rPr>
              <a:t> </a:t>
            </a:r>
            <a:r>
              <a:rPr sz="1400" b="1" dirty="0">
                <a:solidFill>
                  <a:srgbClr val="E7E7E7"/>
                </a:solidFill>
                <a:latin typeface="Source Code Pro"/>
              </a:rPr>
              <a:t>length</a:t>
            </a:r>
          </a:p>
          <a:p>
            <a:pPr algn="l"/>
            <a:endParaRPr sz="1400" b="1" dirty="0">
              <a:solidFill>
                <a:srgbClr val="E7E7E7"/>
              </a:solidFill>
              <a:latin typeface="Source Code Pro"/>
            </a:endParaRPr>
          </a:p>
          <a:p>
            <a:pPr algn="l"/>
            <a:r>
              <a:rPr sz="1400" dirty="0">
                <a:solidFill>
                  <a:srgbClr val="E7E7E7"/>
                </a:solidFill>
                <a:latin typeface="Source Code Pro"/>
              </a:rPr>
              <a:t>Challenge 4: </a:t>
            </a:r>
            <a:r>
              <a:rPr sz="1400" b="1" dirty="0">
                <a:solidFill>
                  <a:srgbClr val="E7E7E7"/>
                </a:solidFill>
                <a:latin typeface="Source Code Pro"/>
              </a:rPr>
              <a:t>Hard</a:t>
            </a:r>
            <a:r>
              <a:rPr sz="1400" dirty="0">
                <a:solidFill>
                  <a:srgbClr val="E7E7E7"/>
                </a:solidFill>
                <a:latin typeface="Source Code Pro"/>
              </a:rPr>
              <a:t> to </a:t>
            </a:r>
            <a:r>
              <a:rPr sz="1400" b="1" dirty="0">
                <a:solidFill>
                  <a:srgbClr val="E7E7E7"/>
                </a:solidFill>
                <a:latin typeface="Source Code Pro"/>
              </a:rPr>
              <a:t>parallelize</a:t>
            </a:r>
            <a:r>
              <a:rPr sz="1400" dirty="0">
                <a:solidFill>
                  <a:srgbClr val="E7E7E7"/>
                </a:solidFill>
                <a:latin typeface="Source Code Pro"/>
              </a:rPr>
              <a:t> (sequential nature)</a:t>
            </a:r>
          </a:p>
          <a:p>
            <a:pPr algn="l"/>
            <a:r>
              <a:rPr sz="1400" dirty="0">
                <a:solidFill>
                  <a:srgbClr val="E7E7E7"/>
                </a:solidFill>
                <a:latin typeface="Source Code Pro"/>
              </a:rPr>
              <a:t>  Solution: Transformers (</a:t>
            </a:r>
            <a:r>
              <a:rPr sz="1400" b="1" dirty="0">
                <a:solidFill>
                  <a:srgbClr val="E7E7E7"/>
                </a:solidFill>
                <a:latin typeface="Source Code Pro"/>
              </a:rPr>
              <a:t>next</a:t>
            </a:r>
            <a:r>
              <a:rPr sz="1400" dirty="0">
                <a:solidFill>
                  <a:srgbClr val="E7E7E7"/>
                </a:solidFill>
                <a:latin typeface="Source Code Pro"/>
              </a:rPr>
              <a:t> </a:t>
            </a:r>
            <a:r>
              <a:rPr sz="1400" b="1" dirty="0">
                <a:solidFill>
                  <a:srgbClr val="E7E7E7"/>
                </a:solidFill>
                <a:latin typeface="Source Code Pro"/>
              </a:rPr>
              <a:t>topic</a:t>
            </a:r>
            <a:r>
              <a:rPr sz="1400" dirty="0">
                <a:solidFill>
                  <a:srgbClr val="E7E7E7"/>
                </a:solidFill>
                <a:latin typeface="Source Code Pro"/>
              </a:rPr>
              <a:t>) are </a:t>
            </a:r>
            <a:r>
              <a:rPr sz="1400" b="1" dirty="0">
                <a:solidFill>
                  <a:srgbClr val="E7E7E7"/>
                </a:solidFill>
                <a:latin typeface="Source Code Pro"/>
              </a:rPr>
              <a:t>parallel</a:t>
            </a:r>
          </a:p>
          <a:p>
            <a:pPr algn="l"/>
            <a:endParaRPr sz="1400" b="1" dirty="0">
              <a:solidFill>
                <a:srgbClr val="E7E7E7"/>
              </a:solidFill>
              <a:latin typeface="Source Code Pro"/>
            </a:endParaRPr>
          </a:p>
          <a:p>
            <a:pPr algn="l"/>
            <a:r>
              <a:rPr sz="1400" dirty="0">
                <a:solidFill>
                  <a:srgbClr val="E7E7E7"/>
                </a:solidFill>
                <a:latin typeface="Source Code Pro"/>
              </a:rPr>
              <a:t>Challenge 5: </a:t>
            </a:r>
            <a:r>
              <a:rPr sz="1400" b="1" dirty="0">
                <a:solidFill>
                  <a:srgbClr val="E7E7E7"/>
                </a:solidFill>
                <a:latin typeface="Source Code Pro"/>
              </a:rPr>
              <a:t>Mode</a:t>
            </a:r>
            <a:r>
              <a:rPr sz="1400" dirty="0">
                <a:solidFill>
                  <a:srgbClr val="E7E7E7"/>
                </a:solidFill>
                <a:latin typeface="Source Code Pro"/>
              </a:rPr>
              <a:t> </a:t>
            </a:r>
            <a:r>
              <a:rPr sz="1400" b="1" dirty="0">
                <a:solidFill>
                  <a:srgbClr val="E7E7E7"/>
                </a:solidFill>
                <a:latin typeface="Source Code Pro"/>
              </a:rPr>
              <a:t>collapse</a:t>
            </a:r>
            <a:r>
              <a:rPr sz="1400" dirty="0">
                <a:solidFill>
                  <a:srgbClr val="E7E7E7"/>
                </a:solidFill>
                <a:latin typeface="Source Code Pro"/>
              </a:rPr>
              <a:t> (generates same </a:t>
            </a:r>
            <a:r>
              <a:rPr sz="1400" b="1" dirty="0">
                <a:solidFill>
                  <a:srgbClr val="E7E7E7"/>
                </a:solidFill>
                <a:latin typeface="Source Code Pro"/>
              </a:rPr>
              <a:t>output</a:t>
            </a:r>
            <a:r>
              <a:rPr sz="1400" dirty="0">
                <a:solidFill>
                  <a:srgbClr val="E7E7E7"/>
                </a:solidFill>
                <a:latin typeface="Source Code Pro"/>
              </a:rPr>
              <a:t>)</a:t>
            </a:r>
          </a:p>
          <a:p>
            <a:pPr algn="l"/>
            <a:r>
              <a:rPr sz="1400" dirty="0">
                <a:solidFill>
                  <a:srgbClr val="E7E7E7"/>
                </a:solidFill>
                <a:latin typeface="Source Code Pro"/>
              </a:rPr>
              <a:t>  Solution: Temperature </a:t>
            </a:r>
            <a:r>
              <a:rPr sz="1400" b="1" dirty="0">
                <a:solidFill>
                  <a:srgbClr val="E7E7E7"/>
                </a:solidFill>
                <a:latin typeface="Source Code Pro"/>
              </a:rPr>
              <a:t>sampling</a:t>
            </a:r>
            <a:r>
              <a:rPr sz="1400" dirty="0">
                <a:solidFill>
                  <a:srgbClr val="E7E7E7"/>
                </a:solidFill>
                <a:latin typeface="Source Code Pro"/>
              </a:rPr>
              <a:t>, </a:t>
            </a:r>
            <a:r>
              <a:rPr sz="1400" b="1" dirty="0">
                <a:solidFill>
                  <a:srgbClr val="E7E7E7"/>
                </a:solidFill>
                <a:latin typeface="Source Code Pro"/>
              </a:rPr>
              <a:t>beam</a:t>
            </a:r>
            <a:r>
              <a:rPr sz="1400" dirty="0">
                <a:solidFill>
                  <a:srgbClr val="E7E7E7"/>
                </a:solidFill>
                <a:latin typeface="Source Code Pro"/>
              </a:rPr>
              <a:t> </a:t>
            </a:r>
            <a:r>
              <a:rPr sz="1400" b="1" dirty="0">
                <a:solidFill>
                  <a:srgbClr val="E7E7E7"/>
                </a:solidFill>
                <a:latin typeface="Source Code Pro"/>
              </a:rPr>
              <a:t>search</a:t>
            </a:r>
          </a:p>
        </p:txBody>
      </p:sp>
    </p:spTree>
    <p:extLst>
      <p:ext uri="{BB962C8B-B14F-4D97-AF65-F5344CB8AC3E}">
        <p14:creationId xmlns:p14="http://schemas.microsoft.com/office/powerpoint/2010/main" val="150602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85C70654-2A9F-257A-1CFB-7E31D8209776}"/>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When to Use RNN</a:t>
            </a:r>
          </a:p>
        </p:txBody>
      </p:sp>
      <p:sp>
        <p:nvSpPr>
          <p:cNvPr id="3" name="TextBox 2"/>
          <p:cNvSpPr txBox="1"/>
          <p:nvPr/>
        </p:nvSpPr>
        <p:spPr>
          <a:xfrm>
            <a:off x="256032" y="1463040"/>
            <a:ext cx="8229600" cy="4185761"/>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Use RNN when:</a:t>
            </a:r>
          </a:p>
          <a:p>
            <a:pPr algn="l"/>
            <a:r>
              <a:rPr sz="1400" dirty="0">
                <a:solidFill>
                  <a:srgbClr val="E7E7E7"/>
                </a:solidFill>
                <a:latin typeface="Source Code Pro"/>
              </a:rPr>
              <a:t>  ✓ </a:t>
            </a:r>
            <a:r>
              <a:rPr sz="1400" b="1" dirty="0">
                <a:solidFill>
                  <a:srgbClr val="E7E7E7"/>
                </a:solidFill>
                <a:latin typeface="Source Code Pro"/>
              </a:rPr>
              <a:t>Data</a:t>
            </a:r>
            <a:r>
              <a:rPr sz="1400" dirty="0">
                <a:solidFill>
                  <a:srgbClr val="E7E7E7"/>
                </a:solidFill>
                <a:latin typeface="Source Code Pro"/>
              </a:rPr>
              <a:t> is </a:t>
            </a:r>
            <a:r>
              <a:rPr sz="1400" b="1" dirty="0">
                <a:solidFill>
                  <a:srgbClr val="E7E7E7"/>
                </a:solidFill>
                <a:latin typeface="Source Code Pro"/>
              </a:rPr>
              <a:t>sequential</a:t>
            </a:r>
            <a:r>
              <a:rPr sz="1400" dirty="0">
                <a:solidFill>
                  <a:srgbClr val="E7E7E7"/>
                </a:solidFill>
                <a:latin typeface="Source Code Pro"/>
              </a:rPr>
              <a:t> (</a:t>
            </a:r>
            <a:r>
              <a:rPr sz="1400" b="1" dirty="0">
                <a:solidFill>
                  <a:srgbClr val="E7E7E7"/>
                </a:solidFill>
                <a:latin typeface="Source Code Pro"/>
              </a:rPr>
              <a:t>time</a:t>
            </a:r>
            <a:r>
              <a:rPr sz="1400" dirty="0">
                <a:solidFill>
                  <a:srgbClr val="E7E7E7"/>
                </a:solidFill>
                <a:latin typeface="Source Code Pro"/>
              </a:rPr>
              <a:t>-</a:t>
            </a:r>
            <a:r>
              <a:rPr sz="1400" b="1" dirty="0">
                <a:solidFill>
                  <a:srgbClr val="E7E7E7"/>
                </a:solidFill>
                <a:latin typeface="Source Code Pro"/>
              </a:rPr>
              <a:t>series</a:t>
            </a:r>
            <a:r>
              <a:rPr sz="1400" dirty="0">
                <a:solidFill>
                  <a:srgbClr val="E7E7E7"/>
                </a:solidFill>
                <a:latin typeface="Source Code Pro"/>
              </a:rPr>
              <a:t>, </a:t>
            </a:r>
            <a:r>
              <a:rPr sz="1400" b="1" dirty="0">
                <a:solidFill>
                  <a:srgbClr val="E7E7E7"/>
                </a:solidFill>
                <a:latin typeface="Source Code Pro"/>
              </a:rPr>
              <a:t>text</a:t>
            </a:r>
            <a:r>
              <a:rPr sz="1400" dirty="0">
                <a:solidFill>
                  <a:srgbClr val="E7E7E7"/>
                </a:solidFill>
                <a:latin typeface="Source Code Pro"/>
              </a:rPr>
              <a:t>, </a:t>
            </a:r>
            <a:r>
              <a:rPr sz="1400" b="1" dirty="0">
                <a:solidFill>
                  <a:srgbClr val="E7E7E7"/>
                </a:solidFill>
                <a:latin typeface="Source Code Pro"/>
              </a:rPr>
              <a:t>audio</a:t>
            </a:r>
            <a:r>
              <a:rPr sz="1400" dirty="0">
                <a:solidFill>
                  <a:srgbClr val="E7E7E7"/>
                </a:solidFill>
                <a:latin typeface="Source Code Pro"/>
              </a:rPr>
              <a:t>)</a:t>
            </a:r>
          </a:p>
          <a:p>
            <a:pPr algn="l"/>
            <a:r>
              <a:rPr sz="1400" dirty="0">
                <a:solidFill>
                  <a:srgbClr val="E7E7E7"/>
                </a:solidFill>
                <a:latin typeface="Source Code Pro"/>
              </a:rPr>
              <a:t>  ✓ </a:t>
            </a:r>
            <a:r>
              <a:rPr sz="1400" b="1" dirty="0">
                <a:solidFill>
                  <a:srgbClr val="E7E7E7"/>
                </a:solidFill>
                <a:latin typeface="Source Code Pro"/>
              </a:rPr>
              <a:t>Order</a:t>
            </a:r>
            <a:r>
              <a:rPr sz="1400" dirty="0">
                <a:solidFill>
                  <a:srgbClr val="E7E7E7"/>
                </a:solidFill>
                <a:latin typeface="Source Code Pro"/>
              </a:rPr>
              <a:t> </a:t>
            </a:r>
            <a:r>
              <a:rPr sz="1400" b="1" dirty="0">
                <a:solidFill>
                  <a:srgbClr val="E7E7E7"/>
                </a:solidFill>
                <a:latin typeface="Source Code Pro"/>
              </a:rPr>
              <a:t>matters</a:t>
            </a:r>
            <a:r>
              <a:rPr sz="1400" dirty="0">
                <a:solidFill>
                  <a:srgbClr val="E7E7E7"/>
                </a:solidFill>
                <a:latin typeface="Source Code Pro"/>
              </a:rPr>
              <a:t> (</a:t>
            </a:r>
            <a:r>
              <a:rPr sz="1400" b="1" dirty="0">
                <a:solidFill>
                  <a:srgbClr val="EC7955"/>
                </a:solidFill>
                <a:latin typeface="Source Code Pro"/>
              </a:rPr>
              <a:t>context</a:t>
            </a:r>
            <a:r>
              <a:rPr sz="1400" dirty="0">
                <a:solidFill>
                  <a:srgbClr val="E7E7E7"/>
                </a:solidFill>
                <a:latin typeface="Source Code Pro"/>
              </a:rPr>
              <a:t> </a:t>
            </a:r>
            <a:r>
              <a:rPr sz="1400" b="1" dirty="0">
                <a:solidFill>
                  <a:srgbClr val="E7E7E7"/>
                </a:solidFill>
                <a:latin typeface="Source Code Pro"/>
              </a:rPr>
              <a:t>important</a:t>
            </a:r>
            <a:r>
              <a:rPr sz="1400" dirty="0">
                <a:solidFill>
                  <a:srgbClr val="E7E7E7"/>
                </a:solidFill>
                <a:latin typeface="Source Code Pro"/>
              </a:rPr>
              <a:t>)</a:t>
            </a:r>
          </a:p>
          <a:p>
            <a:pPr algn="l"/>
            <a:r>
              <a:rPr sz="1400" dirty="0">
                <a:solidFill>
                  <a:srgbClr val="E7E7E7"/>
                </a:solidFill>
                <a:latin typeface="Source Code Pro"/>
              </a:rPr>
              <a:t>  ✓ Variable-</a:t>
            </a:r>
            <a:r>
              <a:rPr sz="1400" b="1" dirty="0">
                <a:solidFill>
                  <a:srgbClr val="E7E7E7"/>
                </a:solidFill>
                <a:latin typeface="Source Code Pro"/>
              </a:rPr>
              <a:t>length</a:t>
            </a:r>
            <a:r>
              <a:rPr sz="1400" dirty="0">
                <a:solidFill>
                  <a:srgbClr val="E7E7E7"/>
                </a:solidFill>
                <a:latin typeface="Source Code Pro"/>
              </a:rPr>
              <a:t> </a:t>
            </a:r>
            <a:r>
              <a:rPr sz="1400" b="1" dirty="0">
                <a:solidFill>
                  <a:srgbClr val="E7E7E7"/>
                </a:solidFill>
                <a:latin typeface="Source Code Pro"/>
              </a:rPr>
              <a:t>sequences</a:t>
            </a:r>
          </a:p>
          <a:p>
            <a:pPr algn="l"/>
            <a:r>
              <a:rPr sz="1400" dirty="0">
                <a:solidFill>
                  <a:srgbClr val="E7E7E7"/>
                </a:solidFill>
                <a:latin typeface="Source Code Pro"/>
              </a:rPr>
              <a:t>  ✓ </a:t>
            </a:r>
            <a:r>
              <a:rPr sz="1400" b="1" dirty="0">
                <a:solidFill>
                  <a:srgbClr val="E7E7E7"/>
                </a:solidFill>
                <a:latin typeface="Source Code Pro"/>
              </a:rPr>
              <a:t>Prediction</a:t>
            </a:r>
            <a:r>
              <a:rPr sz="1400" dirty="0">
                <a:solidFill>
                  <a:srgbClr val="E7E7E7"/>
                </a:solidFill>
                <a:latin typeface="Source Code Pro"/>
              </a:rPr>
              <a:t> or </a:t>
            </a:r>
            <a:r>
              <a:rPr sz="1400" b="1" dirty="0">
                <a:solidFill>
                  <a:srgbClr val="EC7955"/>
                </a:solidFill>
                <a:latin typeface="Source Code Pro"/>
              </a:rPr>
              <a:t>generation</a:t>
            </a:r>
            <a:r>
              <a:rPr sz="1400" dirty="0">
                <a:solidFill>
                  <a:srgbClr val="E7E7E7"/>
                </a:solidFill>
                <a:latin typeface="Source Code Pro"/>
              </a:rPr>
              <a:t> </a:t>
            </a:r>
            <a:r>
              <a:rPr sz="1400" b="1" dirty="0">
                <a:solidFill>
                  <a:srgbClr val="E7E7E7"/>
                </a:solidFill>
                <a:latin typeface="Source Code Pro"/>
              </a:rPr>
              <a:t>task</a:t>
            </a:r>
          </a:p>
          <a:p>
            <a:pPr algn="l"/>
            <a:endParaRPr sz="1400" b="1" dirty="0">
              <a:solidFill>
                <a:srgbClr val="E7E7E7"/>
              </a:solidFill>
              <a:latin typeface="Source Code Pro"/>
            </a:endParaRPr>
          </a:p>
          <a:p>
            <a:pPr algn="l"/>
            <a:r>
              <a:rPr sz="1400" dirty="0">
                <a:solidFill>
                  <a:srgbClr val="E7E7E7"/>
                </a:solidFill>
                <a:latin typeface="Source Code Pro"/>
              </a:rPr>
              <a:t>Examples:</a:t>
            </a:r>
          </a:p>
          <a:p>
            <a:pPr algn="l"/>
            <a:r>
              <a:rPr sz="1400" dirty="0">
                <a:solidFill>
                  <a:srgbClr val="E7E7E7"/>
                </a:solidFill>
                <a:latin typeface="Source Code Pro"/>
              </a:rPr>
              <a:t>  ✓ </a:t>
            </a:r>
            <a:r>
              <a:rPr sz="1400" b="1" dirty="0">
                <a:solidFill>
                  <a:srgbClr val="E7E7E7"/>
                </a:solidFill>
                <a:latin typeface="Source Code Pro"/>
              </a:rPr>
              <a:t>Stock</a:t>
            </a:r>
            <a:r>
              <a:rPr sz="1400" dirty="0">
                <a:solidFill>
                  <a:srgbClr val="E7E7E7"/>
                </a:solidFill>
                <a:latin typeface="Source Code Pro"/>
              </a:rPr>
              <a:t> </a:t>
            </a:r>
            <a:r>
              <a:rPr sz="1400" b="1" dirty="0">
                <a:solidFill>
                  <a:srgbClr val="E7E7E7"/>
                </a:solidFill>
                <a:latin typeface="Source Code Pro"/>
              </a:rPr>
              <a:t>price</a:t>
            </a:r>
            <a:r>
              <a:rPr sz="1400" dirty="0">
                <a:solidFill>
                  <a:srgbClr val="E7E7E7"/>
                </a:solidFill>
                <a:latin typeface="Source Code Pro"/>
              </a:rPr>
              <a:t> </a:t>
            </a:r>
            <a:r>
              <a:rPr sz="1400" b="1" dirty="0">
                <a:solidFill>
                  <a:srgbClr val="BD64B5"/>
                </a:solidFill>
                <a:latin typeface="Source Code Pro"/>
              </a:rPr>
              <a:t>prediction</a:t>
            </a:r>
          </a:p>
          <a:p>
            <a:pPr algn="l"/>
            <a:r>
              <a:rPr sz="1400" dirty="0">
                <a:solidFill>
                  <a:srgbClr val="E7E7E7"/>
                </a:solidFill>
                <a:latin typeface="Source Code Pro"/>
              </a:rPr>
              <a:t>  ✓ </a:t>
            </a:r>
            <a:r>
              <a:rPr sz="1400" b="1" dirty="0">
                <a:solidFill>
                  <a:srgbClr val="E7E7E7"/>
                </a:solidFill>
                <a:latin typeface="Source Code Pro"/>
              </a:rPr>
              <a:t>Sentiment</a:t>
            </a:r>
            <a:r>
              <a:rPr sz="1400" dirty="0">
                <a:solidFill>
                  <a:srgbClr val="E7E7E7"/>
                </a:solidFill>
                <a:latin typeface="Source Code Pro"/>
              </a:rPr>
              <a:t> </a:t>
            </a:r>
            <a:r>
              <a:rPr sz="1400" b="1" dirty="0">
                <a:solidFill>
                  <a:srgbClr val="E7E7E7"/>
                </a:solidFill>
                <a:latin typeface="Source Code Pro"/>
              </a:rPr>
              <a:t>analysis</a:t>
            </a:r>
          </a:p>
          <a:p>
            <a:pPr algn="l"/>
            <a:r>
              <a:rPr sz="1400" dirty="0">
                <a:solidFill>
                  <a:srgbClr val="E7E7E7"/>
                </a:solidFill>
                <a:latin typeface="Source Code Pro"/>
              </a:rPr>
              <a:t>  ✓ </a:t>
            </a:r>
            <a:r>
              <a:rPr sz="1400" b="1" dirty="0">
                <a:solidFill>
                  <a:srgbClr val="E7E7E7"/>
                </a:solidFill>
                <a:latin typeface="Source Code Pro"/>
              </a:rPr>
              <a:t>Machine</a:t>
            </a:r>
            <a:r>
              <a:rPr sz="1400" dirty="0">
                <a:solidFill>
                  <a:srgbClr val="E7E7E7"/>
                </a:solidFill>
                <a:latin typeface="Source Code Pro"/>
              </a:rPr>
              <a:t> </a:t>
            </a:r>
            <a:r>
              <a:rPr sz="1400" b="1" dirty="0">
                <a:solidFill>
                  <a:srgbClr val="E7E7E7"/>
                </a:solidFill>
                <a:latin typeface="Source Code Pro"/>
              </a:rPr>
              <a:t>translation</a:t>
            </a:r>
          </a:p>
          <a:p>
            <a:pPr algn="l"/>
            <a:r>
              <a:rPr sz="1400" dirty="0">
                <a:solidFill>
                  <a:srgbClr val="E7E7E7"/>
                </a:solidFill>
                <a:latin typeface="Source Code Pro"/>
              </a:rPr>
              <a:t>  ✓ Chatbots</a:t>
            </a:r>
          </a:p>
          <a:p>
            <a:pPr algn="l"/>
            <a:r>
              <a:rPr sz="1400" dirty="0">
                <a:solidFill>
                  <a:srgbClr val="E7E7E7"/>
                </a:solidFill>
                <a:latin typeface="Source Code Pro"/>
              </a:rPr>
              <a:t>  ✓ </a:t>
            </a:r>
            <a:r>
              <a:rPr sz="1400" b="1" dirty="0">
                <a:solidFill>
                  <a:srgbClr val="E7E7E7"/>
                </a:solidFill>
                <a:latin typeface="Source Code Pro"/>
              </a:rPr>
              <a:t>Speech</a:t>
            </a:r>
            <a:r>
              <a:rPr sz="1400" dirty="0">
                <a:solidFill>
                  <a:srgbClr val="E7E7E7"/>
                </a:solidFill>
                <a:latin typeface="Source Code Pro"/>
              </a:rPr>
              <a:t> </a:t>
            </a:r>
            <a:r>
              <a:rPr sz="1400" b="1" dirty="0">
                <a:solidFill>
                  <a:srgbClr val="E7E7E7"/>
                </a:solidFill>
                <a:latin typeface="Source Code Pro"/>
              </a:rPr>
              <a:t>recognition</a:t>
            </a:r>
          </a:p>
          <a:p>
            <a:pPr algn="l"/>
            <a:r>
              <a:rPr sz="1400" dirty="0">
                <a:solidFill>
                  <a:srgbClr val="E7E7E7"/>
                </a:solidFill>
                <a:latin typeface="Source Code Pro"/>
              </a:rPr>
              <a:t>  ✓ </a:t>
            </a:r>
            <a:r>
              <a:rPr sz="1400" b="1" dirty="0">
                <a:solidFill>
                  <a:srgbClr val="E7E7E7"/>
                </a:solidFill>
                <a:latin typeface="Source Code Pro"/>
              </a:rPr>
              <a:t>Video</a:t>
            </a:r>
            <a:r>
              <a:rPr sz="1400" dirty="0">
                <a:solidFill>
                  <a:srgbClr val="E7E7E7"/>
                </a:solidFill>
                <a:latin typeface="Source Code Pro"/>
              </a:rPr>
              <a:t> </a:t>
            </a:r>
            <a:r>
              <a:rPr sz="1400" b="1" dirty="0">
                <a:solidFill>
                  <a:srgbClr val="BD64B5"/>
                </a:solidFill>
                <a:latin typeface="Source Code Pro"/>
              </a:rPr>
              <a:t>classification</a:t>
            </a:r>
          </a:p>
          <a:p>
            <a:pPr algn="l"/>
            <a:endParaRPr sz="1400" b="1" dirty="0">
              <a:solidFill>
                <a:srgbClr val="BD64B5"/>
              </a:solidFill>
              <a:latin typeface="Source Code Pro"/>
            </a:endParaRPr>
          </a:p>
          <a:p>
            <a:pPr algn="l"/>
            <a:r>
              <a:rPr sz="1400" dirty="0">
                <a:solidFill>
                  <a:srgbClr val="E7E7E7"/>
                </a:solidFill>
                <a:latin typeface="Source Code Pro"/>
              </a:rPr>
              <a:t>Don't use RNN when:</a:t>
            </a:r>
          </a:p>
          <a:p>
            <a:pPr algn="l"/>
            <a:r>
              <a:rPr sz="1400" dirty="0">
                <a:solidFill>
                  <a:srgbClr val="E7E7E7"/>
                </a:solidFill>
                <a:latin typeface="Source Code Pro"/>
              </a:rPr>
              <a:t>  ✗ </a:t>
            </a:r>
            <a:r>
              <a:rPr sz="1400" b="1" dirty="0">
                <a:solidFill>
                  <a:srgbClr val="E7E7E7"/>
                </a:solidFill>
                <a:latin typeface="Source Code Pro"/>
              </a:rPr>
              <a:t>Order</a:t>
            </a:r>
            <a:r>
              <a:rPr sz="1400" dirty="0">
                <a:solidFill>
                  <a:srgbClr val="E7E7E7"/>
                </a:solidFill>
                <a:latin typeface="Source Code Pro"/>
              </a:rPr>
              <a:t> doesn't </a:t>
            </a:r>
            <a:r>
              <a:rPr sz="1400" b="1" dirty="0">
                <a:solidFill>
                  <a:srgbClr val="FD4A4A"/>
                </a:solidFill>
                <a:latin typeface="Source Code Pro"/>
              </a:rPr>
              <a:t>matter</a:t>
            </a:r>
            <a:r>
              <a:rPr sz="1400" dirty="0">
                <a:solidFill>
                  <a:srgbClr val="E7E7E7"/>
                </a:solidFill>
                <a:latin typeface="Source Code Pro"/>
              </a:rPr>
              <a:t> (</a:t>
            </a:r>
            <a:r>
              <a:rPr sz="1400" b="1" dirty="0">
                <a:solidFill>
                  <a:srgbClr val="E81A81"/>
                </a:solidFill>
                <a:latin typeface="Source Code Pro"/>
              </a:rPr>
              <a:t>classification</a:t>
            </a:r>
            <a:r>
              <a:rPr sz="1400" dirty="0">
                <a:solidFill>
                  <a:srgbClr val="E7E7E7"/>
                </a:solidFill>
                <a:latin typeface="Source Code Pro"/>
              </a:rPr>
              <a:t> of </a:t>
            </a:r>
            <a:r>
              <a:rPr sz="1400" b="1" dirty="0">
                <a:solidFill>
                  <a:srgbClr val="E7E7E7"/>
                </a:solidFill>
                <a:latin typeface="Source Code Pro"/>
              </a:rPr>
              <a:t>independent</a:t>
            </a:r>
            <a:r>
              <a:rPr sz="1400" dirty="0">
                <a:solidFill>
                  <a:srgbClr val="E7E7E7"/>
                </a:solidFill>
                <a:latin typeface="Source Code Pro"/>
              </a:rPr>
              <a:t> </a:t>
            </a:r>
            <a:r>
              <a:rPr sz="1400" b="1" dirty="0">
                <a:solidFill>
                  <a:srgbClr val="E7E7E7"/>
                </a:solidFill>
                <a:latin typeface="Source Code Pro"/>
              </a:rPr>
              <a:t>items</a:t>
            </a:r>
            <a:r>
              <a:rPr sz="1400" dirty="0">
                <a:solidFill>
                  <a:srgbClr val="E7E7E7"/>
                </a:solidFill>
                <a:latin typeface="Source Code Pro"/>
              </a:rPr>
              <a:t>)</a:t>
            </a:r>
          </a:p>
          <a:p>
            <a:pPr algn="l"/>
            <a:r>
              <a:rPr sz="1400" dirty="0">
                <a:solidFill>
                  <a:srgbClr val="E7E7E7"/>
                </a:solidFill>
                <a:latin typeface="Source Code Pro"/>
              </a:rPr>
              <a:t>  ✗ </a:t>
            </a:r>
            <a:r>
              <a:rPr sz="1400" b="1" dirty="0">
                <a:solidFill>
                  <a:srgbClr val="E7E7E7"/>
                </a:solidFill>
                <a:latin typeface="Source Code Pro"/>
              </a:rPr>
              <a:t>Sequences</a:t>
            </a:r>
            <a:r>
              <a:rPr sz="1400" dirty="0">
                <a:solidFill>
                  <a:srgbClr val="E7E7E7"/>
                </a:solidFill>
                <a:latin typeface="Source Code Pro"/>
              </a:rPr>
              <a:t> too </a:t>
            </a:r>
            <a:r>
              <a:rPr sz="1400" b="1" dirty="0">
                <a:solidFill>
                  <a:srgbClr val="E7E7E7"/>
                </a:solidFill>
                <a:latin typeface="Source Code Pro"/>
              </a:rPr>
              <a:t>long</a:t>
            </a:r>
            <a:r>
              <a:rPr sz="1400" dirty="0">
                <a:solidFill>
                  <a:srgbClr val="E7E7E7"/>
                </a:solidFill>
                <a:latin typeface="Source Code Pro"/>
              </a:rPr>
              <a:t> (&gt;500 </a:t>
            </a:r>
            <a:r>
              <a:rPr sz="1400" b="1" dirty="0">
                <a:solidFill>
                  <a:srgbClr val="E7E7E7"/>
                </a:solidFill>
                <a:latin typeface="Source Code Pro"/>
              </a:rPr>
              <a:t>timesteps</a:t>
            </a:r>
            <a:r>
              <a:rPr sz="1400" dirty="0">
                <a:solidFill>
                  <a:srgbClr val="E7E7E7"/>
                </a:solidFill>
                <a:latin typeface="Source Code Pro"/>
              </a:rPr>
              <a:t>) → Transformers instead</a:t>
            </a:r>
          </a:p>
          <a:p>
            <a:pPr algn="l"/>
            <a:r>
              <a:rPr sz="1400" dirty="0">
                <a:solidFill>
                  <a:srgbClr val="E7E7E7"/>
                </a:solidFill>
                <a:latin typeface="Source Code Pro"/>
              </a:rPr>
              <a:t>  ✗ Need </a:t>
            </a:r>
            <a:r>
              <a:rPr sz="1400" b="1" dirty="0">
                <a:solidFill>
                  <a:srgbClr val="E7E7E7"/>
                </a:solidFill>
                <a:latin typeface="Source Code Pro"/>
              </a:rPr>
              <a:t>real</a:t>
            </a:r>
            <a:r>
              <a:rPr sz="1400" dirty="0">
                <a:solidFill>
                  <a:srgbClr val="E7E7E7"/>
                </a:solidFill>
                <a:latin typeface="Source Code Pro"/>
              </a:rPr>
              <a:t>-</a:t>
            </a:r>
            <a:r>
              <a:rPr sz="1400" b="1" dirty="0">
                <a:solidFill>
                  <a:srgbClr val="E7E7E7"/>
                </a:solidFill>
                <a:latin typeface="Source Code Pro"/>
              </a:rPr>
              <a:t>time</a:t>
            </a:r>
            <a:r>
              <a:rPr sz="1400" dirty="0">
                <a:solidFill>
                  <a:srgbClr val="E7E7E7"/>
                </a:solidFill>
                <a:latin typeface="Source Code Pro"/>
              </a:rPr>
              <a:t> </a:t>
            </a:r>
            <a:r>
              <a:rPr sz="1400" b="1" dirty="0">
                <a:solidFill>
                  <a:srgbClr val="E7E7E7"/>
                </a:solidFill>
                <a:latin typeface="Source Code Pro"/>
              </a:rPr>
              <a:t>inference</a:t>
            </a:r>
            <a:r>
              <a:rPr sz="1400" dirty="0">
                <a:solidFill>
                  <a:srgbClr val="E7E7E7"/>
                </a:solidFill>
                <a:latin typeface="Source Code Pro"/>
              </a:rPr>
              <a:t> (RNN </a:t>
            </a:r>
            <a:r>
              <a:rPr sz="1400" b="1" dirty="0">
                <a:solidFill>
                  <a:srgbClr val="E7E7E7"/>
                </a:solidFill>
                <a:latin typeface="Source Code Pro"/>
              </a:rPr>
              <a:t>slow</a:t>
            </a:r>
            <a:r>
              <a:rPr sz="1400" dirty="0">
                <a:solidFill>
                  <a:srgbClr val="E7E7E7"/>
                </a:solidFill>
                <a:latin typeface="Source Code Pro"/>
              </a:rPr>
              <a:t>) → Alternatives</a:t>
            </a:r>
          </a:p>
        </p:txBody>
      </p:sp>
    </p:spTree>
    <p:extLst>
      <p:ext uri="{BB962C8B-B14F-4D97-AF65-F5344CB8AC3E}">
        <p14:creationId xmlns:p14="http://schemas.microsoft.com/office/powerpoint/2010/main" val="3684449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CCFE52EE-A45E-390B-D365-1944DD8EACB5}"/>
            </a:ext>
          </a:extLst>
        </p:cNvPr>
        <p:cNvGrpSpPr/>
        <p:nvPr/>
      </p:nvGrpSpPr>
      <p:grpSpPr>
        <a:xfrm>
          <a:off x="0" y="0"/>
          <a:ext cx="0" cy="0"/>
          <a:chOff x="0" y="0"/>
          <a:chExt cx="0" cy="0"/>
        </a:xfrm>
      </p:grpSpPr>
      <p:sp>
        <p:nvSpPr>
          <p:cNvPr id="2" name="TextBox 1"/>
          <p:cNvSpPr txBox="1"/>
          <p:nvPr/>
        </p:nvSpPr>
        <p:spPr>
          <a:xfrm>
            <a:off x="457200" y="365760"/>
            <a:ext cx="8229600" cy="1097280"/>
          </a:xfrm>
          <a:prstGeom prst="rect">
            <a:avLst/>
          </a:prstGeom>
          <a:noFill/>
        </p:spPr>
        <p:txBody>
          <a:bodyPr wrap="square">
            <a:spAutoFit/>
          </a:bodyPr>
          <a:lstStyle/>
          <a:p>
            <a:pPr algn="l"/>
            <a:r>
              <a:rPr sz="3200" b="0">
                <a:solidFill>
                  <a:srgbClr val="FFFFFF"/>
                </a:solidFill>
                <a:latin typeface="Source Code Pro"/>
              </a:rPr>
              <a:t>RNN vs Transformers (Preview)</a:t>
            </a:r>
          </a:p>
        </p:txBody>
      </p:sp>
      <p:sp>
        <p:nvSpPr>
          <p:cNvPr id="3" name="TextBox 2"/>
          <p:cNvSpPr txBox="1"/>
          <p:nvPr/>
        </p:nvSpPr>
        <p:spPr>
          <a:xfrm>
            <a:off x="256032" y="1463040"/>
            <a:ext cx="8229600" cy="4185761"/>
          </a:xfrm>
          <a:prstGeom prst="rect">
            <a:avLst/>
          </a:prstGeom>
          <a:noFill/>
        </p:spPr>
        <p:txBody>
          <a:bodyPr wrap="square">
            <a:spAutoFit/>
          </a:bodyPr>
          <a:lstStyle/>
          <a:p>
            <a:pPr algn="l"/>
            <a:endParaRPr lang="en-US" sz="1400" dirty="0">
              <a:solidFill>
                <a:srgbClr val="E7E7E7"/>
              </a:solidFill>
              <a:latin typeface="Source Code Pro"/>
            </a:endParaRPr>
          </a:p>
          <a:p>
            <a:pPr algn="l"/>
            <a:r>
              <a:rPr sz="1400" dirty="0">
                <a:solidFill>
                  <a:srgbClr val="E7E7E7"/>
                </a:solidFill>
                <a:latin typeface="Source Code Pro"/>
              </a:rPr>
              <a:t>RNN (</a:t>
            </a:r>
            <a:r>
              <a:rPr sz="1400" b="1" dirty="0">
                <a:solidFill>
                  <a:srgbClr val="E7E7E7"/>
                </a:solidFill>
                <a:latin typeface="Source Code Pro"/>
              </a:rPr>
              <a:t>Sequential</a:t>
            </a:r>
            <a:r>
              <a:rPr sz="1400" dirty="0">
                <a:solidFill>
                  <a:srgbClr val="E7E7E7"/>
                </a:solidFill>
                <a:latin typeface="Source Code Pro"/>
              </a:rPr>
              <a:t>):</a:t>
            </a:r>
          </a:p>
          <a:p>
            <a:pPr algn="l"/>
            <a:r>
              <a:rPr sz="1400" dirty="0">
                <a:solidFill>
                  <a:srgbClr val="E7E7E7"/>
                </a:solidFill>
                <a:latin typeface="Source Code Pro"/>
              </a:rPr>
              <a:t>  </a:t>
            </a:r>
            <a:r>
              <a:rPr sz="1400" b="1" dirty="0">
                <a:solidFill>
                  <a:srgbClr val="E7E7E7"/>
                </a:solidFill>
                <a:latin typeface="Source Code Pro"/>
              </a:rPr>
              <a:t>Processes</a:t>
            </a:r>
            <a:r>
              <a:rPr sz="1400" dirty="0">
                <a:solidFill>
                  <a:srgbClr val="E7E7E7"/>
                </a:solidFill>
                <a:latin typeface="Source Code Pro"/>
              </a:rPr>
              <a:t> one </a:t>
            </a:r>
            <a:r>
              <a:rPr sz="1400" b="1" dirty="0">
                <a:solidFill>
                  <a:srgbClr val="E7E7E7"/>
                </a:solidFill>
                <a:latin typeface="Source Code Pro"/>
              </a:rPr>
              <a:t>timestep</a:t>
            </a:r>
            <a:r>
              <a:rPr sz="1400" dirty="0">
                <a:solidFill>
                  <a:srgbClr val="E7E7E7"/>
                </a:solidFill>
                <a:latin typeface="Source Code Pro"/>
              </a:rPr>
              <a:t> </a:t>
            </a:r>
            <a:r>
              <a:rPr sz="1400" b="1" dirty="0">
                <a:solidFill>
                  <a:srgbClr val="E81A81"/>
                </a:solidFill>
                <a:latin typeface="Source Code Pro"/>
              </a:rPr>
              <a:t>at</a:t>
            </a:r>
            <a:r>
              <a:rPr sz="1400" dirty="0">
                <a:solidFill>
                  <a:srgbClr val="E7E7E7"/>
                </a:solidFill>
                <a:latin typeface="Source Code Pro"/>
              </a:rPr>
              <a:t> </a:t>
            </a:r>
            <a:r>
              <a:rPr sz="1400" b="1" dirty="0">
                <a:solidFill>
                  <a:srgbClr val="E7E7E7"/>
                </a:solidFill>
                <a:latin typeface="Source Code Pro"/>
              </a:rPr>
              <a:t>time</a:t>
            </a:r>
          </a:p>
          <a:p>
            <a:pPr algn="l"/>
            <a:r>
              <a:rPr sz="1400" dirty="0">
                <a:solidFill>
                  <a:srgbClr val="E7E7E7"/>
                </a:solidFill>
                <a:latin typeface="Source Code Pro"/>
              </a:rPr>
              <a:t>  </a:t>
            </a:r>
            <a:r>
              <a:rPr sz="1400" b="1" dirty="0">
                <a:solidFill>
                  <a:srgbClr val="E7E7E7"/>
                </a:solidFill>
                <a:latin typeface="Source Code Pro"/>
              </a:rPr>
              <a:t>Gradients</a:t>
            </a:r>
            <a:r>
              <a:rPr sz="1400" dirty="0">
                <a:solidFill>
                  <a:srgbClr val="E7E7E7"/>
                </a:solidFill>
                <a:latin typeface="Source Code Pro"/>
              </a:rPr>
              <a:t> </a:t>
            </a:r>
            <a:r>
              <a:rPr sz="1400" b="1" dirty="0">
                <a:solidFill>
                  <a:srgbClr val="E7E7E7"/>
                </a:solidFill>
                <a:latin typeface="Source Code Pro"/>
              </a:rPr>
              <a:t>flow</a:t>
            </a:r>
            <a:r>
              <a:rPr sz="1400" dirty="0">
                <a:solidFill>
                  <a:srgbClr val="E7E7E7"/>
                </a:solidFill>
                <a:latin typeface="Source Code Pro"/>
              </a:rPr>
              <a:t> over </a:t>
            </a:r>
            <a:r>
              <a:rPr sz="1400" b="1" dirty="0">
                <a:solidFill>
                  <a:srgbClr val="E7E7E7"/>
                </a:solidFill>
                <a:latin typeface="Source Code Pro"/>
              </a:rPr>
              <a:t>time</a:t>
            </a:r>
          </a:p>
          <a:p>
            <a:pPr algn="l"/>
            <a:r>
              <a:rPr sz="1400" dirty="0">
                <a:solidFill>
                  <a:srgbClr val="E7E7E7"/>
                </a:solidFill>
                <a:latin typeface="Source Code Pro"/>
              </a:rPr>
              <a:t>  </a:t>
            </a:r>
            <a:r>
              <a:rPr sz="1400" b="1" dirty="0">
                <a:solidFill>
                  <a:srgbClr val="E7E7E7"/>
                </a:solidFill>
                <a:latin typeface="Source Code Pro"/>
              </a:rPr>
              <a:t>Memory</a:t>
            </a:r>
            <a:r>
              <a:rPr sz="1400" dirty="0">
                <a:solidFill>
                  <a:srgbClr val="E7E7E7"/>
                </a:solidFill>
                <a:latin typeface="Source Code Pro"/>
              </a:rPr>
              <a:t> built-in (</a:t>
            </a:r>
            <a:r>
              <a:rPr sz="1400" b="1" dirty="0">
                <a:solidFill>
                  <a:srgbClr val="E7E7E7"/>
                </a:solidFill>
                <a:latin typeface="Source Code Pro"/>
              </a:rPr>
              <a:t>hidden</a:t>
            </a:r>
            <a:r>
              <a:rPr sz="1400" dirty="0">
                <a:solidFill>
                  <a:srgbClr val="E7E7E7"/>
                </a:solidFill>
                <a:latin typeface="Source Code Pro"/>
              </a:rPr>
              <a:t> </a:t>
            </a:r>
            <a:r>
              <a:rPr sz="1400" b="1" dirty="0">
                <a:solidFill>
                  <a:srgbClr val="E7E7E7"/>
                </a:solidFill>
                <a:latin typeface="Source Code Pro"/>
              </a:rPr>
              <a:t>state</a:t>
            </a:r>
            <a:r>
              <a:rPr sz="1400" dirty="0">
                <a:solidFill>
                  <a:srgbClr val="E7E7E7"/>
                </a:solidFill>
                <a:latin typeface="Source Code Pro"/>
              </a:rPr>
              <a:t>)</a:t>
            </a:r>
          </a:p>
          <a:p>
            <a:pPr algn="l"/>
            <a:r>
              <a:rPr sz="1400" dirty="0">
                <a:solidFill>
                  <a:srgbClr val="E7E7E7"/>
                </a:solidFill>
                <a:latin typeface="Source Code Pro"/>
              </a:rPr>
              <a:t>  </a:t>
            </a:r>
            <a:r>
              <a:rPr sz="1400" b="1" dirty="0">
                <a:solidFill>
                  <a:srgbClr val="E7E7E7"/>
                </a:solidFill>
                <a:latin typeface="Source Code Pro"/>
              </a:rPr>
              <a:t>Slow</a:t>
            </a:r>
            <a:r>
              <a:rPr sz="1400" dirty="0">
                <a:solidFill>
                  <a:srgbClr val="E7E7E7"/>
                </a:solidFill>
                <a:latin typeface="Source Code Pro"/>
              </a:rPr>
              <a:t> for </a:t>
            </a:r>
            <a:r>
              <a:rPr sz="1400" b="1" dirty="0">
                <a:solidFill>
                  <a:srgbClr val="E7E7E7"/>
                </a:solidFill>
                <a:latin typeface="Source Code Pro"/>
              </a:rPr>
              <a:t>long</a:t>
            </a:r>
            <a:r>
              <a:rPr sz="1400" dirty="0">
                <a:solidFill>
                  <a:srgbClr val="E7E7E7"/>
                </a:solidFill>
                <a:latin typeface="Source Code Pro"/>
              </a:rPr>
              <a:t> </a:t>
            </a:r>
            <a:r>
              <a:rPr sz="1400" b="1" dirty="0">
                <a:solidFill>
                  <a:srgbClr val="E7E7E7"/>
                </a:solidFill>
                <a:latin typeface="Source Code Pro"/>
              </a:rPr>
              <a:t>sequences</a:t>
            </a:r>
          </a:p>
          <a:p>
            <a:pPr algn="l"/>
            <a:r>
              <a:rPr sz="1400" dirty="0">
                <a:solidFill>
                  <a:srgbClr val="E7E7E7"/>
                </a:solidFill>
                <a:latin typeface="Source Code Pro"/>
              </a:rPr>
              <a:t>  Examples: LSTM, GRU, Vanilla RNN</a:t>
            </a:r>
          </a:p>
          <a:p>
            <a:pPr algn="l"/>
            <a:endParaRPr sz="1400" dirty="0">
              <a:solidFill>
                <a:srgbClr val="E7E7E7"/>
              </a:solidFill>
              <a:latin typeface="Source Code Pro"/>
            </a:endParaRPr>
          </a:p>
          <a:p>
            <a:pPr algn="l"/>
            <a:r>
              <a:rPr sz="1400" dirty="0">
                <a:solidFill>
                  <a:srgbClr val="E7E7E7"/>
                </a:solidFill>
                <a:latin typeface="Source Code Pro"/>
              </a:rPr>
              <a:t>Transformers (</a:t>
            </a:r>
            <a:r>
              <a:rPr sz="1400" b="1" dirty="0">
                <a:solidFill>
                  <a:srgbClr val="4CAE97"/>
                </a:solidFill>
                <a:latin typeface="Source Code Pro"/>
              </a:rPr>
              <a:t>Parallel</a:t>
            </a:r>
            <a:r>
              <a:rPr sz="1400" dirty="0">
                <a:solidFill>
                  <a:srgbClr val="E7E7E7"/>
                </a:solidFill>
                <a:latin typeface="Source Code Pro"/>
              </a:rPr>
              <a:t>):</a:t>
            </a:r>
          </a:p>
          <a:p>
            <a:pPr algn="l"/>
            <a:r>
              <a:rPr sz="1400" dirty="0">
                <a:solidFill>
                  <a:srgbClr val="E7E7E7"/>
                </a:solidFill>
                <a:latin typeface="Source Code Pro"/>
              </a:rPr>
              <a:t>  </a:t>
            </a:r>
            <a:r>
              <a:rPr sz="1400" b="1" dirty="0">
                <a:solidFill>
                  <a:srgbClr val="E7E7E7"/>
                </a:solidFill>
                <a:latin typeface="Source Code Pro"/>
              </a:rPr>
              <a:t>Processes</a:t>
            </a:r>
            <a:r>
              <a:rPr sz="1400" dirty="0">
                <a:solidFill>
                  <a:srgbClr val="E7E7E7"/>
                </a:solidFill>
                <a:latin typeface="Source Code Pro"/>
              </a:rPr>
              <a:t> all </a:t>
            </a:r>
            <a:r>
              <a:rPr sz="1400" b="1" dirty="0">
                <a:solidFill>
                  <a:srgbClr val="E7E7E7"/>
                </a:solidFill>
                <a:latin typeface="Source Code Pro"/>
              </a:rPr>
              <a:t>timesteps</a:t>
            </a:r>
            <a:r>
              <a:rPr sz="1400" dirty="0">
                <a:solidFill>
                  <a:srgbClr val="E7E7E7"/>
                </a:solidFill>
                <a:latin typeface="Source Code Pro"/>
              </a:rPr>
              <a:t> </a:t>
            </a:r>
            <a:r>
              <a:rPr sz="1400" b="1" dirty="0">
                <a:solidFill>
                  <a:srgbClr val="FD4A4A"/>
                </a:solidFill>
                <a:latin typeface="Source Code Pro"/>
              </a:rPr>
              <a:t>at</a:t>
            </a:r>
            <a:r>
              <a:rPr sz="1400" dirty="0">
                <a:solidFill>
                  <a:srgbClr val="E7E7E7"/>
                </a:solidFill>
                <a:latin typeface="Source Code Pro"/>
              </a:rPr>
              <a:t> </a:t>
            </a:r>
            <a:r>
              <a:rPr sz="1400" b="1" dirty="0">
                <a:solidFill>
                  <a:srgbClr val="E81A81"/>
                </a:solidFill>
                <a:latin typeface="Source Code Pro"/>
              </a:rPr>
              <a:t>once</a:t>
            </a:r>
          </a:p>
          <a:p>
            <a:pPr algn="l"/>
            <a:r>
              <a:rPr sz="1400" dirty="0">
                <a:solidFill>
                  <a:srgbClr val="E7E7E7"/>
                </a:solidFill>
                <a:latin typeface="Source Code Pro"/>
              </a:rPr>
              <a:t>  </a:t>
            </a:r>
            <a:r>
              <a:rPr sz="1400" b="1" dirty="0">
                <a:solidFill>
                  <a:srgbClr val="E7E7E7"/>
                </a:solidFill>
                <a:latin typeface="Source Code Pro"/>
              </a:rPr>
              <a:t>Attention</a:t>
            </a:r>
            <a:r>
              <a:rPr sz="1400" dirty="0">
                <a:solidFill>
                  <a:srgbClr val="E7E7E7"/>
                </a:solidFill>
                <a:latin typeface="Source Code Pro"/>
              </a:rPr>
              <a:t> </a:t>
            </a:r>
            <a:r>
              <a:rPr sz="1400" b="1" dirty="0">
                <a:solidFill>
                  <a:srgbClr val="E7E7E7"/>
                </a:solidFill>
                <a:latin typeface="Source Code Pro"/>
              </a:rPr>
              <a:t>directly</a:t>
            </a:r>
            <a:r>
              <a:rPr sz="1400" dirty="0">
                <a:solidFill>
                  <a:srgbClr val="E7E7E7"/>
                </a:solidFill>
                <a:latin typeface="Source Code Pro"/>
              </a:rPr>
              <a:t> </a:t>
            </a:r>
            <a:r>
              <a:rPr sz="1400" b="1" dirty="0">
                <a:solidFill>
                  <a:srgbClr val="E7E7E7"/>
                </a:solidFill>
                <a:latin typeface="Source Code Pro"/>
              </a:rPr>
              <a:t>connects</a:t>
            </a:r>
            <a:r>
              <a:rPr sz="1400" dirty="0">
                <a:solidFill>
                  <a:srgbClr val="E7E7E7"/>
                </a:solidFill>
                <a:latin typeface="Source Code Pro"/>
              </a:rPr>
              <a:t> </a:t>
            </a:r>
            <a:r>
              <a:rPr sz="1400" b="1" dirty="0">
                <a:solidFill>
                  <a:srgbClr val="E7E7E7"/>
                </a:solidFill>
                <a:latin typeface="Source Code Pro"/>
              </a:rPr>
              <a:t>all</a:t>
            </a:r>
            <a:r>
              <a:rPr sz="1400" dirty="0">
                <a:solidFill>
                  <a:srgbClr val="E7E7E7"/>
                </a:solidFill>
                <a:latin typeface="Source Code Pro"/>
              </a:rPr>
              <a:t> </a:t>
            </a:r>
            <a:r>
              <a:rPr sz="1400" b="1" dirty="0">
                <a:solidFill>
                  <a:srgbClr val="E7E7E7"/>
                </a:solidFill>
                <a:latin typeface="Source Code Pro"/>
              </a:rPr>
              <a:t>pairs</a:t>
            </a:r>
          </a:p>
          <a:p>
            <a:pPr algn="l"/>
            <a:r>
              <a:rPr sz="1400" dirty="0">
                <a:solidFill>
                  <a:srgbClr val="E7E7E7"/>
                </a:solidFill>
                <a:latin typeface="Source Code Pro"/>
              </a:rPr>
              <a:t>  No </a:t>
            </a:r>
            <a:r>
              <a:rPr sz="1400" b="1" dirty="0">
                <a:solidFill>
                  <a:srgbClr val="E7E7E7"/>
                </a:solidFill>
                <a:latin typeface="Source Code Pro"/>
              </a:rPr>
              <a:t>sequential</a:t>
            </a:r>
            <a:r>
              <a:rPr sz="1400" dirty="0">
                <a:solidFill>
                  <a:srgbClr val="E7E7E7"/>
                </a:solidFill>
                <a:latin typeface="Source Code Pro"/>
              </a:rPr>
              <a:t> </a:t>
            </a:r>
            <a:r>
              <a:rPr sz="1400" b="1" dirty="0">
                <a:solidFill>
                  <a:srgbClr val="E7E7E7"/>
                </a:solidFill>
                <a:latin typeface="Source Code Pro"/>
              </a:rPr>
              <a:t>memory</a:t>
            </a:r>
            <a:r>
              <a:rPr sz="1400" dirty="0">
                <a:solidFill>
                  <a:srgbClr val="E7E7E7"/>
                </a:solidFill>
                <a:latin typeface="Source Code Pro"/>
              </a:rPr>
              <a:t> needed</a:t>
            </a:r>
          </a:p>
          <a:p>
            <a:pPr algn="l"/>
            <a:r>
              <a:rPr sz="1400" dirty="0">
                <a:solidFill>
                  <a:srgbClr val="E7E7E7"/>
                </a:solidFill>
                <a:latin typeface="Source Code Pro"/>
              </a:rPr>
              <a:t>  </a:t>
            </a:r>
            <a:r>
              <a:rPr sz="1400" b="1" dirty="0">
                <a:solidFill>
                  <a:srgbClr val="E7E7E7"/>
                </a:solidFill>
                <a:latin typeface="Source Code Pro"/>
              </a:rPr>
              <a:t>Fast</a:t>
            </a:r>
            <a:r>
              <a:rPr sz="1400" dirty="0">
                <a:solidFill>
                  <a:srgbClr val="E7E7E7"/>
                </a:solidFill>
                <a:latin typeface="Source Code Pro"/>
              </a:rPr>
              <a:t>, </a:t>
            </a:r>
            <a:r>
              <a:rPr sz="1400" b="1" dirty="0">
                <a:solidFill>
                  <a:srgbClr val="E7E7E7"/>
                </a:solidFill>
                <a:latin typeface="Source Code Pro"/>
              </a:rPr>
              <a:t>scalable</a:t>
            </a:r>
            <a:r>
              <a:rPr sz="1400" dirty="0">
                <a:solidFill>
                  <a:srgbClr val="E7E7E7"/>
                </a:solidFill>
                <a:latin typeface="Source Code Pro"/>
              </a:rPr>
              <a:t>, SOTA</a:t>
            </a:r>
          </a:p>
          <a:p>
            <a:pPr algn="l"/>
            <a:r>
              <a:rPr sz="1400" dirty="0">
                <a:solidFill>
                  <a:srgbClr val="E7E7E7"/>
                </a:solidFill>
                <a:latin typeface="Source Code Pro"/>
              </a:rPr>
              <a:t>  Examples: BERT, GPT, T5</a:t>
            </a:r>
          </a:p>
          <a:p>
            <a:pPr algn="l"/>
            <a:endParaRPr sz="1400" dirty="0">
              <a:solidFill>
                <a:srgbClr val="E7E7E7"/>
              </a:solidFill>
              <a:latin typeface="Source Code Pro"/>
            </a:endParaRPr>
          </a:p>
          <a:p>
            <a:pPr algn="l"/>
            <a:r>
              <a:rPr sz="1400" dirty="0">
                <a:solidFill>
                  <a:srgbClr val="E7E7E7"/>
                </a:solidFill>
                <a:latin typeface="Source Code Pro"/>
              </a:rPr>
              <a:t>Future: Transformers are </a:t>
            </a:r>
            <a:r>
              <a:rPr sz="1400" b="1" dirty="0">
                <a:solidFill>
                  <a:srgbClr val="E7E7E7"/>
                </a:solidFill>
                <a:latin typeface="Source Code Pro"/>
              </a:rPr>
              <a:t>replacing</a:t>
            </a:r>
            <a:r>
              <a:rPr sz="1400" dirty="0">
                <a:solidFill>
                  <a:srgbClr val="E7E7E7"/>
                </a:solidFill>
                <a:latin typeface="Source Code Pro"/>
              </a:rPr>
              <a:t> RNNs for </a:t>
            </a:r>
            <a:r>
              <a:rPr sz="1400" b="1" dirty="0">
                <a:solidFill>
                  <a:srgbClr val="E7E7E7"/>
                </a:solidFill>
                <a:latin typeface="Source Code Pro"/>
              </a:rPr>
              <a:t>text</a:t>
            </a:r>
            <a:r>
              <a:rPr sz="1400" dirty="0">
                <a:solidFill>
                  <a:srgbClr val="E7E7E7"/>
                </a:solidFill>
                <a:latin typeface="Source Code Pro"/>
              </a:rPr>
              <a:t>.</a:t>
            </a:r>
          </a:p>
          <a:p>
            <a:pPr algn="l"/>
            <a:r>
              <a:rPr sz="1400" dirty="0">
                <a:solidFill>
                  <a:srgbClr val="E7E7E7"/>
                </a:solidFill>
                <a:latin typeface="Source Code Pro"/>
              </a:rPr>
              <a:t>But RNNs still </a:t>
            </a:r>
            <a:r>
              <a:rPr sz="1400" b="1" dirty="0">
                <a:solidFill>
                  <a:srgbClr val="E7E7E7"/>
                </a:solidFill>
                <a:latin typeface="Source Code Pro"/>
              </a:rPr>
              <a:t>good</a:t>
            </a:r>
            <a:r>
              <a:rPr sz="1400" dirty="0">
                <a:solidFill>
                  <a:srgbClr val="E7E7E7"/>
                </a:solidFill>
                <a:latin typeface="Source Code Pro"/>
              </a:rPr>
              <a:t> for: </a:t>
            </a:r>
            <a:r>
              <a:rPr sz="1400" b="1" dirty="0">
                <a:solidFill>
                  <a:srgbClr val="E7E7E7"/>
                </a:solidFill>
                <a:latin typeface="Source Code Pro"/>
              </a:rPr>
              <a:t>Time</a:t>
            </a:r>
            <a:r>
              <a:rPr sz="1400" dirty="0">
                <a:solidFill>
                  <a:srgbClr val="E7E7E7"/>
                </a:solidFill>
                <a:latin typeface="Source Code Pro"/>
              </a:rPr>
              <a:t>-</a:t>
            </a:r>
            <a:r>
              <a:rPr sz="1400" b="1" dirty="0">
                <a:solidFill>
                  <a:srgbClr val="E7E7E7"/>
                </a:solidFill>
                <a:latin typeface="Source Code Pro"/>
              </a:rPr>
              <a:t>series</a:t>
            </a:r>
            <a:r>
              <a:rPr sz="1400" dirty="0">
                <a:solidFill>
                  <a:srgbClr val="E7E7E7"/>
                </a:solidFill>
                <a:latin typeface="Source Code Pro"/>
              </a:rPr>
              <a:t>, </a:t>
            </a:r>
            <a:r>
              <a:rPr sz="1400" b="1" dirty="0">
                <a:solidFill>
                  <a:srgbClr val="E7E7E7"/>
                </a:solidFill>
                <a:latin typeface="Source Code Pro"/>
              </a:rPr>
              <a:t>control</a:t>
            </a:r>
            <a:r>
              <a:rPr sz="1400" dirty="0">
                <a:solidFill>
                  <a:srgbClr val="E7E7E7"/>
                </a:solidFill>
                <a:latin typeface="Source Code Pro"/>
              </a:rPr>
              <a:t> </a:t>
            </a:r>
            <a:r>
              <a:rPr sz="1400" b="1" dirty="0">
                <a:solidFill>
                  <a:srgbClr val="94EE6B"/>
                </a:solidFill>
                <a:latin typeface="Source Code Pro"/>
              </a:rPr>
              <a:t>systems</a:t>
            </a:r>
            <a:r>
              <a:rPr sz="1400" dirty="0">
                <a:solidFill>
                  <a:srgbClr val="E7E7E7"/>
                </a:solidFill>
                <a:latin typeface="Source Code Pro"/>
              </a:rPr>
              <a:t>, </a:t>
            </a:r>
            <a:r>
              <a:rPr sz="1400" b="1" dirty="0">
                <a:solidFill>
                  <a:srgbClr val="E7E7E7"/>
                </a:solidFill>
                <a:latin typeface="Source Code Pro"/>
              </a:rPr>
              <a:t>embedded</a:t>
            </a:r>
            <a:r>
              <a:rPr sz="1400" dirty="0">
                <a:solidFill>
                  <a:srgbClr val="E7E7E7"/>
                </a:solidFill>
                <a:latin typeface="Source Code Pro"/>
              </a:rPr>
              <a:t>.</a:t>
            </a:r>
          </a:p>
          <a:p>
            <a:pPr algn="l"/>
            <a:endParaRPr sz="1400" dirty="0">
              <a:solidFill>
                <a:srgbClr val="E7E7E7"/>
              </a:solidFill>
              <a:latin typeface="Source Code Pro"/>
            </a:endParaRPr>
          </a:p>
          <a:p>
            <a:pPr algn="l"/>
            <a:r>
              <a:rPr sz="1400" dirty="0">
                <a:solidFill>
                  <a:srgbClr val="E7E7E7"/>
                </a:solidFill>
                <a:latin typeface="Source Code Pro"/>
              </a:rPr>
              <a:t>Next </a:t>
            </a:r>
            <a:r>
              <a:rPr sz="1400" b="1" dirty="0">
                <a:solidFill>
                  <a:srgbClr val="E7E7E7"/>
                </a:solidFill>
                <a:latin typeface="Source Code Pro"/>
              </a:rPr>
              <a:t>lesson</a:t>
            </a:r>
            <a:r>
              <a:rPr sz="1400" dirty="0">
                <a:solidFill>
                  <a:srgbClr val="E7E7E7"/>
                </a:solidFill>
                <a:latin typeface="Source Code Pro"/>
              </a:rPr>
              <a:t>: </a:t>
            </a:r>
            <a:r>
              <a:rPr sz="1400" b="1" dirty="0">
                <a:solidFill>
                  <a:srgbClr val="FD4A4A"/>
                </a:solidFill>
                <a:latin typeface="Source Code Pro"/>
              </a:rPr>
              <a:t>Transformers</a:t>
            </a:r>
            <a:r>
              <a:rPr sz="1400" dirty="0">
                <a:solidFill>
                  <a:srgbClr val="E7E7E7"/>
                </a:solidFill>
                <a:latin typeface="Source Code Pro"/>
              </a:rPr>
              <a:t> and </a:t>
            </a:r>
            <a:r>
              <a:rPr sz="1400" b="1" dirty="0">
                <a:solidFill>
                  <a:srgbClr val="E7E7E7"/>
                </a:solidFill>
                <a:latin typeface="Source Code Pro"/>
              </a:rPr>
              <a:t>attention</a:t>
            </a:r>
            <a:r>
              <a:rPr sz="1400" dirty="0">
                <a:solidFill>
                  <a:srgbClr val="E7E7E7"/>
                </a:solidFill>
                <a:latin typeface="Source Code Pro"/>
              </a:rPr>
              <a:t> in </a:t>
            </a:r>
            <a:r>
              <a:rPr sz="1400" b="1" dirty="0">
                <a:solidFill>
                  <a:srgbClr val="E7E7E7"/>
                </a:solidFill>
                <a:latin typeface="Source Code Pro"/>
              </a:rPr>
              <a:t>depth</a:t>
            </a:r>
            <a:r>
              <a:rPr sz="1400" dirty="0">
                <a:solidFill>
                  <a:srgbClr val="E7E7E7"/>
                </a:solidFill>
                <a:latin typeface="Source Code Pro"/>
              </a:rPr>
              <a:t>.</a:t>
            </a:r>
          </a:p>
        </p:txBody>
      </p:sp>
    </p:spTree>
    <p:extLst>
      <p:ext uri="{BB962C8B-B14F-4D97-AF65-F5344CB8AC3E}">
        <p14:creationId xmlns:p14="http://schemas.microsoft.com/office/powerpoint/2010/main" val="3762748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4"/>
          <p:cNvSpPr txBox="1">
            <a:spLocks noGrp="1"/>
          </p:cNvSpPr>
          <p:nvPr>
            <p:ph type="title"/>
          </p:nvPr>
        </p:nvSpPr>
        <p:spPr>
          <a:xfrm>
            <a:off x="5662782" y="748501"/>
            <a:ext cx="5544039" cy="706416"/>
          </a:xfrm>
          <a:prstGeom prst="rect">
            <a:avLst/>
          </a:prstGeom>
        </p:spPr>
        <p:txBody>
          <a:bodyPr spcFirstLastPara="1" wrap="square" lIns="121900" tIns="121900" rIns="121900" bIns="121900" anchor="b" anchorCtr="0">
            <a:noAutofit/>
          </a:bodyPr>
          <a:lstStyle/>
          <a:p>
            <a:pPr lvl="0"/>
            <a:r>
              <a:rPr lang="en-US" sz="1867" dirty="0"/>
              <a:t>Thank You for Your Focus Today!</a:t>
            </a:r>
            <a:endParaRPr sz="1867" dirty="0"/>
          </a:p>
        </p:txBody>
      </p:sp>
      <p:sp>
        <p:nvSpPr>
          <p:cNvPr id="353" name="Google Shape;353;p34"/>
          <p:cNvSpPr txBox="1">
            <a:spLocks noGrp="1"/>
          </p:cNvSpPr>
          <p:nvPr>
            <p:ph type="subTitle" idx="1"/>
          </p:nvPr>
        </p:nvSpPr>
        <p:spPr>
          <a:xfrm>
            <a:off x="5459796" y="4751364"/>
            <a:ext cx="5608000" cy="1740008"/>
          </a:xfrm>
          <a:prstGeom prst="rect">
            <a:avLst/>
          </a:prstGeom>
        </p:spPr>
        <p:txBody>
          <a:bodyPr spcFirstLastPara="1" wrap="square" lIns="121900" tIns="121900" rIns="121900" bIns="121900" anchor="t" anchorCtr="0">
            <a:noAutofit/>
          </a:bodyPr>
          <a:lstStyle/>
          <a:p>
            <a:pPr marL="0" indent="0"/>
            <a:r>
              <a:rPr lang="en-US" sz="1400" dirty="0"/>
              <a:t>Waleed Khan</a:t>
            </a:r>
            <a:br>
              <a:rPr lang="en-US" sz="1400" dirty="0"/>
            </a:br>
            <a:r>
              <a:rPr lang="en-US" sz="1400" dirty="0"/>
              <a:t>(</a:t>
            </a:r>
            <a:r>
              <a:rPr lang="en-US" sz="1200" dirty="0"/>
              <a:t>Robotics Engineer | Senior Python Developer)</a:t>
            </a:r>
            <a:br>
              <a:rPr lang="en-US" sz="1400" dirty="0"/>
            </a:br>
            <a:endParaRPr lang="en-US" sz="1400" dirty="0"/>
          </a:p>
          <a:p>
            <a:pPr marL="0" indent="0"/>
            <a:r>
              <a:rPr lang="en-US" sz="1400" dirty="0"/>
              <a:t>Email: 0xcloudcoder@gmail.com</a:t>
            </a:r>
            <a:br>
              <a:rPr lang="en-US" sz="1867" dirty="0"/>
            </a:br>
            <a:r>
              <a:rPr lang="en-US" sz="1400" dirty="0"/>
              <a:t>Contact: +923126008702</a:t>
            </a:r>
            <a:endParaRPr sz="1400" dirty="0"/>
          </a:p>
        </p:txBody>
      </p:sp>
      <p:sp>
        <p:nvSpPr>
          <p:cNvPr id="354" name="Google Shape;354;p34"/>
          <p:cNvSpPr txBox="1"/>
          <p:nvPr/>
        </p:nvSpPr>
        <p:spPr>
          <a:xfrm>
            <a:off x="11106533" y="5304433"/>
            <a:ext cx="692400" cy="1055600"/>
          </a:xfrm>
          <a:prstGeom prst="rect">
            <a:avLst/>
          </a:prstGeom>
          <a:noFill/>
          <a:ln>
            <a:noFill/>
          </a:ln>
        </p:spPr>
        <p:txBody>
          <a:bodyPr spcFirstLastPara="1" wrap="square" lIns="121900" tIns="121900" rIns="121900" bIns="121900" anchor="t" anchorCtr="0">
            <a:noAutofit/>
          </a:bodyPr>
          <a:lstStyle/>
          <a:p>
            <a:r>
              <a:rPr lang="en" sz="12800" dirty="0">
                <a:solidFill>
                  <a:schemeClr val="accent1"/>
                </a:solidFill>
                <a:latin typeface="Comfortaa"/>
                <a:ea typeface="Comfortaa"/>
                <a:cs typeface="Comfortaa"/>
                <a:sym typeface="Comfortaa"/>
              </a:rPr>
              <a:t>*</a:t>
            </a:r>
            <a:endParaRPr sz="12800" dirty="0">
              <a:solidFill>
                <a:schemeClr val="accent1"/>
              </a:solidFill>
              <a:latin typeface="Comfortaa"/>
              <a:ea typeface="Comfortaa"/>
              <a:cs typeface="Comfortaa"/>
              <a:sym typeface="Comfortaa"/>
            </a:endParaRPr>
          </a:p>
        </p:txBody>
      </p:sp>
      <p:grpSp>
        <p:nvGrpSpPr>
          <p:cNvPr id="355" name="Google Shape;355;p34"/>
          <p:cNvGrpSpPr/>
          <p:nvPr/>
        </p:nvGrpSpPr>
        <p:grpSpPr>
          <a:xfrm>
            <a:off x="447523" y="928586"/>
            <a:ext cx="3909392" cy="5210084"/>
            <a:chOff x="335642" y="696438"/>
            <a:chExt cx="2932044" cy="3907563"/>
          </a:xfrm>
        </p:grpSpPr>
        <p:sp>
          <p:nvSpPr>
            <p:cNvPr id="356" name="Google Shape;356;p34"/>
            <p:cNvSpPr/>
            <p:nvPr/>
          </p:nvSpPr>
          <p:spPr>
            <a:xfrm>
              <a:off x="335642" y="70501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57" name="Google Shape;357;p34"/>
            <p:cNvSpPr/>
            <p:nvPr/>
          </p:nvSpPr>
          <p:spPr>
            <a:xfrm>
              <a:off x="821967" y="696438"/>
              <a:ext cx="354933"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58" name="Google Shape;358;p34"/>
            <p:cNvSpPr/>
            <p:nvPr/>
          </p:nvSpPr>
          <p:spPr>
            <a:xfrm>
              <a:off x="335642" y="101723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59" name="Google Shape;359;p34"/>
            <p:cNvSpPr/>
            <p:nvPr/>
          </p:nvSpPr>
          <p:spPr>
            <a:xfrm>
              <a:off x="335642" y="1343950"/>
              <a:ext cx="354933"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0" name="Google Shape;360;p34"/>
            <p:cNvSpPr/>
            <p:nvPr/>
          </p:nvSpPr>
          <p:spPr>
            <a:xfrm>
              <a:off x="335642" y="1670688"/>
              <a:ext cx="354933"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61" name="Google Shape;361;p34"/>
            <p:cNvSpPr/>
            <p:nvPr/>
          </p:nvSpPr>
          <p:spPr>
            <a:xfrm>
              <a:off x="770496" y="1670688"/>
              <a:ext cx="45446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2" name="Google Shape;362;p34"/>
            <p:cNvSpPr/>
            <p:nvPr/>
          </p:nvSpPr>
          <p:spPr>
            <a:xfrm>
              <a:off x="1304877" y="167068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3" name="Google Shape;363;p34"/>
            <p:cNvSpPr/>
            <p:nvPr/>
          </p:nvSpPr>
          <p:spPr>
            <a:xfrm>
              <a:off x="335642" y="1981263"/>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64" name="Google Shape;364;p34"/>
            <p:cNvSpPr/>
            <p:nvPr/>
          </p:nvSpPr>
          <p:spPr>
            <a:xfrm>
              <a:off x="335642" y="2324113"/>
              <a:ext cx="32748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5" name="Google Shape;365;p34"/>
            <p:cNvSpPr/>
            <p:nvPr/>
          </p:nvSpPr>
          <p:spPr>
            <a:xfrm>
              <a:off x="335642" y="26330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6" name="Google Shape;366;p34"/>
            <p:cNvSpPr/>
            <p:nvPr/>
          </p:nvSpPr>
          <p:spPr>
            <a:xfrm>
              <a:off x="335642" y="2941963"/>
              <a:ext cx="327489"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7" name="Google Shape;367;p34"/>
            <p:cNvSpPr/>
            <p:nvPr/>
          </p:nvSpPr>
          <p:spPr>
            <a:xfrm>
              <a:off x="349364" y="37229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8" name="Google Shape;368;p34"/>
            <p:cNvSpPr/>
            <p:nvPr/>
          </p:nvSpPr>
          <p:spPr>
            <a:xfrm>
              <a:off x="770496" y="1981263"/>
              <a:ext cx="327489"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69" name="Google Shape;369;p34"/>
            <p:cNvSpPr/>
            <p:nvPr/>
          </p:nvSpPr>
          <p:spPr>
            <a:xfrm>
              <a:off x="731557" y="23241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0" name="Google Shape;370;p34"/>
            <p:cNvSpPr/>
            <p:nvPr/>
          </p:nvSpPr>
          <p:spPr>
            <a:xfrm>
              <a:off x="770496" y="2633038"/>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1" name="Google Shape;371;p34"/>
            <p:cNvSpPr/>
            <p:nvPr/>
          </p:nvSpPr>
          <p:spPr>
            <a:xfrm>
              <a:off x="770496" y="2958925"/>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2" name="Google Shape;372;p34"/>
            <p:cNvSpPr/>
            <p:nvPr/>
          </p:nvSpPr>
          <p:spPr>
            <a:xfrm>
              <a:off x="770496" y="3284813"/>
              <a:ext cx="32748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73" name="Google Shape;373;p34"/>
            <p:cNvSpPr/>
            <p:nvPr/>
          </p:nvSpPr>
          <p:spPr>
            <a:xfrm>
              <a:off x="1174186" y="1981263"/>
              <a:ext cx="63339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4" name="Google Shape;374;p34"/>
            <p:cNvSpPr/>
            <p:nvPr/>
          </p:nvSpPr>
          <p:spPr>
            <a:xfrm>
              <a:off x="1174186" y="2324113"/>
              <a:ext cx="88477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5" name="Google Shape;375;p34"/>
            <p:cNvSpPr/>
            <p:nvPr/>
          </p:nvSpPr>
          <p:spPr>
            <a:xfrm>
              <a:off x="1205349" y="2633038"/>
              <a:ext cx="1030037"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6" name="Google Shape;376;p34"/>
            <p:cNvSpPr/>
            <p:nvPr/>
          </p:nvSpPr>
          <p:spPr>
            <a:xfrm>
              <a:off x="1205349" y="2977538"/>
              <a:ext cx="1030037"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77" name="Google Shape;377;p34"/>
            <p:cNvSpPr/>
            <p:nvPr/>
          </p:nvSpPr>
          <p:spPr>
            <a:xfrm>
              <a:off x="1205349" y="3284813"/>
              <a:ext cx="1030037"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8" name="Google Shape;378;p34"/>
            <p:cNvSpPr/>
            <p:nvPr/>
          </p:nvSpPr>
          <p:spPr>
            <a:xfrm>
              <a:off x="1883777" y="1981263"/>
              <a:ext cx="57704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9" name="Google Shape;379;p34"/>
            <p:cNvSpPr/>
            <p:nvPr/>
          </p:nvSpPr>
          <p:spPr>
            <a:xfrm>
              <a:off x="2174096" y="2307150"/>
              <a:ext cx="57704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0" name="Google Shape;380;p34"/>
            <p:cNvSpPr/>
            <p:nvPr/>
          </p:nvSpPr>
          <p:spPr>
            <a:xfrm>
              <a:off x="2342750" y="263306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1" name="Google Shape;381;p34"/>
            <p:cNvSpPr/>
            <p:nvPr/>
          </p:nvSpPr>
          <p:spPr>
            <a:xfrm>
              <a:off x="2342750" y="3284863"/>
              <a:ext cx="354933"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2" name="Google Shape;382;p34"/>
            <p:cNvSpPr/>
            <p:nvPr/>
          </p:nvSpPr>
          <p:spPr>
            <a:xfrm>
              <a:off x="349364" y="3962013"/>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83" name="Google Shape;383;p34"/>
            <p:cNvSpPr/>
            <p:nvPr/>
          </p:nvSpPr>
          <p:spPr>
            <a:xfrm>
              <a:off x="731557" y="42455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84" name="Google Shape;384;p34"/>
            <p:cNvSpPr/>
            <p:nvPr/>
          </p:nvSpPr>
          <p:spPr>
            <a:xfrm>
              <a:off x="1224956" y="4245513"/>
              <a:ext cx="52434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85" name="Google Shape;385;p34"/>
            <p:cNvSpPr/>
            <p:nvPr/>
          </p:nvSpPr>
          <p:spPr>
            <a:xfrm>
              <a:off x="1883777" y="4245513"/>
              <a:ext cx="661931"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6" name="Google Shape;386;p34"/>
            <p:cNvSpPr/>
            <p:nvPr/>
          </p:nvSpPr>
          <p:spPr>
            <a:xfrm>
              <a:off x="2634075" y="4245513"/>
              <a:ext cx="241501"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87" name="Google Shape;387;p34"/>
            <p:cNvSpPr/>
            <p:nvPr/>
          </p:nvSpPr>
          <p:spPr>
            <a:xfrm>
              <a:off x="731557" y="4454038"/>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8" name="Google Shape;388;p34"/>
            <p:cNvSpPr/>
            <p:nvPr/>
          </p:nvSpPr>
          <p:spPr>
            <a:xfrm>
              <a:off x="1224956" y="4454038"/>
              <a:ext cx="83390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9" name="Google Shape;389;p34"/>
            <p:cNvSpPr/>
            <p:nvPr/>
          </p:nvSpPr>
          <p:spPr>
            <a:xfrm>
              <a:off x="2169156" y="4454038"/>
              <a:ext cx="354933"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90" name="Google Shape;390;p34"/>
            <p:cNvSpPr/>
            <p:nvPr/>
          </p:nvSpPr>
          <p:spPr>
            <a:xfrm>
              <a:off x="1250486" y="7083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1" name="Google Shape;391;p34"/>
            <p:cNvSpPr/>
            <p:nvPr/>
          </p:nvSpPr>
          <p:spPr>
            <a:xfrm>
              <a:off x="821986" y="10172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2" name="Google Shape;392;p34"/>
            <p:cNvSpPr/>
            <p:nvPr/>
          </p:nvSpPr>
          <p:spPr>
            <a:xfrm>
              <a:off x="1555286" y="10131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3" name="Google Shape;393;p34"/>
            <p:cNvSpPr/>
            <p:nvPr/>
          </p:nvSpPr>
          <p:spPr>
            <a:xfrm>
              <a:off x="821979" y="134398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4" name="Google Shape;394;p34"/>
            <p:cNvSpPr/>
            <p:nvPr/>
          </p:nvSpPr>
          <p:spPr>
            <a:xfrm>
              <a:off x="1739729" y="1668625"/>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5" name="Google Shape;395;p34"/>
            <p:cNvSpPr/>
            <p:nvPr/>
          </p:nvSpPr>
          <p:spPr>
            <a:xfrm>
              <a:off x="2342754" y="297753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6" name="Google Shape;396;p34"/>
            <p:cNvSpPr/>
            <p:nvPr/>
          </p:nvSpPr>
          <p:spPr>
            <a:xfrm>
              <a:off x="2537025" y="1981263"/>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7" name="Google Shape;397;p34"/>
            <p:cNvSpPr/>
            <p:nvPr/>
          </p:nvSpPr>
          <p:spPr>
            <a:xfrm>
              <a:off x="2805050" y="2633038"/>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8" name="Google Shape;398;p34"/>
            <p:cNvSpPr/>
            <p:nvPr/>
          </p:nvSpPr>
          <p:spPr>
            <a:xfrm>
              <a:off x="2634386" y="44561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9" name="Google Shape;399;p34"/>
            <p:cNvSpPr/>
            <p:nvPr/>
          </p:nvSpPr>
          <p:spPr>
            <a:xfrm>
              <a:off x="770511" y="39365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00" name="Google Shape;400;p34"/>
            <p:cNvSpPr/>
            <p:nvPr/>
          </p:nvSpPr>
          <p:spPr>
            <a:xfrm>
              <a:off x="770511" y="37064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401" name="Google Shape;401;p34"/>
          <p:cNvSpPr txBox="1"/>
          <p:nvPr/>
        </p:nvSpPr>
        <p:spPr>
          <a:xfrm>
            <a:off x="8854201" y="5162812"/>
            <a:ext cx="692400" cy="1161600"/>
          </a:xfrm>
          <a:prstGeom prst="rect">
            <a:avLst/>
          </a:prstGeom>
          <a:noFill/>
          <a:ln>
            <a:noFill/>
          </a:ln>
        </p:spPr>
        <p:txBody>
          <a:bodyPr spcFirstLastPara="1" wrap="square" lIns="121900" tIns="121900" rIns="121900" bIns="121900" anchor="t" anchorCtr="0">
            <a:noAutofit/>
          </a:bodyPr>
          <a:lstStyle/>
          <a:p>
            <a:r>
              <a:rPr lang="en" sz="6667" dirty="0">
                <a:solidFill>
                  <a:schemeClr val="accent3"/>
                </a:solidFill>
                <a:latin typeface="Comfortaa"/>
                <a:ea typeface="Comfortaa"/>
                <a:cs typeface="Comfortaa"/>
                <a:sym typeface="Comfortaa"/>
              </a:rPr>
              <a:t>}</a:t>
            </a:r>
            <a:endParaRPr sz="6667" dirty="0">
              <a:solidFill>
                <a:schemeClr val="accent3"/>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2AE2DD26-B17A-503C-A9CA-D2B6DDAE5AF0}"/>
              </a:ext>
            </a:extLst>
          </p:cNvPr>
          <p:cNvSpPr txBox="1"/>
          <p:nvPr/>
        </p:nvSpPr>
        <p:spPr>
          <a:xfrm>
            <a:off x="5387008" y="2407058"/>
            <a:ext cx="6411925" cy="2000548"/>
          </a:xfrm>
          <a:prstGeom prst="rect">
            <a:avLst/>
          </a:prstGeom>
          <a:noFill/>
        </p:spPr>
        <p:txBody>
          <a:bodyPr wrap="square" rtlCol="0">
            <a:spAutoFit/>
          </a:bodyPr>
          <a:lstStyle/>
          <a:p>
            <a:r>
              <a:rPr lang="en-US" sz="1600" dirty="0">
                <a:latin typeface="Source Code Pro" panose="020B0509030403020204" pitchFamily="49" charset="0"/>
                <a:ea typeface="Source Code Pro" panose="020B0509030403020204" pitchFamily="49" charset="0"/>
              </a:rPr>
              <a:t>What was the most </a:t>
            </a:r>
            <a:br>
              <a:rPr lang="en-US" sz="1600" dirty="0">
                <a:latin typeface="Source Code Pro" panose="020B0509030403020204" pitchFamily="49" charset="0"/>
                <a:ea typeface="Source Code Pro" panose="020B0509030403020204" pitchFamily="49" charset="0"/>
              </a:rPr>
            </a:br>
            <a:r>
              <a:rPr lang="en-US" sz="6000" dirty="0">
                <a:solidFill>
                  <a:schemeClr val="accent5">
                    <a:lumMod val="50000"/>
                  </a:schemeClr>
                </a:solidFill>
                <a:latin typeface="Source Code Pro" panose="020B0509030403020204" pitchFamily="49" charset="0"/>
                <a:ea typeface="Source Code Pro" panose="020B0509030403020204" pitchFamily="49" charset="0"/>
              </a:rPr>
              <a:t>confusing</a:t>
            </a:r>
            <a:r>
              <a:rPr lang="en-US" sz="1600" dirty="0">
                <a:latin typeface="Source Code Pro" panose="020B0509030403020204" pitchFamily="49" charset="0"/>
                <a:ea typeface="Source Code Pro" panose="020B0509030403020204" pitchFamily="49" charset="0"/>
              </a:rPr>
              <a:t> </a:t>
            </a:r>
            <a:br>
              <a:rPr lang="en-US" sz="1600" dirty="0">
                <a:latin typeface="Source Code Pro" panose="020B0509030403020204" pitchFamily="49" charset="0"/>
                <a:ea typeface="Source Code Pro" panose="020B0509030403020204" pitchFamily="49" charset="0"/>
              </a:rPr>
            </a:br>
            <a:r>
              <a:rPr lang="en-US" sz="1600" dirty="0">
                <a:latin typeface="Source Code Pro" panose="020B0509030403020204" pitchFamily="49" charset="0"/>
                <a:ea typeface="Source Code Pro" panose="020B0509030403020204" pitchFamily="49" charset="0"/>
              </a:rPr>
              <a:t>part of today's lab?</a:t>
            </a:r>
            <a:br>
              <a:rPr lang="en-US" sz="1600" dirty="0">
                <a:latin typeface="Source Code Pro" panose="020B0509030403020204" pitchFamily="49" charset="0"/>
                <a:ea typeface="Source Code Pro" panose="020B0509030403020204" pitchFamily="49" charset="0"/>
              </a:rPr>
            </a:br>
            <a:br>
              <a:rPr lang="en-US" sz="1600" dirty="0">
                <a:latin typeface="Source Code Pro" panose="020B0509030403020204" pitchFamily="49" charset="0"/>
                <a:ea typeface="Source Code Pro" panose="020B0509030403020204" pitchFamily="49" charset="0"/>
              </a:rPr>
            </a:br>
            <a:endParaRPr lang="en-US" sz="1600" dirty="0">
              <a:latin typeface="Source Code Pro" panose="020B0509030403020204" pitchFamily="49" charset="0"/>
              <a:ea typeface="Source Code Pro" panose="020B0509030403020204" pitchFamily="49"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y 6">
  <a:themeElements>
    <a:clrScheme name="Simple Light">
      <a:dk1>
        <a:srgbClr val="E7E7E7"/>
      </a:dk1>
      <a:lt1>
        <a:srgbClr val="10111A"/>
      </a:lt1>
      <a:dk2>
        <a:srgbClr val="FD4A4A"/>
      </a:dk2>
      <a:lt2>
        <a:srgbClr val="EC7955"/>
      </a:lt2>
      <a:accent1>
        <a:srgbClr val="E81A81"/>
      </a:accent1>
      <a:accent2>
        <a:srgbClr val="94EE6B"/>
      </a:accent2>
      <a:accent3>
        <a:srgbClr val="4CAE97"/>
      </a:accent3>
      <a:accent4>
        <a:srgbClr val="BD64B5"/>
      </a:accent4>
      <a:accent5>
        <a:srgbClr val="FFFF99"/>
      </a:accent5>
      <a:accent6>
        <a:srgbClr val="2C293A"/>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ay 6" id="{035ED6D3-E824-4B6B-AAF7-CA8C606A2217}" vid="{7F810BC9-F9DE-4B77-994F-C9059B10EE5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3059</Words>
  <Application>Microsoft Office PowerPoint</Application>
  <PresentationFormat>Widescreen</PresentationFormat>
  <Paragraphs>429</Paragraphs>
  <Slides>28</Slides>
  <Notes>28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Arial</vt:lpstr>
      <vt:lpstr>Bebas Neue</vt:lpstr>
      <vt:lpstr>Calibri</vt:lpstr>
      <vt:lpstr>Comfortaa</vt:lpstr>
      <vt:lpstr>Fira Code</vt:lpstr>
      <vt:lpstr>Nunito Light</vt:lpstr>
      <vt:lpstr>PT Sans</vt:lpstr>
      <vt:lpstr>Source Code Pro</vt:lpstr>
      <vt:lpstr>Source Code Pro Medium</vt:lpstr>
      <vt:lpstr>Office 主题</vt:lpstr>
      <vt:lpstr>day 6</vt:lpstr>
      <vt:lpstr>Artificial Intelligence (Machine Learning &amp; Deep Learning)</vt:lpstr>
      <vt:lpstr>Contents of Week 8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Focus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Master Mind</dc:creator>
  <cp:lastModifiedBy>Awais Qarni</cp:lastModifiedBy>
  <cp:revision>28</cp:revision>
  <dcterms:created xsi:type="dcterms:W3CDTF">2026-03-05T18:59:57Z</dcterms:created>
  <dcterms:modified xsi:type="dcterms:W3CDTF">2026-05-05T13:44:31Z</dcterms:modified>
</cp:coreProperties>
</file>