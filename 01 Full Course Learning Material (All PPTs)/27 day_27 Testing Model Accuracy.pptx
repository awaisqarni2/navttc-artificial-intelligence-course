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3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276" r:id="rId31"/>
    <p:sldId id="25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8228210-EAD9-1A8D-C840-FF57AD0A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6C3E3B3-F697-DFDB-41CB-49F93DABB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DBA2213-4EFA-DF86-E859-41D6E20CF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9915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47D2D6-767F-54E9-4E0C-E8EEB9A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388EE08-AD46-DA0E-B9BD-23A262A1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4473CD0-3D3F-0384-B40E-75B80A74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4131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Recap </a:t>
            </a:r>
            <a:r>
              <a:rPr lang="en-US" sz="2000" dirty="0"/>
              <a:t>Testing - Evaluation Metrics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27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137735056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Multivariate Linear Regression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Equation &amp; The Weights.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400" b="1" dirty="0"/>
                        <a:t>Feature Scaling (Fixing the Impressions bug).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Training the Model with scikit-learn.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Evaluation Metrics (MAE and R and R2 Score).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Model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is only half the job.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Testing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other half.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Split your data: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80%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model learns from this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20%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model is evaluated on this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Never let model see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 during training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danger without testing: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memorizes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training data → fails on real world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Test data = the real exam. Training = practice.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Why Accuracy Alone 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95% of emails are NOT spam.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model that always says "not spam" gets 95%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But catches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zero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actual spam.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Accuracy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lied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us.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need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smarter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metrics.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High accuracy on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 means nothing.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Confusion Matrix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is a table used to evaluate how well a machine learning model is performing. It shows exactly where the model is getting things right and, more importantly, where it is getting "confused." 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It compares the Actual values (the truth) against the Predicted values (what the model guessed).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Four possible outcomes for any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positive, actually positive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2">
                    <a:lumMod val="50000"/>
                  </a:schemeClr>
                </a:solidFill>
                <a:latin typeface="Source Code Pro"/>
              </a:rPr>
              <a:t>TN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negative, actually negative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positive, actually negative (false alarm)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FN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negative, actually positive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case)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dangerous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FN in medical diagnosis.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"Healthy" prediction for a cancer patient = deadly mistake.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Precision and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1463040"/>
            <a:ext cx="1176351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The Confusion Matrix breaks down exactly which category is failing, allowing you to calculate better metrics like: </a:t>
            </a:r>
            <a:endParaRPr lang="en-US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Precision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out of everything I called positive, how many truly were?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false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alarms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costly (spam filter)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out of all real positives, how many did I catch?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missing cases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costly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(cancer detection)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tradeoff: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High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Precision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fewer false alarms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High Recall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catches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everything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more false alarms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F17E25-DE0E-903E-695E-A71D8FF32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5EB64-7CF8-ACC7-3C69-EF42650A7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68" y="3753852"/>
            <a:ext cx="5902132" cy="310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548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F1-Score and AUC-ROC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115228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r>
              <a:rPr sz="1400" b="1" dirty="0">
                <a:solidFill>
                  <a:srgbClr val="4CAE97"/>
                </a:solidFill>
                <a:latin typeface="Source Code Pro"/>
              </a:rPr>
              <a:t>F1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balances Precision and Recall into one number.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Use F1 when both 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mistakes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matter equally or data is imbalanced.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&gt;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F1 = 2 × (Precision × Recall) / (Precision + Recall)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&gt; &gt; High F1-Score means your model is performing well on both fronts (catching the right cases without too many false alarms). 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Example: In Cancer detection, if 99% of people are healthy, a model that says "Healthy" to everyone is 99% accurate but useless. The F1-Score would be very low here, exposing the model's failure to catch the 1% sick people. 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AUC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ROC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model quality across all thresholds.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1.0 →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perfect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0.5 → random guessing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AUC when dataset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B13A7FC-2320-0E47-9456-FD5F2D1C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C652F7F4-8E20-C14F-BF8D-15DD5FA1B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4A5B7F5D-3D0F-4BC8-E6C4-0126EF7C7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635D92-433A-AA78-D7C8-31B45C365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23180"/>
            <a:ext cx="6074263" cy="301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149192"/>
            <a:ext cx="11105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200" b="0" dirty="0">
                <a:solidFill>
                  <a:srgbClr val="FFFFFF"/>
                </a:solidFill>
                <a:latin typeface="Source Code Pro"/>
              </a:rPr>
              <a:t>Regression Metrics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Source Code Pro"/>
                <a:ea typeface="+mn-ea"/>
                <a:cs typeface="+mn-cs"/>
              </a:rPr>
              <a:t>Regression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/>
                <a:ea typeface="+mn-ea"/>
                <a:cs typeface="+mn-cs"/>
              </a:rPr>
              <a:t> predicts a number not a category.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BAF75-5BE8-CBD7-3343-1526072F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972"/>
          <a:stretch>
            <a:fillRect/>
          </a:stretch>
        </p:blipFill>
        <p:spPr>
          <a:xfrm>
            <a:off x="100852" y="1335547"/>
            <a:ext cx="6280860" cy="36575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B2B3EC-6BF4-6621-4CAE-7F48D43F7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295" y="599182"/>
            <a:ext cx="5983705" cy="625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AI vs ML vs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nested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levels. Not the same thing.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AI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makes machines seem intelligent (biggest circle)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ML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machines learn patterns from data (inside AI)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neural networks with many layers (inside ML)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Simple analogy: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AI =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goal</a:t>
            </a:r>
            <a:endParaRPr lang="en-US" sz="1400" b="1" dirty="0">
              <a:solidFill>
                <a:srgbClr val="00B0F0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00B0F0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ML = 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one method to reach it</a:t>
            </a:r>
            <a:endParaRPr lang="en-US" sz="1400" b="1" dirty="0">
              <a:solidFill>
                <a:schemeClr val="tx2"/>
              </a:solidFill>
              <a:latin typeface="Source Code Pro"/>
            </a:endParaRPr>
          </a:p>
          <a:p>
            <a:pPr algn="l"/>
            <a:endParaRPr sz="1400" b="1" dirty="0">
              <a:solidFill>
                <a:schemeClr val="tx2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Deep Learning =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the most powerful method today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Machine Learning - Three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Supervised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learns from labeled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spam detection, sentiment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analysis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Unsupervised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finds hidden patterns, no labels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topic modeling, 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clustering</a:t>
            </a:r>
            <a:endParaRPr lang="en-US" sz="1400" b="1" dirty="0">
              <a:solidFill>
                <a:schemeClr val="tx2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Reinforcement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learns by trial and error via rewards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games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ChatGPT training (RLHF)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uses all three depending on whether you have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labels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Deep Learning -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layers in every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neural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network: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Input layer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receives raw data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2">
                    <a:lumMod val="75000"/>
                  </a:schemeClr>
                </a:solidFill>
                <a:latin typeface="Source Code Pro"/>
              </a:rPr>
              <a:t>Hidden layers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learn patterns automatically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Output layer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produces the prediction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loop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(repeats millions of times):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Make prediction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Measure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(loss)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Update weights (Gradient Descent)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ML vs Deep Learning - 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Machine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 dataset, limited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compute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Need explainable results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Structured/tabular data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Deep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Large dataset, GPU available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Unstructured data: text,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audio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rule: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Small task → TF-IDF + Naive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Bayes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Large task →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BERT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GPT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BERT (Bidirectional Encoder Representations from Transformers) 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is a Google AI model designed to understand the deep context of language by reading text in both directions, making it ideal for search and text classification.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GPT (Generative Pre-trained Transformer)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is an OpenAI model specialized in generating fluent, human-like text by predicting the next word in a sequence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Dataset Imbalance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Imbalance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one class has far more samples than another.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99% normal transactions, 1%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fraud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goes wrong: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always predicts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majority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Gets high accuracy but catches zero minority cases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danger: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95 healthy, 5 cancer patients.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says everyone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healthy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95% but all 5 cancer patients were missed.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Detecting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Check your class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distribution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first.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collections import Counter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Counter(y) → {0: </a:t>
            </a:r>
            <a:r>
              <a:rPr sz="1400" b="1" dirty="0">
                <a:solidFill>
                  <a:srgbClr val="7030A0"/>
                </a:solidFill>
                <a:latin typeface="Source Code Pro"/>
              </a:rPr>
              <a:t>9500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1: </a:t>
            </a:r>
            <a:r>
              <a:rPr sz="1400" b="1" dirty="0">
                <a:solidFill>
                  <a:srgbClr val="7030A0"/>
                </a:solidFill>
                <a:latin typeface="Source Code Pro"/>
              </a:rPr>
              <a:t>500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}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Ratio = 19:1 → serious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Severity guide: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1:3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no action needed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1:10 → mild, consider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fixing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1:100 → extreme, must fix aggressively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Sign of imbalance: high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near-zero Recall on minority class.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Remedy 1 - Resampling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Over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add more minority samples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Under</a:t>
            </a:r>
            <a:r>
              <a:rPr lang="en-US" sz="1400" b="1" dirty="0">
                <a:solidFill>
                  <a:srgbClr val="FD4A4A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remove majority samples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method: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SMOTE</a:t>
            </a:r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Creates NEW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synthetic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minority samples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Not just copies → avoids overfitting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imblearn.over_sampling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SMOTE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SMOTE().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fit_resample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SMOTE is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gold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standard for fixing imbalanced datasets.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Remedy 2 - Text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Augmentation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creates new text by modifying existing samples.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Techniques: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Synonym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Replacement → "I love NLP" → "I adore NLP"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Back </a:t>
            </a:r>
            <a:r>
              <a:rPr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urce Code Pro"/>
              </a:rPr>
              <a:t>Translation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English → Urdu → English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Random </a:t>
            </a:r>
            <a:r>
              <a:rPr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ource Code Pro"/>
              </a:rPr>
              <a:t>Deletion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remove low-importance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Random 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Insertion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add synonyms into sentence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pip install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nlpaug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nlpaug.augmenter.word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naw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aug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naw.SynonymAug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aug.augment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("I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NLP")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Remedy 3 - Algorithm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1: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Class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Weights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Penalize minority mistakes more heavily during training.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SVC(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class_weight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='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2: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Threshold</a:t>
            </a:r>
            <a:r>
              <a:rPr sz="1400" dirty="0">
                <a:solidFill>
                  <a:schemeClr val="accent1"/>
                </a:solidFill>
                <a:latin typeface="Source Code Pro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Tuning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Lower decision threshold → catches more minority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Default = 0.5. Try 0.3 for higher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3: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Better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Algorithms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XGBoost and Random Forest handle imbalance naturally.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practice: combine all three levels together.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 fix + algorithm fix +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correct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metric = best results.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TfidfVectorizer - Text to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Converts raw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into a numerical matrix.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TF-IDF = Term Frequency × Inverse Document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Frequency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Common words like "the" →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Rare meaningful words like "fraud" → high score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sklearn.feature_extraction.text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TfidfVectorizer</a:t>
            </a:r>
            <a:br>
              <a:rPr lang="en-US" sz="1400" b="1" dirty="0">
                <a:solidFill>
                  <a:srgbClr val="BD64B5"/>
                </a:solidFill>
                <a:latin typeface="Source Code Pro"/>
              </a:rPr>
            </a:br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tfidf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TfidfVectorizer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=3000)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tfidf.fit_transform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(texts)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a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numbers ready for any ML model.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SelectKBest and chi2 - 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sz="1400" b="1" dirty="0">
                <a:solidFill>
                  <a:srgbClr val="FD4A4A"/>
                </a:solidFill>
                <a:latin typeface="Source Code Pro"/>
              </a:rPr>
            </a:br>
            <a:r>
              <a:rPr sz="1400" b="1" dirty="0" err="1">
                <a:solidFill>
                  <a:srgbClr val="FD4A4A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keeps only the top K most useful features.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chi2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scoring method it uses.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Chi-Square measures how strongly each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is linked to a specific class (spam vs ham).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sklearn.feature_selection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chi2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selector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(chi2, k=1000)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X_selected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selector.fit_transform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removes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faster and more accurate model.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train_test_split - Splitting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Splits dataset into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testing portions.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Never evaluate a model on data it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 is cheating → model just memorizes answers.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r>
              <a:rPr sz="1400" dirty="0">
                <a:solidFill>
                  <a:srgbClr val="E7E7E7"/>
                </a:solidFill>
                <a:latin typeface="Source Code Pro"/>
              </a:rPr>
              <a:t>80% goes to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20% goes to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testing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r>
              <a:rPr lang="en-US"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sklearn.model_selection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lang="en-US" sz="1400" b="1" dirty="0" err="1">
                <a:solidFill>
                  <a:srgbClr val="4CAE97"/>
                </a:solidFill>
                <a:latin typeface="Source Code Pro"/>
              </a:rPr>
              <a:t>train_test_split</a:t>
            </a:r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train_test_split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r>
              <a:rPr lang="en-US" sz="1400" dirty="0">
                <a:solidFill>
                  <a:srgbClr val="E7E7E7"/>
                </a:solidFill>
                <a:latin typeface="Source Code Pro"/>
              </a:rPr>
              <a:t>    X, y,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test_size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=0.2, 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stratify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=y)</a:t>
            </a:r>
          </a:p>
          <a:p>
            <a:pPr algn="l"/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MultinomialNB - Naive Bayes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94EE6B"/>
                </a:solidFill>
                <a:latin typeface="Source Code Pro"/>
              </a:rPr>
              <a:t>MultinomialNB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designed specifically for text data.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Bayes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theorem to calculate probability of spam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given the words inside the email.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"Naive" = assumes all words are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independent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each other.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sklearn.naive_bayes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MultinomialNB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MultinomialNB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(alpha=0.1)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classification on small datasets. Very fast.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LogisticRegression - Probability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Despite the name it is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algorithm.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Learns a weighted combination of features.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Passes result through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function → probability 0 to 1.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sklearn.linear_model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4CAE97"/>
                </a:solidFill>
                <a:latin typeface="Source Code Pro"/>
              </a:rPr>
              <a:t>LogisticRegression</a:t>
            </a:r>
            <a:endParaRPr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LogisticRegression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max_iter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=1000)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model.predict_proba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 when you need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confidence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scores per prediction.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output: "87% chance this email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LinearSVC - Support Vector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of the strongest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classifiers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text data.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Finds the best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boundary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separates spam from ham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the maximum possible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margin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classes.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LinearSVC</a:t>
            </a:r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LinearSVC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max_iter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=2000)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 high-dimensional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Note: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LinearSVC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does NOT support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predict_proba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accuracy_score and classification_report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C7955"/>
                </a:solidFill>
                <a:latin typeface="Source Code Pro"/>
              </a:rPr>
              <a:t>accuracy_score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correct predictions / total predictions.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accuracy_score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0.97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Weakness: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misleading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imbalanced data.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94EE6B"/>
                </a:solidFill>
                <a:latin typeface="Source Code Pro"/>
              </a:rPr>
              <a:t>classification_report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gives full table per class: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Precision,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F1 for each label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classification_report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target_names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=['Ham', '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']))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use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classification_report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accuracy alone.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precision_score and recall_score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Precision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of everything predicted spam, how many truly were?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precision_score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false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alarms are costly (spam filter).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of all real spam, how many did model catch?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recall_score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0.92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cases is costly (cancer detection).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tradeoff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you cannot maximize both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f1_score - Balancing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F1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balance between Precision and Recall.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2 × (Precision × Recall) / (Precision +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f1_score(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0.93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F1 = 1.0 →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perfect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F1 = 0.0 → completely broken model</a:t>
            </a:r>
          </a:p>
          <a:p>
            <a:pPr algn="l"/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r>
              <a:rPr sz="1400" dirty="0">
                <a:solidFill>
                  <a:srgbClr val="E7E7E7"/>
                </a:solidFill>
                <a:latin typeface="Source Code Pro"/>
              </a:rPr>
              <a:t>Use F1 when: BOTH false alarms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cases matter.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default metric for any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text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confusion_matrix - The Breakdown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Confusion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4 types of predictions.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cm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confusion_matrix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(y_test, y_pred)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[[TN, FP], [FN,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TP → spam caught correctly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TN → ham passed correctly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FP → ham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wrongly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flagged as spam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FN → spam that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slipped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(most dangerous)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metric (Precision, Recall, F1) is calculated from this table.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94CEECC-7D96-2CD0-D9EA-8825054C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roc_auc_score and roc_curve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AUCROC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overall model quality across all thresholds.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roc_auc_score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(y_test,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y_prob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0.98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1.0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perfect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0.5 → random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guessing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(useless)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roc_curve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returns points to draw the ROC graph.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fpr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tpr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thresholds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roc_curve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(y_test,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y_prob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AUC when: dataset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you need to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compare multiple models fairly on one chart.</a:t>
            </a:r>
          </a:p>
        </p:txBody>
      </p:sp>
    </p:spTree>
    <p:extLst>
      <p:ext uri="{BB962C8B-B14F-4D97-AF65-F5344CB8AC3E}">
        <p14:creationId xmlns:p14="http://schemas.microsoft.com/office/powerpoint/2010/main" val="3017254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7B45628-350C-26E3-F8E8-AAE1ABF9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SMOTE - Fixing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SMOTE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Synthetic Minority Oversampling Technique.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Creates brand NEW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synthetic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minority samples.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just copies → avoids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How it works: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Finds nearest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neighbors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minority class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Generates new points between them in feature space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imblearn.over_sampling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SMOTE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smote = SMOTE(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random_state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=42)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X_bal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y_bal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smote.fit_resample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Before: spam=747. After: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=4825. Perfectly balanced.</a:t>
            </a:r>
          </a:p>
        </p:txBody>
      </p:sp>
    </p:spTree>
    <p:extLst>
      <p:ext uri="{BB962C8B-B14F-4D97-AF65-F5344CB8AC3E}">
        <p14:creationId xmlns:p14="http://schemas.microsoft.com/office/powerpoint/2010/main" val="4283646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2424</Words>
  <Application>Microsoft Office PowerPoint</Application>
  <PresentationFormat>Widescreen</PresentationFormat>
  <Paragraphs>364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Bebas Neue</vt:lpstr>
      <vt:lpstr>Calibri</vt:lpstr>
      <vt:lpstr>Comfortaa</vt:lpstr>
      <vt:lpstr>Fira Code</vt:lpstr>
      <vt:lpstr>Google Sans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73</cp:revision>
  <dcterms:created xsi:type="dcterms:W3CDTF">2026-03-05T18:59:57Z</dcterms:created>
  <dcterms:modified xsi:type="dcterms:W3CDTF">2026-04-01T18:00:32Z</dcterms:modified>
</cp:coreProperties>
</file>