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Multivariate Linear Regression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23</a:t>
            </a:r>
            <a:br>
              <a:rPr lang="en" dirty="0">
                <a:solidFill>
                  <a:schemeClr val="accent4"/>
                </a:solidFill>
              </a:rPr>
            </a:b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129661121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 &amp; Machine Learning.</a:t>
                      </a:r>
                      <a:b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endParaRPr lang="en-US" sz="13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Logistic Regression (Binary Classification).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Predicting Categories (0 or 1), Not Continuous Numbers.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The Sigmoid Activation Function.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From Numbers to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Last lesson: We predicted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continuous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(house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price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$350k).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Today: We predict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Safe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DDoS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Attack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Legitimate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Challenge: How do you force a model to output only 0 or 1?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answer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The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Classification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Linear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Predicts continuous values (any number).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Server load at 85.5%, house price at $350,127, temperature at 72.3°C.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Binary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Predicts strict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(only 0 or 1).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Safe traffic [0] or DDoS attack [1].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Spam email [0] or legitimate [1].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Approved [0] or rejected [1].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 moved from "how much" to "</a:t>
            </a:r>
            <a:r>
              <a:rPr sz="1400" b="1" dirty="0">
                <a:solidFill>
                  <a:schemeClr val="tx2"/>
                </a:solidFill>
                <a:latin typeface="Source Code Pro"/>
              </a:rPr>
              <a:t>which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one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587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Why Linear Regression Fails at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draws a straight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through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Problem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straight line has no boundaries.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predicts impossible values: -5, +10, +999.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But probabilities must be 0% to 100% (0.0 to 1.0).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model predicts: -2.5 (impossible as probability)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model predicts: +8.3 (impossible as probability)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straight line is the wrong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tool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5219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The Sigmoid Function - The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6032" y="1463040"/>
                <a:ext cx="8229600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The </a:t>
                </a:r>
                <a:r>
                  <a:rPr sz="1400" b="1" dirty="0">
                    <a:solidFill>
                      <a:schemeClr val="bg2"/>
                    </a:solidFill>
                    <a:latin typeface="Source Code Pro"/>
                  </a:rPr>
                  <a:t>Sigmoid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 </a:t>
                </a:r>
                <a:r>
                  <a:rPr sz="1400" b="1" dirty="0">
                    <a:solidFill>
                      <a:srgbClr val="FD4A4A"/>
                    </a:solidFill>
                    <a:latin typeface="Source Code Pro"/>
                  </a:rPr>
                  <a:t>function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 takes any number and squashes it into 0-1 </a:t>
                </a:r>
                <a:r>
                  <a:rPr sz="1400" b="1" dirty="0">
                    <a:solidFill>
                      <a:srgbClr val="EC7955"/>
                    </a:solidFill>
                    <a:latin typeface="Source Code Pro"/>
                  </a:rPr>
                  <a:t>range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.</a:t>
                </a:r>
              </a:p>
              <a:p>
                <a:pPr algn="l"/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Formula: S(z) = 1 / (1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)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z = any number from the linear equation (z = m*x + b)</a:t>
                </a: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e = Euler's constant ≈ 2.71828 (like π, but for exponentials)</a:t>
                </a: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-z = flip the sign of z (makes the formula work)</a:t>
                </a: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S(z) = output probability (always 0 to 1)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What it does:</a:t>
                </a: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- Input: Any number (negative, zero, </a:t>
                </a:r>
                <a:r>
                  <a:rPr sz="1400" b="1" dirty="0">
                    <a:solidFill>
                      <a:srgbClr val="FD4A4A"/>
                    </a:solidFill>
                    <a:latin typeface="Source Code Pro"/>
                  </a:rPr>
                  <a:t>positive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, huge)</a:t>
                </a: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- Output: Number between 0.0 and 1.0</a:t>
                </a: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- Shape: S-curve (flat at extremes, steep in </a:t>
                </a:r>
                <a:r>
                  <a:rPr sz="1400" b="1" dirty="0">
                    <a:solidFill>
                      <a:srgbClr val="BD64B5"/>
                    </a:solidFill>
                    <a:latin typeface="Source Code Pro"/>
                  </a:rPr>
                  <a:t>middle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)</a:t>
                </a:r>
              </a:p>
              <a:p>
                <a:pPr algn="l"/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Example:</a:t>
                </a: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z = -10 → S(z) = 0.00005 (almost 0)</a:t>
                </a: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z = 0 → S(z) = 0.5 (exactly </a:t>
                </a:r>
                <a:r>
                  <a:rPr sz="1400" b="1" dirty="0">
                    <a:solidFill>
                      <a:srgbClr val="EC7955"/>
                    </a:solidFill>
                    <a:latin typeface="Source Code Pro"/>
                  </a:rPr>
                  <a:t>middle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)</a:t>
                </a: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z = +10 → S(z) = 0.99995 (almost 1)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1463040"/>
                <a:ext cx="8229600" cy="4401205"/>
              </a:xfrm>
              <a:prstGeom prst="rect">
                <a:avLst/>
              </a:prstGeom>
              <a:blipFill>
                <a:blip r:embed="rId3"/>
                <a:stretch>
                  <a:fillRect l="-222" b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Visualizing the Sigmoid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an S-shaped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curve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Left side (z &lt; 0):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 approaches 0.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Predicted class: 0 (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Safe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Legitimate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Approved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Middle (z = 0):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 exactly 0.5.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Decision boundary.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Right side (z &gt; 0):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 approaches 1.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Predicted class: 1 (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DDoS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chemeClr val="bg2">
                    <a:lumMod val="75000"/>
                  </a:schemeClr>
                </a:solidFill>
                <a:latin typeface="Source Code Pro"/>
              </a:rPr>
              <a:t>Rejected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curve has no sharp edges - smooth transition from 0 to 1.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282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From Probability to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6032" y="1463040"/>
                <a:ext cx="8229600" cy="3754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The </a:t>
                </a:r>
                <a:r>
                  <a:rPr lang="en-US" sz="1400" b="1" dirty="0">
                    <a:solidFill>
                      <a:srgbClr val="EC7955"/>
                    </a:solidFill>
                    <a:latin typeface="Source Code Pro"/>
                  </a:rPr>
                  <a:t>Sigmoid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outputs a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probability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, not a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class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</a:t>
                </a:r>
                <a:r>
                  <a:rPr lang="en-US" sz="1400" b="1" dirty="0">
                    <a:solidFill>
                      <a:srgbClr val="EC7955"/>
                    </a:solidFill>
                    <a:latin typeface="Source Code Pro"/>
                  </a:rPr>
                  <a:t>label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.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Process: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1: Calculate z = m*x + b (linear part, can be any number)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2: Apply </a:t>
                </a:r>
                <a:r>
                  <a:rPr lang="en-US" sz="1400" b="1" dirty="0">
                    <a:solidFill>
                      <a:srgbClr val="EC7955"/>
                    </a:solidFill>
                    <a:latin typeface="Source Code Pro"/>
                  </a:rPr>
                  <a:t>Sigmoid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: probability = 1 / 1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ar-AE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lang="ar-AE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3: Apply </a:t>
                </a:r>
                <a:r>
                  <a:rPr lang="en-US" sz="1400" b="1" dirty="0">
                    <a:solidFill>
                      <a:srgbClr val="4CAE97"/>
                    </a:solidFill>
                    <a:latin typeface="Source Code Pro"/>
                  </a:rPr>
                  <a:t>threshold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(usually 0.5):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 - If probability &gt;= 0.5 → Predict Class 1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 - If probability &lt; 0.5 → Predict Class 0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Example - DDoS </a:t>
                </a:r>
                <a:r>
                  <a:rPr lang="en-US" sz="1400" b="1" dirty="0">
                    <a:solidFill>
                      <a:srgbClr val="FD4A4A"/>
                    </a:solidFill>
                    <a:latin typeface="Source Code Pro"/>
                  </a:rPr>
                  <a:t>Detection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: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z = 0.8</a:t>
                </a: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probability = 1 / 1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= 0.69</a:t>
                </a:r>
                <a:endParaRPr lang="ar-AE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Since 0.69 &gt; 0.5 → Predict: [1] DDoS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Attack</a:t>
                </a:r>
                <a:endParaRPr sz="1400" b="1" dirty="0">
                  <a:solidFill>
                    <a:srgbClr val="E7E7E7"/>
                  </a:solidFill>
                  <a:latin typeface="Source Code Pro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1463040"/>
                <a:ext cx="8229600" cy="3754874"/>
              </a:xfrm>
              <a:prstGeom prst="rect">
                <a:avLst/>
              </a:prstGeom>
              <a:blipFill>
                <a:blip r:embed="rId3"/>
                <a:stretch>
                  <a:fillRect l="-222" b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Cost Function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Cost Function: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MSE = (1/n) × Σ(predicted - actual)²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Logistic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Cost Function: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Binary Cross-Entropy = -(1/n) × Σ[y*log(p) + (1-y)*log(1-p)]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change?</a:t>
            </a: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MSE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works for continuous values.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Cross-Entropy works for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penalizes confident wrong predictions more than uncertain ones.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Gradient Descent Still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Good news: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remains unchanged.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 still: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Calculate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using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Calculate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using cross-entropy)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Calculate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gradients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Update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(m and b)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is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Only the hypothesis and cost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changed.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Everything you learned about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optimization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applies here.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04840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Real Example - Spam Email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Data: 10,000 historical emails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email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(number of links, sender reputation, keyword frequency)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label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Legitimate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1 =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learns: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 and b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separate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legitimate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emails.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 on new email: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z = 2.5*links + 0.1*reputation + 1.2*keywords + bias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probability = 1 / (1 + e^(-z)) = 0.87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Since 0.87 &gt; 0.5 → Classify: [1]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SPAM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Summary -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predicted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(continuous output).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Logistic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predicts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(binary 0 or 1 output).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secret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it squashes any number into 0-1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range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still optimizes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Only the hypothesis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and cost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(cross-entropy)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different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Next: Implement logistic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Python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train a real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1053</Words>
  <Application>Microsoft Office PowerPoint</Application>
  <PresentationFormat>Widescreen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Bebas Neue</vt:lpstr>
      <vt:lpstr>Calibri</vt:lpstr>
      <vt:lpstr>Cambria Math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23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26</cp:revision>
  <dcterms:created xsi:type="dcterms:W3CDTF">2026-03-05T18:59:57Z</dcterms:created>
  <dcterms:modified xsi:type="dcterms:W3CDTF">2026-03-15T18:51:38Z</dcterms:modified>
</cp:coreProperties>
</file>