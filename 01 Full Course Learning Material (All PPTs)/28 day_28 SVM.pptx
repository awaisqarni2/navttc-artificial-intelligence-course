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6"/>
  </p:notesMasterIdLst>
  <p:sldIdLst>
    <p:sldId id="258" r:id="rId3"/>
    <p:sldId id="257" r:id="rId4"/>
    <p:sldId id="275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5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2" y="10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99B2F-13C3-4916-9AE2-773954F7FF95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32A58F-A9F4-4EDD-94B3-A9547EE99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207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6" name="Google Shape;2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13be7910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95" name="Google Shape;295;g213be7910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4510CBC-CBD4-7FA5-5018-FDCB3BD85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D33713A-80D5-8FCF-C31F-CBCBB27531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DEF5084-F53F-BF3C-FDE4-1399D44B45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30372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E530A6E-4ED8-E9CF-A35E-5E4D5D6A7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9B113993-6107-7FFF-7333-55BA15A75E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BBE5FD32-9CB6-EE0E-E53B-C1546F2140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360533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56E969B7-6F75-CE90-6A16-984ED28ED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C2E1510-867B-EB03-A300-F1FF4F9CD9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150C90C2-45B3-8425-5F47-78C518C557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970376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D3114DA-BBD7-ED99-D76A-70912B434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5FCC17A-30CA-2550-B49F-03F6CB98C7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85F304B-CCA3-9440-F724-E5B6DA9A3D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42784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3D8B0565-75A3-F535-0EA8-CC2E522A6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512EBAE-AE71-8F9C-3EDD-372B78F6BF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88FF6ED5-8345-F226-24C5-877E114CC1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471761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6CA1DB0C-82FE-C63B-FB02-FE7343001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8014724-6500-186E-0FD8-AD929F82C7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54D8D34E-7C9D-7CA7-FCF1-B146CA37E8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856024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4CB25CC-BC15-9B8A-E286-AE800567E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51D05371-8019-5763-9498-1212B58F9E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2B6F66A-6261-792A-D532-768F2C741E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710804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7E7DDBF9-1A5A-33F1-D0CB-13C465ACF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E2A10DB2-44B2-D632-706E-C49D0AF33B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C33AAC0D-1E59-5DAF-B0EC-E6232E7B42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6080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8AE23D3-3AFA-700B-BA11-278ABED8F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15BBAB68-F5FC-8041-9989-0179F5EB1D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30AEDA3A-5C2C-0247-72B0-33E810FD3E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54222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8A2789B-3A5F-2984-7DE6-35BCAB9E7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5B830D0-39EC-C6DA-D645-890B9D7369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757FDA8D-6E02-AEEE-EFD4-34AA6DCC34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733915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50" name="Google Shape;35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047651" y="3021933"/>
            <a:ext cx="8847600" cy="16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317484" y="1800733"/>
            <a:ext cx="2202800" cy="122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773533" y="4625133"/>
            <a:ext cx="8058400" cy="37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" name="Google Shape;16;p3"/>
          <p:cNvGrpSpPr/>
          <p:nvPr/>
        </p:nvGrpSpPr>
        <p:grpSpPr>
          <a:xfrm>
            <a:off x="11085100" y="470668"/>
            <a:ext cx="630800" cy="248667"/>
            <a:chOff x="7059675" y="514525"/>
            <a:chExt cx="473100" cy="186500"/>
          </a:xfrm>
        </p:grpSpPr>
        <p:cxnSp>
          <p:nvCxnSpPr>
            <p:cNvPr id="17" name="Google Shape;17;p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78688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" name="Google Shape;22;p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3" name="Google Shape;23;p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37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600"/>
            </a:lvl1pPr>
            <a:lvl2pPr marL="1219140" lvl="1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09" lvl="2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278" lvl="3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848" lvl="4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418" lvl="5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6987" lvl="6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557" lvl="7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126" lvl="8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40566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0" name="Google Shape;30;p5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31" name="Google Shape;31;p5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705672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211426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6651249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4"/>
          </p:nvPr>
        </p:nvSpPr>
        <p:spPr>
          <a:xfrm>
            <a:off x="1708483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4302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1" name="Google Shape;41;p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2" name="Google Shape;42;p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672967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6" name="Google Shape;56;p8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57" name="Google Shape;57;p8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8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8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807000" y="1742800"/>
            <a:ext cx="54340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884903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-33" y="-18300"/>
            <a:ext cx="12192000" cy="687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7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248036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 hasCustomPrompt="1"/>
          </p:nvPr>
        </p:nvSpPr>
        <p:spPr>
          <a:xfrm>
            <a:off x="1360817" y="1780133"/>
            <a:ext cx="9470400" cy="2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1"/>
          </p:nvPr>
        </p:nvSpPr>
        <p:spPr>
          <a:xfrm>
            <a:off x="1360784" y="4125967"/>
            <a:ext cx="9470400" cy="6204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5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6" name="Google Shape;76;p1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77" name="Google Shape;77;p1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1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1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6356967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74051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3" name="Google Shape;83;p13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84" name="Google Shape;84;p13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8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3296000" y="244393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"/>
          </p:nvPr>
        </p:nvSpPr>
        <p:spPr>
          <a:xfrm>
            <a:off x="4234001" y="377790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3"/>
          </p:nvPr>
        </p:nvSpPr>
        <p:spPr>
          <a:xfrm>
            <a:off x="4672036" y="5112331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4" hasCustomPrompt="1"/>
          </p:nvPr>
        </p:nvSpPr>
        <p:spPr>
          <a:xfrm>
            <a:off x="2493200" y="19607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5" hasCustomPrompt="1"/>
          </p:nvPr>
        </p:nvSpPr>
        <p:spPr>
          <a:xfrm>
            <a:off x="3431200" y="33099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6" hasCustomPrompt="1"/>
          </p:nvPr>
        </p:nvSpPr>
        <p:spPr>
          <a:xfrm>
            <a:off x="3855033" y="4659100"/>
            <a:ext cx="8028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7"/>
          </p:nvPr>
        </p:nvSpPr>
        <p:spPr>
          <a:xfrm>
            <a:off x="3296000" y="19607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8"/>
          </p:nvPr>
        </p:nvSpPr>
        <p:spPr>
          <a:xfrm>
            <a:off x="4234000" y="33099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9"/>
          </p:nvPr>
        </p:nvSpPr>
        <p:spPr>
          <a:xfrm>
            <a:off x="4672033" y="46591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373016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3583367" y="4619000"/>
            <a:ext cx="76580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"/>
          </p:nvPr>
        </p:nvSpPr>
        <p:spPr>
          <a:xfrm>
            <a:off x="3583219" y="2134600"/>
            <a:ext cx="7658000" cy="24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2" name="Google Shape;102;p14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14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14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7653953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7" name="Google Shape;107;p15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8" name="Google Shape;108;p15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15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15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950967" y="714200"/>
            <a:ext cx="4221200" cy="31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950967" y="3885400"/>
            <a:ext cx="4221200" cy="22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15"/>
          <p:cNvSpPr>
            <a:spLocks noGrp="1"/>
          </p:cNvSpPr>
          <p:nvPr>
            <p:ph type="pic" idx="2"/>
          </p:nvPr>
        </p:nvSpPr>
        <p:spPr>
          <a:xfrm>
            <a:off x="6377667" y="709417"/>
            <a:ext cx="3880000" cy="543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218112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" name="Google Shape;116;p16"/>
          <p:cNvSpPr txBox="1">
            <a:spLocks noGrp="1"/>
          </p:cNvSpPr>
          <p:nvPr>
            <p:ph type="title"/>
          </p:nvPr>
        </p:nvSpPr>
        <p:spPr>
          <a:xfrm>
            <a:off x="950967" y="1870467"/>
            <a:ext cx="4332000" cy="14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950967" y="3288067"/>
            <a:ext cx="4332000" cy="18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12076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0" y="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449600" y="2001600"/>
            <a:ext cx="4791200" cy="14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ubTitle" idx="1"/>
          </p:nvPr>
        </p:nvSpPr>
        <p:spPr>
          <a:xfrm>
            <a:off x="6449828" y="3416000"/>
            <a:ext cx="4791200" cy="1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49317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4" name="Google Shape;124;p18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25" name="Google Shape;125;p18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1"/>
          </p:nvPr>
        </p:nvSpPr>
        <p:spPr>
          <a:xfrm>
            <a:off x="6985135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2"/>
          </p:nvPr>
        </p:nvSpPr>
        <p:spPr>
          <a:xfrm>
            <a:off x="2276900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3"/>
          </p:nvPr>
        </p:nvSpPr>
        <p:spPr>
          <a:xfrm>
            <a:off x="1882268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ubTitle" idx="4"/>
          </p:nvPr>
        </p:nvSpPr>
        <p:spPr>
          <a:xfrm>
            <a:off x="6590509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935239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5" name="Google Shape;135;p19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36" name="Google Shape;136;p19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642919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2"/>
          </p:nvPr>
        </p:nvSpPr>
        <p:spPr>
          <a:xfrm>
            <a:off x="85866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61005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4" name="Google Shape;144;p20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45" name="Google Shape;145;p20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1330267" y="279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2"/>
          </p:nvPr>
        </p:nvSpPr>
        <p:spPr>
          <a:xfrm>
            <a:off x="4697316" y="367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3"/>
          </p:nvPr>
        </p:nvSpPr>
        <p:spPr>
          <a:xfrm>
            <a:off x="8068311" y="43234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subTitle" idx="4"/>
          </p:nvPr>
        </p:nvSpPr>
        <p:spPr>
          <a:xfrm>
            <a:off x="960000" y="191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5"/>
          </p:nvPr>
        </p:nvSpPr>
        <p:spPr>
          <a:xfrm>
            <a:off x="4389396" y="279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6"/>
          </p:nvPr>
        </p:nvSpPr>
        <p:spPr>
          <a:xfrm>
            <a:off x="7822725" y="34434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306908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7" name="Google Shape;157;p21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58" name="Google Shape;158;p21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subTitle" idx="1"/>
          </p:nvPr>
        </p:nvSpPr>
        <p:spPr>
          <a:xfrm>
            <a:off x="4667467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2"/>
          </p:nvPr>
        </p:nvSpPr>
        <p:spPr>
          <a:xfrm>
            <a:off x="8594388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ubTitle" idx="3"/>
          </p:nvPr>
        </p:nvSpPr>
        <p:spPr>
          <a:xfrm>
            <a:off x="4667467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4"/>
          </p:nvPr>
        </p:nvSpPr>
        <p:spPr>
          <a:xfrm>
            <a:off x="8594388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5"/>
          </p:nvPr>
        </p:nvSpPr>
        <p:spPr>
          <a:xfrm>
            <a:off x="42592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6"/>
          </p:nvPr>
        </p:nvSpPr>
        <p:spPr>
          <a:xfrm>
            <a:off x="42592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7"/>
          </p:nvPr>
        </p:nvSpPr>
        <p:spPr>
          <a:xfrm>
            <a:off x="81861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subTitle" idx="8"/>
          </p:nvPr>
        </p:nvSpPr>
        <p:spPr>
          <a:xfrm>
            <a:off x="81861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752964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subTitle" idx="1"/>
          </p:nvPr>
        </p:nvSpPr>
        <p:spPr>
          <a:xfrm>
            <a:off x="1859867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subTitle" idx="2"/>
          </p:nvPr>
        </p:nvSpPr>
        <p:spPr>
          <a:xfrm>
            <a:off x="5153000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subTitle" idx="3"/>
          </p:nvPr>
        </p:nvSpPr>
        <p:spPr>
          <a:xfrm>
            <a:off x="1859867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subTitle" idx="4"/>
          </p:nvPr>
        </p:nvSpPr>
        <p:spPr>
          <a:xfrm>
            <a:off x="5153000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subTitle" idx="5"/>
          </p:nvPr>
        </p:nvSpPr>
        <p:spPr>
          <a:xfrm>
            <a:off x="8446132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6"/>
          </p:nvPr>
        </p:nvSpPr>
        <p:spPr>
          <a:xfrm>
            <a:off x="8446132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7"/>
          </p:nvPr>
        </p:nvSpPr>
        <p:spPr>
          <a:xfrm>
            <a:off x="1484069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8"/>
          </p:nvPr>
        </p:nvSpPr>
        <p:spPr>
          <a:xfrm>
            <a:off x="4777200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9"/>
          </p:nvPr>
        </p:nvSpPr>
        <p:spPr>
          <a:xfrm>
            <a:off x="8070331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subTitle" idx="13"/>
          </p:nvPr>
        </p:nvSpPr>
        <p:spPr>
          <a:xfrm>
            <a:off x="1484069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ubTitle" idx="14"/>
          </p:nvPr>
        </p:nvSpPr>
        <p:spPr>
          <a:xfrm>
            <a:off x="4777200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ubTitle" idx="15"/>
          </p:nvPr>
        </p:nvSpPr>
        <p:spPr>
          <a:xfrm>
            <a:off x="8070331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922488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6" name="Google Shape;186;p23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87" name="Google Shape;187;p2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2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0" name="Google Shape;190;p23"/>
          <p:cNvSpPr txBox="1">
            <a:spLocks noGrp="1"/>
          </p:cNvSpPr>
          <p:nvPr>
            <p:ph type="title" hasCustomPrompt="1"/>
          </p:nvPr>
        </p:nvSpPr>
        <p:spPr>
          <a:xfrm>
            <a:off x="5402633" y="84076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1" name="Google Shape;191;p23"/>
          <p:cNvSpPr txBox="1">
            <a:spLocks noGrp="1"/>
          </p:cNvSpPr>
          <p:nvPr>
            <p:ph type="subTitle" idx="1"/>
          </p:nvPr>
        </p:nvSpPr>
        <p:spPr>
          <a:xfrm>
            <a:off x="5878073" y="173422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2" name="Google Shape;192;p23"/>
          <p:cNvSpPr txBox="1">
            <a:spLocks noGrp="1"/>
          </p:cNvSpPr>
          <p:nvPr>
            <p:ph type="title" idx="2" hasCustomPrompt="1"/>
          </p:nvPr>
        </p:nvSpPr>
        <p:spPr>
          <a:xfrm>
            <a:off x="5402633" y="264378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23"/>
          <p:cNvSpPr txBox="1">
            <a:spLocks noGrp="1"/>
          </p:cNvSpPr>
          <p:nvPr>
            <p:ph type="subTitle" idx="3"/>
          </p:nvPr>
        </p:nvSpPr>
        <p:spPr>
          <a:xfrm>
            <a:off x="5878073" y="353724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title" idx="4" hasCustomPrompt="1"/>
          </p:nvPr>
        </p:nvSpPr>
        <p:spPr>
          <a:xfrm>
            <a:off x="5402633" y="444680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5" name="Google Shape;195;p23"/>
          <p:cNvSpPr txBox="1">
            <a:spLocks noGrp="1"/>
          </p:cNvSpPr>
          <p:nvPr>
            <p:ph type="subTitle" idx="5"/>
          </p:nvPr>
        </p:nvSpPr>
        <p:spPr>
          <a:xfrm>
            <a:off x="5878073" y="534026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448289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8" name="Google Shape;198;p2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99" name="Google Shape;199;p2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2" name="Google Shape;202;p24"/>
          <p:cNvSpPr txBox="1">
            <a:spLocks noGrp="1"/>
          </p:cNvSpPr>
          <p:nvPr>
            <p:ph type="title" hasCustomPrompt="1"/>
          </p:nvPr>
        </p:nvSpPr>
        <p:spPr>
          <a:xfrm>
            <a:off x="1179800" y="25209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24"/>
          <p:cNvSpPr txBox="1">
            <a:spLocks noGrp="1"/>
          </p:cNvSpPr>
          <p:nvPr>
            <p:ph type="subTitle" idx="1"/>
          </p:nvPr>
        </p:nvSpPr>
        <p:spPr>
          <a:xfrm>
            <a:off x="1307167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4" name="Google Shape;204;p24"/>
          <p:cNvSpPr txBox="1">
            <a:spLocks noGrp="1"/>
          </p:cNvSpPr>
          <p:nvPr>
            <p:ph type="subTitle" idx="2"/>
          </p:nvPr>
        </p:nvSpPr>
        <p:spPr>
          <a:xfrm>
            <a:off x="960000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title" idx="3" hasCustomPrompt="1"/>
          </p:nvPr>
        </p:nvSpPr>
        <p:spPr>
          <a:xfrm>
            <a:off x="4787984" y="2521267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6" name="Google Shape;206;p24"/>
          <p:cNvSpPr txBox="1">
            <a:spLocks noGrp="1"/>
          </p:cNvSpPr>
          <p:nvPr>
            <p:ph type="subTitle" idx="4"/>
          </p:nvPr>
        </p:nvSpPr>
        <p:spPr>
          <a:xfrm>
            <a:off x="4785591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7" name="Google Shape;207;p24"/>
          <p:cNvSpPr txBox="1">
            <a:spLocks noGrp="1"/>
          </p:cNvSpPr>
          <p:nvPr>
            <p:ph type="subTitle" idx="5"/>
          </p:nvPr>
        </p:nvSpPr>
        <p:spPr>
          <a:xfrm>
            <a:off x="4560001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8" name="Google Shape;208;p24"/>
          <p:cNvSpPr txBox="1">
            <a:spLocks noGrp="1"/>
          </p:cNvSpPr>
          <p:nvPr>
            <p:ph type="title" idx="6" hasCustomPrompt="1"/>
          </p:nvPr>
        </p:nvSpPr>
        <p:spPr>
          <a:xfrm>
            <a:off x="8395700" y="25214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p24"/>
          <p:cNvSpPr txBox="1">
            <a:spLocks noGrp="1"/>
          </p:cNvSpPr>
          <p:nvPr>
            <p:ph type="subTitle" idx="7"/>
          </p:nvPr>
        </p:nvSpPr>
        <p:spPr>
          <a:xfrm>
            <a:off x="8264015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0" name="Google Shape;210;p24"/>
          <p:cNvSpPr txBox="1">
            <a:spLocks noGrp="1"/>
          </p:cNvSpPr>
          <p:nvPr>
            <p:ph type="subTitle" idx="8"/>
          </p:nvPr>
        </p:nvSpPr>
        <p:spPr>
          <a:xfrm>
            <a:off x="8160003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1" name="Google Shape;211;p24"/>
          <p:cNvSpPr txBox="1">
            <a:spLocks noGrp="1"/>
          </p:cNvSpPr>
          <p:nvPr>
            <p:ph type="title" idx="9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368403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18" name="Google Shape;218;p2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19" name="Google Shape;219;p2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1187346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5899667" y="-2400"/>
            <a:ext cx="62924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4" name="Google Shape;224;p27"/>
          <p:cNvGrpSpPr/>
          <p:nvPr/>
        </p:nvGrpSpPr>
        <p:grpSpPr>
          <a:xfrm>
            <a:off x="10924156" y="595001"/>
            <a:ext cx="553275" cy="248667"/>
            <a:chOff x="7059675" y="514525"/>
            <a:chExt cx="473100" cy="186500"/>
          </a:xfrm>
        </p:grpSpPr>
        <p:cxnSp>
          <p:nvCxnSpPr>
            <p:cNvPr id="225" name="Google Shape;225;p27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7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7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9241422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647333" y="1678467"/>
            <a:ext cx="7730000" cy="27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647333" y="4396867"/>
            <a:ext cx="7730000" cy="58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14538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3" name="Google Shape;63;p9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64" name="Google Shape;64;p9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9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5630800" y="1597933"/>
            <a:ext cx="5608000" cy="261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1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5630800" y="4217133"/>
            <a:ext cx="5608000" cy="1421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9931279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8" name="Google Shape;48;p7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9" name="Google Shape;49;p7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ubTitle" idx="1"/>
          </p:nvPr>
        </p:nvSpPr>
        <p:spPr>
          <a:xfrm>
            <a:off x="4620300" y="2038667"/>
            <a:ext cx="6620800" cy="41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20853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028760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sz="5400" dirty="0"/>
              <a:t>Artificial Intelligence</a:t>
            </a:r>
            <a:br>
              <a:rPr lang="en-US" sz="6000" dirty="0"/>
            </a:br>
            <a:r>
              <a:rPr lang="en" sz="2800" dirty="0">
                <a:solidFill>
                  <a:schemeClr val="accent4"/>
                </a:solidFill>
              </a:rPr>
              <a:t>(Machine Learning &amp; Deep Learning)</a:t>
            </a:r>
            <a:endParaRPr sz="2800" dirty="0"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1"/>
          </p:nvPr>
        </p:nvSpPr>
        <p:spPr>
          <a:xfrm>
            <a:off x="3217849" y="4473517"/>
            <a:ext cx="8487720" cy="5670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2000" b="1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SVM (Support Vector Machine)</a:t>
            </a:r>
            <a:endParaRPr lang="en-US" sz="1867" dirty="0"/>
          </a:p>
        </p:txBody>
      </p:sp>
      <p:sp>
        <p:nvSpPr>
          <p:cNvPr id="240" name="Google Shape;240;p31"/>
          <p:cNvSpPr txBox="1"/>
          <p:nvPr/>
        </p:nvSpPr>
        <p:spPr>
          <a:xfrm>
            <a:off x="2796400" y="761333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E81A81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E81A81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11450667" y="5335900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4CAE97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4CAE97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3796500" y="5477887"/>
            <a:ext cx="19300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94EE6B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94EE6B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243" name="Google Shape;243;p3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244" name="Google Shape;244;p3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3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3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7" name="Google Shape;247;p31"/>
          <p:cNvGrpSpPr/>
          <p:nvPr/>
        </p:nvGrpSpPr>
        <p:grpSpPr>
          <a:xfrm>
            <a:off x="340175" y="928586"/>
            <a:ext cx="3170543" cy="5210084"/>
            <a:chOff x="5" y="747463"/>
            <a:chExt cx="2377907" cy="3907563"/>
          </a:xfrm>
        </p:grpSpPr>
        <p:sp>
          <p:nvSpPr>
            <p:cNvPr id="248" name="Google Shape;248;p31"/>
            <p:cNvSpPr/>
            <p:nvPr/>
          </p:nvSpPr>
          <p:spPr>
            <a:xfrm>
              <a:off x="5" y="7560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486329" y="7474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5" y="10682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5" y="1394975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5" y="17217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434858" y="1721713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934654" y="1721722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5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5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5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5" y="2992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13726" y="37739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434858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395919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434858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434858" y="300995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434858" y="33358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838550" y="2032296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838550" y="2375145"/>
              <a:ext cx="65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861466" y="2684069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861466" y="3028567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861466" y="3335841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1360349" y="2032296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1573836" y="2358182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1697856" y="2684094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1697856" y="3335891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13726" y="401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395919" y="42965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875884" y="4296538"/>
              <a:ext cx="385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1360349" y="4296538"/>
              <a:ext cx="486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1912083" y="4296538"/>
              <a:ext cx="17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395919" y="4505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75884" y="4505063"/>
              <a:ext cx="6135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1570204" y="4505063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894657" y="75937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86348" y="10682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1169818" y="1064149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486342" y="1395013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1254423" y="1719659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1697859" y="3028567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1840717" y="2032296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2037810" y="2684069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1912311" y="450712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434873" y="39876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434873" y="37575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Contents </a:t>
            </a:r>
            <a:r>
              <a:rPr lang="en" dirty="0">
                <a:solidFill>
                  <a:schemeClr val="accent4"/>
                </a:solidFill>
              </a:rPr>
              <a:t>of Day 28</a:t>
            </a:r>
            <a:br>
              <a:rPr lang="en" dirty="0">
                <a:solidFill>
                  <a:schemeClr val="accent4"/>
                </a:solidFill>
              </a:rPr>
            </a:br>
            <a:endParaRPr dirty="0">
              <a:solidFill>
                <a:schemeClr val="accent4"/>
              </a:solidFill>
            </a:endParaRPr>
          </a:p>
        </p:txBody>
      </p:sp>
      <p:graphicFrame>
        <p:nvGraphicFramePr>
          <p:cNvPr id="299" name="Google Shape;299;p32"/>
          <p:cNvGraphicFramePr/>
          <p:nvPr>
            <p:extLst>
              <p:ext uri="{D42A27DB-BD31-4B8C-83A1-F6EECF244321}">
                <p14:modId xmlns:p14="http://schemas.microsoft.com/office/powerpoint/2010/main" val="741643952"/>
              </p:ext>
            </p:extLst>
          </p:nvPr>
        </p:nvGraphicFramePr>
        <p:xfrm>
          <a:off x="968901" y="2328148"/>
          <a:ext cx="10272000" cy="356329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32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Recap &amp; introduction</a:t>
                      </a:r>
                      <a:endParaRPr sz="1500" dirty="0">
                        <a:solidFill>
                          <a:schemeClr val="dk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Moving from Python OOP to Data Science. Why AI needs data.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Core Thoery</a:t>
                      </a:r>
                      <a:endParaRPr sz="1500" dirty="0">
                        <a:solidFill>
                          <a:schemeClr val="accent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Introduction SVM (Support Vector Machine)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Lab Practice</a:t>
                      </a:r>
                      <a:endParaRPr sz="1500" dirty="0">
                        <a:solidFill>
                          <a:schemeClr val="accent4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Practical coding tasks implementing method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5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Advance Lab</a:t>
                      </a:r>
                      <a:endParaRPr sz="1500" dirty="0">
                        <a:solidFill>
                          <a:schemeClr val="accent5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Understanding the logic with real world examples.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1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Wrap-up &amp; Q&amp;A</a:t>
                      </a:r>
                      <a:endParaRPr sz="1500" dirty="0">
                        <a:solidFill>
                          <a:schemeClr val="accent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Debugging tips along with Q&amp;A and suggestion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0" name="Google Shape;300;p32"/>
          <p:cNvSpPr txBox="1"/>
          <p:nvPr/>
        </p:nvSpPr>
        <p:spPr>
          <a:xfrm>
            <a:off x="951099" y="5523067"/>
            <a:ext cx="4085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endParaRPr sz="1467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478E5AC7-4524-6A51-8B39-8D8899921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What is SVM? Simple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Imagine two groups of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points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on a piece of paper.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SVM draws the best possible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line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between them.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Not just any line. The line with the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maximum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gap.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That gap is called the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Margin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Wider margin = model is more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confident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about its predictions.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That is literally the entire idea behind SVM.</a:t>
            </a:r>
          </a:p>
        </p:txBody>
      </p:sp>
    </p:spTree>
    <p:extLst>
      <p:ext uri="{BB962C8B-B14F-4D97-AF65-F5344CB8AC3E}">
        <p14:creationId xmlns:p14="http://schemas.microsoft.com/office/powerpoint/2010/main" val="2300154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FAE09901-1EA4-1281-E9D0-75400B034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Support Vectors - The Important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Not all data points are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equal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 SVM.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Only the points closest to the line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matter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These special points are called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Support</a:t>
            </a:r>
            <a:r>
              <a:rPr lang="en-US" sz="1400" b="1" dirty="0">
                <a:solidFill>
                  <a:srgbClr val="94EE6B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Vectors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Everything else is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ignored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completely.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Think of it like a tug of war: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Only the people at the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front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of the rope actually matter.</a:t>
            </a:r>
          </a:p>
        </p:txBody>
      </p:sp>
    </p:spTree>
    <p:extLst>
      <p:ext uri="{BB962C8B-B14F-4D97-AF65-F5344CB8AC3E}">
        <p14:creationId xmlns:p14="http://schemas.microsoft.com/office/powerpoint/2010/main" val="3664333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B93EF743-37DF-61A5-E507-BEE9CB679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Hard Margin - The Strict Version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Hard Margin SVM says: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nothing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crosses the line. Ever.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Works perfectly when data is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clean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and separable.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Real world problem: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One single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outlier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breaks the entire boundary.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Example: one spam email that looks like a normal email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destroys the whole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separator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Hard Margin is too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strict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for real data.</a:t>
            </a:r>
          </a:p>
        </p:txBody>
      </p:sp>
    </p:spTree>
    <p:extLst>
      <p:ext uri="{BB962C8B-B14F-4D97-AF65-F5344CB8AC3E}">
        <p14:creationId xmlns:p14="http://schemas.microsoft.com/office/powerpoint/2010/main" val="4066680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DDBB3FB-1E1D-5346-0FB9-55028EA8A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Soft Margin - The Flexible Version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Soft Margin says: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okay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a few mistakes are allowed.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Controlled by one number called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C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 = big number: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Model is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strict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tries hard to separate everything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 = small number: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Model is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relaxed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allows more mistakes for a wider gap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Start with C = 1.0.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Adjust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based on your results.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This is how SVM actually works on real data.</a:t>
            </a:r>
          </a:p>
        </p:txBody>
      </p:sp>
    </p:spTree>
    <p:extLst>
      <p:ext uri="{BB962C8B-B14F-4D97-AF65-F5344CB8AC3E}">
        <p14:creationId xmlns:p14="http://schemas.microsoft.com/office/powerpoint/2010/main" val="3174017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7EC5CC58-C86D-B3EF-39BE-FB3282AB8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What if a Line is Not Enough?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Sometimes data CANNOT be separated by a straight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line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Example: spam and normal emails are completely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mixed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together.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Solution: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lift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the data into a higher dimension.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Imagine pushing a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flat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paper into 3D space.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Suddenly the groups become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separable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by a flat surface.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This is the key idea behind the Kernel Trick.</a:t>
            </a:r>
          </a:p>
        </p:txBody>
      </p:sp>
    </p:spTree>
    <p:extLst>
      <p:ext uri="{BB962C8B-B14F-4D97-AF65-F5344CB8AC3E}">
        <p14:creationId xmlns:p14="http://schemas.microsoft.com/office/powerpoint/2010/main" val="3483430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C4F5C0FC-1DBC-A7CC-FAC6-09829C351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The Kernel Trick - Simple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94EE6B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94EE6B"/>
                </a:solidFill>
                <a:latin typeface="Source Code Pro"/>
              </a:rPr>
              <a:t>Kernel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just a mathematical shortcut.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It transforms data into a higher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dimension</a:t>
            </a:r>
            <a:endParaRPr lang="en-US" sz="1400" b="1" dirty="0">
              <a:solidFill>
                <a:srgbClr val="FD4A4A"/>
              </a:solidFill>
              <a:latin typeface="Source Code Pro"/>
            </a:endParaRPr>
          </a:p>
          <a:p>
            <a:pPr algn="l"/>
            <a:endParaRPr sz="1400" b="1" dirty="0">
              <a:solidFill>
                <a:srgbClr val="FD4A4A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WITHOUT actually computing all the new features.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Think of it like X-ray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vision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You see through the complexity without doing the hard work.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Three kernels to know: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Linear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data is already separable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chemeClr val="accent1"/>
                </a:solidFill>
                <a:latin typeface="Source Code Pro"/>
              </a:rPr>
              <a:t>Polynomial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curved boundaries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rgbClr val="00B0F0"/>
                </a:solidFill>
                <a:latin typeface="Source Code Pro"/>
              </a:rPr>
              <a:t>RBF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most powerful, works on almost anything</a:t>
            </a:r>
          </a:p>
        </p:txBody>
      </p:sp>
    </p:spTree>
    <p:extLst>
      <p:ext uri="{BB962C8B-B14F-4D97-AF65-F5344CB8AC3E}">
        <p14:creationId xmlns:p14="http://schemas.microsoft.com/office/powerpoint/2010/main" val="721575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7C055C9-C156-1F68-35AF-7995F54AF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RBF Kernel - The Most Useful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E81A81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81A81"/>
                </a:solidFill>
                <a:latin typeface="Source Code Pro"/>
              </a:rPr>
              <a:t>RBF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Radial Basis Function. Most popular kernel.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Think of each data point as a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lamp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Gamma controls how far each lamp's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light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reaches.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Gamma HIGH → small light → very detailed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boundary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overfitting risk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Gamma LOW → wide light → smooth boundary → underfitting risk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svm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SVC(kernel='</a:t>
            </a:r>
            <a:r>
              <a:rPr sz="1400" b="1" dirty="0" err="1">
                <a:solidFill>
                  <a:srgbClr val="FD4A4A"/>
                </a:solidFill>
                <a:latin typeface="Source Code Pro"/>
              </a:rPr>
              <a:t>rbf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', C=1.0, gamma='scale')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When in doubt: start with RBF. It works on most problems.</a:t>
            </a:r>
          </a:p>
        </p:txBody>
      </p:sp>
    </p:spTree>
    <p:extLst>
      <p:ext uri="{BB962C8B-B14F-4D97-AF65-F5344CB8AC3E}">
        <p14:creationId xmlns:p14="http://schemas.microsoft.com/office/powerpoint/2010/main" val="2683934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F3C24B5-FA2A-A20C-CFEF-E96090FCD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Feature Scaling - Do Not Skip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SVM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measures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distances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between point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If one feature is 0-1 and another is 0-100000: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big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numbers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completely dominate.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SVM gives wrong answers without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scaling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Always do this BEFORE training: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from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sklearn.preprocessing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import </a:t>
            </a:r>
            <a:r>
              <a:rPr sz="1400" b="1" dirty="0" err="1">
                <a:solidFill>
                  <a:srgbClr val="E81A81"/>
                </a:solidFill>
                <a:latin typeface="Source Code Pro"/>
              </a:rPr>
              <a:t>StandardScaler</a:t>
            </a:r>
            <a:endParaRPr sz="1400" b="1" dirty="0">
              <a:solidFill>
                <a:srgbClr val="E81A81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scaler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StandardScaler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()</a:t>
            </a: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X_train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scaler.fit_transform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X_train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Skipping scaling is the most common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mistake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with SVM.</a:t>
            </a:r>
          </a:p>
        </p:txBody>
      </p:sp>
    </p:spTree>
    <p:extLst>
      <p:ext uri="{BB962C8B-B14F-4D97-AF65-F5344CB8AC3E}">
        <p14:creationId xmlns:p14="http://schemas.microsoft.com/office/powerpoint/2010/main" val="1924674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A27396EA-B3CB-5765-A2BF-6067CF0C0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SVM in sklearn - Full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Three lines is all you need to train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SVM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from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sklearn.svm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import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SVC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from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sklearn.preprocessing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import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StandardScaler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scaler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StandardScaler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()</a:t>
            </a: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X_train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scaler.fit_transform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</a:t>
            </a:r>
            <a:r>
              <a:rPr sz="1400" b="1" dirty="0" err="1">
                <a:solidFill>
                  <a:srgbClr val="E81A81"/>
                </a:solidFill>
                <a:latin typeface="Source Code Pro"/>
              </a:rPr>
              <a:t>X_train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model = SVC(kernel='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rbf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', C=1.0, gamma='scale')</a:t>
            </a: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model.</a:t>
            </a:r>
            <a:r>
              <a:rPr sz="1400" b="1" dirty="0" err="1">
                <a:solidFill>
                  <a:srgbClr val="4CAE97"/>
                </a:solidFill>
                <a:latin typeface="Source Code Pro"/>
              </a:rPr>
              <a:t>fit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X_train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y_train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predictions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model.predict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scaler.transform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</a:t>
            </a:r>
            <a:r>
              <a:rPr sz="1400" b="1" dirty="0" err="1">
                <a:solidFill>
                  <a:srgbClr val="4CAE97"/>
                </a:solidFill>
                <a:latin typeface="Source Code Pro"/>
              </a:rPr>
              <a:t>X_test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))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Always scale first. Then train. Then predict.</a:t>
            </a:r>
          </a:p>
        </p:txBody>
      </p:sp>
    </p:spTree>
    <p:extLst>
      <p:ext uri="{BB962C8B-B14F-4D97-AF65-F5344CB8AC3E}">
        <p14:creationId xmlns:p14="http://schemas.microsoft.com/office/powerpoint/2010/main" val="820022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72B9FC64-41CB-FD68-6031-A0DC2CA1A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When SVM Shines and When It Struggles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SVM is great when: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Your data has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many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features (text, images)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Dataset is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medium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sized (not millions of rows)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You need strong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accuracy</a:t>
            </a:r>
            <a:endParaRPr lang="en-US" sz="1400" b="1" dirty="0">
              <a:solidFill>
                <a:srgbClr val="FD4A4A"/>
              </a:solidFill>
              <a:latin typeface="Source Code Pro"/>
            </a:endParaRPr>
          </a:p>
          <a:p>
            <a:pPr algn="l"/>
            <a:endParaRPr sz="1400" b="1" dirty="0">
              <a:solidFill>
                <a:srgbClr val="FD4A4A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SVM struggles when: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Dataset is very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large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training becomes very slow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Data has lots of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noise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and overlapping classes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You need to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explain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why the model made a decision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For NLP and text classification</a:t>
            </a:r>
            <a:r>
              <a:rPr sz="1400">
                <a:solidFill>
                  <a:srgbClr val="E7E7E7"/>
                </a:solidFill>
                <a:latin typeface="Source Code Pro"/>
              </a:rPr>
              <a:t>: </a:t>
            </a:r>
            <a:r>
              <a:rPr sz="1400" b="1">
                <a:solidFill>
                  <a:srgbClr val="E81A81"/>
                </a:solidFill>
                <a:latin typeface="Source Code Pro"/>
              </a:rPr>
              <a:t>Linear</a:t>
            </a:r>
            <a:r>
              <a:rPr lang="en-US" sz="1400" b="1">
                <a:solidFill>
                  <a:srgbClr val="E81A81"/>
                </a:solidFill>
                <a:latin typeface="Source Code Pro"/>
              </a:rPr>
              <a:t> </a:t>
            </a:r>
            <a:r>
              <a:rPr sz="1400" b="1">
                <a:solidFill>
                  <a:srgbClr val="E81A81"/>
                </a:solidFill>
                <a:latin typeface="Source Code Pro"/>
              </a:rPr>
              <a:t>SVC</a:t>
            </a:r>
            <a:r>
              <a:rPr sz="140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is your best friend.</a:t>
            </a:r>
          </a:p>
        </p:txBody>
      </p:sp>
    </p:spTree>
    <p:extLst>
      <p:ext uri="{BB962C8B-B14F-4D97-AF65-F5344CB8AC3E}">
        <p14:creationId xmlns:p14="http://schemas.microsoft.com/office/powerpoint/2010/main" val="1839216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 txBox="1">
            <a:spLocks noGrp="1"/>
          </p:cNvSpPr>
          <p:nvPr>
            <p:ph type="title"/>
          </p:nvPr>
        </p:nvSpPr>
        <p:spPr>
          <a:xfrm>
            <a:off x="5662782" y="748501"/>
            <a:ext cx="5544039" cy="706416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US" sz="1867" dirty="0"/>
              <a:t>Thank You for Your Focus Today!</a:t>
            </a:r>
            <a:endParaRPr sz="1867" dirty="0"/>
          </a:p>
        </p:txBody>
      </p:sp>
      <p:sp>
        <p:nvSpPr>
          <p:cNvPr id="353" name="Google Shape;353;p34"/>
          <p:cNvSpPr txBox="1">
            <a:spLocks noGrp="1"/>
          </p:cNvSpPr>
          <p:nvPr>
            <p:ph type="subTitle" idx="1"/>
          </p:nvPr>
        </p:nvSpPr>
        <p:spPr>
          <a:xfrm>
            <a:off x="5459796" y="4751364"/>
            <a:ext cx="5608000" cy="174000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400" dirty="0"/>
              <a:t>Waleed Khan</a:t>
            </a:r>
            <a:br>
              <a:rPr lang="en-US" sz="1400" dirty="0"/>
            </a:br>
            <a:r>
              <a:rPr lang="en-US" sz="1400" dirty="0"/>
              <a:t>(</a:t>
            </a:r>
            <a:r>
              <a:rPr lang="en-US" sz="1200" dirty="0"/>
              <a:t>Robotics Engineer | Senior Python Developer)</a:t>
            </a:r>
            <a:br>
              <a:rPr lang="en-US" sz="1400" dirty="0"/>
            </a:br>
            <a:endParaRPr lang="en-US" sz="1400" dirty="0"/>
          </a:p>
          <a:p>
            <a:pPr marL="0" indent="0"/>
            <a:r>
              <a:rPr lang="en-US" sz="1400" dirty="0"/>
              <a:t>Email: 0xcloudcoder@gmail.com</a:t>
            </a:r>
            <a:br>
              <a:rPr lang="en-US" sz="1867" dirty="0"/>
            </a:br>
            <a:r>
              <a:rPr lang="en-US" sz="1400" dirty="0"/>
              <a:t>Contact: +923126008702</a:t>
            </a:r>
            <a:endParaRPr sz="1400" dirty="0"/>
          </a:p>
        </p:txBody>
      </p:sp>
      <p:sp>
        <p:nvSpPr>
          <p:cNvPr id="354" name="Google Shape;354;p34"/>
          <p:cNvSpPr txBox="1"/>
          <p:nvPr/>
        </p:nvSpPr>
        <p:spPr>
          <a:xfrm>
            <a:off x="11106533" y="53044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 dirty="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 dirty="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355" name="Google Shape;355;p34"/>
          <p:cNvGrpSpPr/>
          <p:nvPr/>
        </p:nvGrpSpPr>
        <p:grpSpPr>
          <a:xfrm>
            <a:off x="447523" y="928586"/>
            <a:ext cx="3909392" cy="5210084"/>
            <a:chOff x="335642" y="696438"/>
            <a:chExt cx="2932044" cy="3907563"/>
          </a:xfrm>
        </p:grpSpPr>
        <p:sp>
          <p:nvSpPr>
            <p:cNvPr id="356" name="Google Shape;356;p34"/>
            <p:cNvSpPr/>
            <p:nvPr/>
          </p:nvSpPr>
          <p:spPr>
            <a:xfrm>
              <a:off x="335642" y="70501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7" name="Google Shape;357;p34"/>
            <p:cNvSpPr/>
            <p:nvPr/>
          </p:nvSpPr>
          <p:spPr>
            <a:xfrm>
              <a:off x="821967" y="6964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8" name="Google Shape;358;p34"/>
            <p:cNvSpPr/>
            <p:nvPr/>
          </p:nvSpPr>
          <p:spPr>
            <a:xfrm>
              <a:off x="335642" y="10172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9" name="Google Shape;359;p34"/>
            <p:cNvSpPr/>
            <p:nvPr/>
          </p:nvSpPr>
          <p:spPr>
            <a:xfrm>
              <a:off x="335642" y="1343950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0" name="Google Shape;360;p34"/>
            <p:cNvSpPr/>
            <p:nvPr/>
          </p:nvSpPr>
          <p:spPr>
            <a:xfrm>
              <a:off x="335642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1" name="Google Shape;361;p34"/>
            <p:cNvSpPr/>
            <p:nvPr/>
          </p:nvSpPr>
          <p:spPr>
            <a:xfrm>
              <a:off x="770496" y="1670688"/>
              <a:ext cx="45446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2" name="Google Shape;362;p34"/>
            <p:cNvSpPr/>
            <p:nvPr/>
          </p:nvSpPr>
          <p:spPr>
            <a:xfrm>
              <a:off x="1304877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3" name="Google Shape;363;p34"/>
            <p:cNvSpPr/>
            <p:nvPr/>
          </p:nvSpPr>
          <p:spPr>
            <a:xfrm>
              <a:off x="335642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335642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335642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335642" y="29419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349364" y="37229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770496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731557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770496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1" name="Google Shape;371;p34"/>
            <p:cNvSpPr/>
            <p:nvPr/>
          </p:nvSpPr>
          <p:spPr>
            <a:xfrm>
              <a:off x="770496" y="2958925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770496" y="32848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1174186" y="1981263"/>
              <a:ext cx="63339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1174186" y="2324113"/>
              <a:ext cx="88477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1205349" y="26330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1205349" y="29775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1205349" y="3284813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1883777" y="1981263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2174096" y="2307150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0" name="Google Shape;380;p34"/>
            <p:cNvSpPr/>
            <p:nvPr/>
          </p:nvSpPr>
          <p:spPr>
            <a:xfrm>
              <a:off x="2342750" y="26330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1" name="Google Shape;381;p34"/>
            <p:cNvSpPr/>
            <p:nvPr/>
          </p:nvSpPr>
          <p:spPr>
            <a:xfrm>
              <a:off x="2342750" y="32848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2" name="Google Shape;382;p34"/>
            <p:cNvSpPr/>
            <p:nvPr/>
          </p:nvSpPr>
          <p:spPr>
            <a:xfrm>
              <a:off x="349364" y="39620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3" name="Google Shape;383;p34"/>
            <p:cNvSpPr/>
            <p:nvPr/>
          </p:nvSpPr>
          <p:spPr>
            <a:xfrm>
              <a:off x="731557" y="42455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4" name="Google Shape;384;p34"/>
            <p:cNvSpPr/>
            <p:nvPr/>
          </p:nvSpPr>
          <p:spPr>
            <a:xfrm>
              <a:off x="1224956" y="4245513"/>
              <a:ext cx="52434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5" name="Google Shape;385;p34"/>
            <p:cNvSpPr/>
            <p:nvPr/>
          </p:nvSpPr>
          <p:spPr>
            <a:xfrm>
              <a:off x="1883777" y="4245513"/>
              <a:ext cx="661931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6" name="Google Shape;386;p34"/>
            <p:cNvSpPr/>
            <p:nvPr/>
          </p:nvSpPr>
          <p:spPr>
            <a:xfrm>
              <a:off x="2634075" y="4245513"/>
              <a:ext cx="241501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7" name="Google Shape;387;p34"/>
            <p:cNvSpPr/>
            <p:nvPr/>
          </p:nvSpPr>
          <p:spPr>
            <a:xfrm>
              <a:off x="731557" y="4454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1224956" y="4454038"/>
              <a:ext cx="83390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2169156" y="44540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1250486" y="7083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1" name="Google Shape;391;p34"/>
            <p:cNvSpPr/>
            <p:nvPr/>
          </p:nvSpPr>
          <p:spPr>
            <a:xfrm>
              <a:off x="821986" y="10172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2" name="Google Shape;392;p34"/>
            <p:cNvSpPr/>
            <p:nvPr/>
          </p:nvSpPr>
          <p:spPr>
            <a:xfrm>
              <a:off x="1555286" y="10131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3" name="Google Shape;393;p34"/>
            <p:cNvSpPr/>
            <p:nvPr/>
          </p:nvSpPr>
          <p:spPr>
            <a:xfrm>
              <a:off x="821979" y="13439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4" name="Google Shape;394;p34"/>
            <p:cNvSpPr/>
            <p:nvPr/>
          </p:nvSpPr>
          <p:spPr>
            <a:xfrm>
              <a:off x="1739729" y="166862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5" name="Google Shape;395;p34"/>
            <p:cNvSpPr/>
            <p:nvPr/>
          </p:nvSpPr>
          <p:spPr>
            <a:xfrm>
              <a:off x="2342754" y="29775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6" name="Google Shape;396;p34"/>
            <p:cNvSpPr/>
            <p:nvPr/>
          </p:nvSpPr>
          <p:spPr>
            <a:xfrm>
              <a:off x="2537025" y="19812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7" name="Google Shape;397;p34"/>
            <p:cNvSpPr/>
            <p:nvPr/>
          </p:nvSpPr>
          <p:spPr>
            <a:xfrm>
              <a:off x="2805050" y="263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8" name="Google Shape;398;p34"/>
            <p:cNvSpPr/>
            <p:nvPr/>
          </p:nvSpPr>
          <p:spPr>
            <a:xfrm>
              <a:off x="2634386" y="44561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9" name="Google Shape;399;p34"/>
            <p:cNvSpPr/>
            <p:nvPr/>
          </p:nvSpPr>
          <p:spPr>
            <a:xfrm>
              <a:off x="770511" y="39365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0" name="Google Shape;400;p34"/>
            <p:cNvSpPr/>
            <p:nvPr/>
          </p:nvSpPr>
          <p:spPr>
            <a:xfrm>
              <a:off x="770511" y="37064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401" name="Google Shape;401;p34"/>
          <p:cNvSpPr txBox="1"/>
          <p:nvPr/>
        </p:nvSpPr>
        <p:spPr>
          <a:xfrm>
            <a:off x="8854201" y="5162812"/>
            <a:ext cx="692400" cy="11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E2DD26-B17A-503C-A9CA-D2B6DDAE5AF0}"/>
              </a:ext>
            </a:extLst>
          </p:cNvPr>
          <p:cNvSpPr txBox="1"/>
          <p:nvPr/>
        </p:nvSpPr>
        <p:spPr>
          <a:xfrm>
            <a:off x="5387008" y="2407058"/>
            <a:ext cx="641192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What was the most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6000" dirty="0">
                <a:solidFill>
                  <a:schemeClr val="accent5">
                    <a:lumMod val="5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confusing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part of today's lab?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en-US" sz="16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ay 6">
  <a:themeElements>
    <a:clrScheme name="Simple Light">
      <a:dk1>
        <a:srgbClr val="E7E7E7"/>
      </a:dk1>
      <a:lt1>
        <a:srgbClr val="10111A"/>
      </a:lt1>
      <a:dk2>
        <a:srgbClr val="FD4A4A"/>
      </a:dk2>
      <a:lt2>
        <a:srgbClr val="EC7955"/>
      </a:lt2>
      <a:accent1>
        <a:srgbClr val="E81A81"/>
      </a:accent1>
      <a:accent2>
        <a:srgbClr val="94EE6B"/>
      </a:accent2>
      <a:accent3>
        <a:srgbClr val="4CAE97"/>
      </a:accent3>
      <a:accent4>
        <a:srgbClr val="BD64B5"/>
      </a:accent4>
      <a:accent5>
        <a:srgbClr val="FFFF99"/>
      </a:accent5>
      <a:accent6>
        <a:srgbClr val="2C293A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y 6" id="{035ED6D3-E824-4B6B-AAF7-CA8C606A2217}" vid="{7F810BC9-F9DE-4B77-994F-C9059B10EE5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884</Words>
  <Application>Microsoft Office PowerPoint</Application>
  <PresentationFormat>Widescreen</PresentationFormat>
  <Paragraphs>142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Arial</vt:lpstr>
      <vt:lpstr>Bebas Neue</vt:lpstr>
      <vt:lpstr>Calibri</vt:lpstr>
      <vt:lpstr>Comfortaa</vt:lpstr>
      <vt:lpstr>Fira Code</vt:lpstr>
      <vt:lpstr>Nunito Light</vt:lpstr>
      <vt:lpstr>PT Sans</vt:lpstr>
      <vt:lpstr>Source Code Pro</vt:lpstr>
      <vt:lpstr>Source Code Pro Medium</vt:lpstr>
      <vt:lpstr>Office 主题</vt:lpstr>
      <vt:lpstr>day 6</vt:lpstr>
      <vt:lpstr>Artificial Intelligence (Machine Learning &amp; Deep Learning)</vt:lpstr>
      <vt:lpstr>Contents of Day 28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Your Focus Today!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Master Mind</dc:creator>
  <cp:lastModifiedBy>joyiashab267@gmail.com</cp:lastModifiedBy>
  <cp:revision>33</cp:revision>
  <dcterms:created xsi:type="dcterms:W3CDTF">2026-03-05T18:59:57Z</dcterms:created>
  <dcterms:modified xsi:type="dcterms:W3CDTF">2026-04-19T14:28:40Z</dcterms:modified>
</cp:coreProperties>
</file>