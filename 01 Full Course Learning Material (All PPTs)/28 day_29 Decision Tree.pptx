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9" r:id="rId16"/>
    <p:sldId id="25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309147" y="4443531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Decision Tree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</a:t>
            </a:r>
            <a:r>
              <a:rPr lang="en">
                <a:solidFill>
                  <a:schemeClr val="accent4"/>
                </a:solidFill>
              </a:rPr>
              <a:t>Day 29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367406096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Decision Tree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 err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Tree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Terminology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Gini Impurity</a:t>
                      </a:r>
                    </a:p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Entropy</a:t>
                      </a:r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a Decision Tree?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Decision</a:t>
            </a:r>
            <a:r>
              <a:rPr lang="en-US" sz="1400" b="1" dirty="0">
                <a:solidFill>
                  <a:srgbClr val="4CAE9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makes decisions by asking questions step by step.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Exactly like a game of 20 questions.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Is this email spam?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Does it contain "free"? → Yes → probably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spam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Does it contain "meeting"? → No → probably ham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question is called a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Final answer boxes are called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Leaves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path from top to bottom is called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Branch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AC1E2-3D1E-FF64-746B-4121D509AB77}"/>
              </a:ext>
            </a:extLst>
          </p:cNvPr>
          <p:cNvSpPr txBox="1"/>
          <p:nvPr/>
        </p:nvSpPr>
        <p:spPr>
          <a:xfrm>
            <a:off x="5872053" y="2957171"/>
            <a:ext cx="61000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Decision Tree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aik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 </a:t>
            </a:r>
            <a:r>
              <a:rPr lang="en-US" b="1" i="0" dirty="0">
                <a:solidFill>
                  <a:srgbClr val="D6D5D4"/>
                </a:solidFill>
                <a:effectLst/>
                <a:latin typeface="pplxSerif"/>
              </a:rPr>
              <a:t>machine learning model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 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jo data par “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haan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/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na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” type questions pooch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kar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aakhri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mein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prediction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karta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, is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liye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isko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AI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mein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decision‑making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ke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liye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use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karte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hain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.</a:t>
            </a:r>
          </a:p>
          <a:p>
            <a:pPr algn="l">
              <a:buNone/>
            </a:pPr>
            <a:endParaRPr lang="en-US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Simple definition (AI / ML)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Decision Tree supervised learning algorithm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jo classification (spam vs not‑spam, win vs lose) aur regression (price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kitna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hoga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) dono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ke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liye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use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hota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.</a:t>
            </a:r>
          </a:p>
          <a:p>
            <a:pPr algn="l"/>
            <a:endParaRPr lang="en-US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Structure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bilkul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ulta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latka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hua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tree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jaisa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hota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hai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: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upar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root node (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pehla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sawal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), beech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mein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internal nodes (aur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sawalat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), </a:t>
            </a:r>
            <a:r>
              <a:rPr lang="en-US" b="0" i="0" dirty="0" err="1">
                <a:solidFill>
                  <a:srgbClr val="D6D5D4"/>
                </a:solidFill>
                <a:effectLst/>
                <a:latin typeface="pplxSerif"/>
              </a:rPr>
              <a:t>neechay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leaf nodes (final prediction / class)</a:t>
            </a:r>
          </a:p>
        </p:txBody>
      </p:sp>
      <p:pic>
        <p:nvPicPr>
          <p:cNvPr id="1026" name="Picture 2" descr="Decision tree diagram illustrating Titanic passenger survival based on gender, age, and number of siblings/spouses aboard (sibsp).">
            <a:extLst>
              <a:ext uri="{FF2B5EF4-FFF2-40B4-BE49-F238E27FC236}">
                <a16:creationId xmlns:a16="http://schemas.microsoft.com/office/drawing/2014/main" id="{1548A3C7-0CC8-7CB8-56A8-73D50C900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443" y="4015089"/>
            <a:ext cx="2666389" cy="275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Tree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Decision Tree has the same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Root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Node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the very first question at the top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Internal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Nodes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questions in the middle of the tree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Branches → paths between questions (yes/no answers)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Leaves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final answer boxes at the bottom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Depth → how many levels of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questions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tree has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Depth 1 tree → asks 1 question → 2 possible answers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Depth 3 tree → asks up to 3 questions → up to 8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How Does the Tree Decide Which Question to 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tree tries every possible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question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every feature.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picks the question that creates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purest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groups.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Pure group = all points belong 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class.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Question A: "age &gt; 30" → 60% spam, 40% ham →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impure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Question B: "contains free" → 95% spam, 5% ham → pure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always picks Question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it gives cleaner groups.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ways to measure purity: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Entropy.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Gini Impurity - Measuring Purity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how mixed a group is.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Gini = 1 - (p₀² + p₁²)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p₀ = proportion of class 0 in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node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p₁ = proportion of class 1 in the node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Pure node (all spam):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(1.0² + 0.0²) =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.0 → perfect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50/50 mixed node: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(0.5² + 0.5²) =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.5 → worst case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always picks the split with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lowest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Gini score.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Entropy and Information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another way to measure disorder in a node.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Entropy = -Σ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log₂(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Pure node:   Entropy = 0.0 →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zero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disorder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50/50 node:  Entropy = 1.0 → maximum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disorder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Information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how much entropy drops after the split: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IG = Entropy(parent) - average Entropy(children)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picks the split with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highest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Information Gain.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is faster. Entropy is slightly more accurate.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sklearn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default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Both give similar results.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Overfitting - The Biggest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tree with no limits grows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forever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keeps splitting until every leaf has ONE sample.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accuracy →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100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%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Test accuracy →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60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% (disaster)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called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tree memorized training data instead of learning patterns.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Visual sign: a tree with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hundreds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levels.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sign: huge gap between train accuracy and test accuracy.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control how deep the tree can grow.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Controlling Tree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Three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prevent overfitting in Decision Trees.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BD64B5"/>
                </a:solidFill>
                <a:latin typeface="Source Code Pro"/>
              </a:rPr>
              <a:t>max_depth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maximum number of levels allowed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Start with 3 to 5. Increase slowly if needed.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94EE6B"/>
                </a:solidFill>
                <a:latin typeface="Source Code Pro"/>
              </a:rPr>
              <a:t>min_samples_split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minimum samples needed to split a node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Higher = simpler tree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81A81"/>
                </a:solidFill>
                <a:latin typeface="Source Code Pro"/>
              </a:rPr>
              <a:t>min_samples_leaf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minimum samples required in a leaf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Prevents tiny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leaves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memorize one training sample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DecisionTreeClassifier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max_depth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=5,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min_samples_split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=10,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min_samples_leaf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=5)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Decision Trees reveal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which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features matter most.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training, check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feature_importances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_: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importances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</a:t>
            </a:r>
            <a:r>
              <a:rPr sz="1400" b="1" dirty="0" err="1">
                <a:solidFill>
                  <a:srgbClr val="94EE6B"/>
                </a:solidFill>
                <a:latin typeface="Source Code Pro"/>
              </a:rPr>
              <a:t>feature_importances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_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name, score in zip(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importances):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print(f"{name}: {score:.3f}")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How importance is calculated: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How many times the feature was used 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split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How much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dropped each time it was used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Weighted by number of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samples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that node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Higher score = feature was more useful for making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Visualizing the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Decision Trees can be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printed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text or drawn as a diagram.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format: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BD64B5"/>
                </a:solidFill>
                <a:latin typeface="Source Code Pro"/>
              </a:rPr>
              <a:t>export_text</a:t>
            </a:r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export_text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(model,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Visual diagram: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plot_tree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plot_tree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(model,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filled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=True,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class_names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=['Ham', 'Spam'])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box shows: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used, Gini score, samples count.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Color shows which class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dominates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node.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Decision Tree Pros and 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Advantages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Decision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Extremely easy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visualize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explain to anyone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 need to scale or normalize features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Handles both numbers and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naturally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Shows which features are most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important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Disadvantages: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Prone to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without depth control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Small change in data → completely different tree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Weaker alone → much better inside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RandomForest</a:t>
            </a:r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Rule: Decision Tree is always your first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baseline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Gini Impurity - Full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how mixed a group is. 0 = pure. 0.5 = worst.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Gini = 1 - (p₀² + p₁²)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What is p₀ and p₁?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p₀ =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proportion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of class 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(count of class 0) / (total samples)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p₁ =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proportion</a:t>
            </a:r>
            <a:r>
              <a:rPr sz="1400" dirty="0">
                <a:solidFill>
                  <a:schemeClr val="accent1"/>
                </a:solidFill>
                <a:latin typeface="Source Code Pro"/>
              </a:rPr>
              <a:t> of class 1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 (count of class 1) / (total samples)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Example 1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 Pure node (10 spam, 0 ham = 10 total):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p₀ = 10/10 = 1.0   p₁ = 0/10 = 0.0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(1.0² + 0.0²) = 1 - (1.0 + 0.0) =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.0 → perfect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Example 2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 Mixed node (5 spam, 5 ham = 10 total):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p₀ = 5/10 = 0.5    p₁ = 5/10 = 0.5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(0.5² + 0.5²) = 1 - (0.25 + 0.25) =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.5 → worst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Example 3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 Mostly spam (8 spam, 2 ham = 10 total):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p₀ = 8/10 = 0.8    p₁ = 2/10 = 0.2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(0.8² + 0.2²) = 1 - (0.64 + 0.04) =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.32 → okay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always picks the split with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lowest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Gini score.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4D0D88-9DF0-142A-3049-C9DCC1650968}"/>
              </a:ext>
            </a:extLst>
          </p:cNvPr>
          <p:cNvSpPr txBox="1"/>
          <p:nvPr/>
        </p:nvSpPr>
        <p:spPr>
          <a:xfrm>
            <a:off x="258555" y="1708982"/>
            <a:ext cx="76305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Example 3 </a:t>
            </a: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- Mostly spam (8 spam, 2 ham = 10 total):</a:t>
            </a:r>
          </a:p>
          <a:p>
            <a:r>
              <a:rPr lang="en-US" sz="1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p_spam</a:t>
            </a: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0.8    </a:t>
            </a:r>
            <a:r>
              <a:rPr lang="en-US" sz="1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p_ham</a:t>
            </a: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0.2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Entropy = -(0.8 × log₂(0.8) + 0.2 × log₂(0.2))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= -(0.8 × -0.322 + 0.2 × -2.322) = 0.722</a:t>
            </a:r>
          </a:p>
          <a:p>
            <a:endParaRPr lang="en-U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U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400" b="1" dirty="0">
                <a:solidFill>
                  <a:srgbClr val="00B0F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Information Gain</a:t>
            </a:r>
            <a:r>
              <a:rPr lang="en-US" sz="1400" dirty="0">
                <a:solidFill>
                  <a:srgbClr val="00B0F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= Entropy(parent) - average Entropy(children)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Parent has 10 emails (Entropy = 0.971)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Split → Left: 8 spam 0 ham → Entropy = 0.0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→ Right: 2 spam 5 ham → Entropy = 0.863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IG = 0.971 - ((8/10 × 0.0) + (2/10 × 0.863)) = 0.971 - 0.173 = 0.798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Higher IG = better split. Tree picks this split.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1539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Bebas Neue</vt:lpstr>
      <vt:lpstr>Calibri</vt:lpstr>
      <vt:lpstr>Comfortaa</vt:lpstr>
      <vt:lpstr>Fira Code</vt:lpstr>
      <vt:lpstr>Nunito Light</vt:lpstr>
      <vt:lpstr>pplxSerif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29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joyiashab267@gmail.com</cp:lastModifiedBy>
  <cp:revision>55</cp:revision>
  <dcterms:created xsi:type="dcterms:W3CDTF">2026-03-05T18:59:57Z</dcterms:created>
  <dcterms:modified xsi:type="dcterms:W3CDTF">2026-04-19T14:19:25Z</dcterms:modified>
</cp:coreProperties>
</file>