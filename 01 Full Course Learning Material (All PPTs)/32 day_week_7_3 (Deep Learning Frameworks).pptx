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1"/>
  </p:notesMasterIdLst>
  <p:sldIdLst>
    <p:sldId id="258" r:id="rId3"/>
    <p:sldId id="257" r:id="rId4"/>
    <p:sldId id="275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305" r:id="rId23"/>
    <p:sldId id="306" r:id="rId24"/>
    <p:sldId id="307" r:id="rId25"/>
    <p:sldId id="308" r:id="rId26"/>
    <p:sldId id="309" r:id="rId27"/>
    <p:sldId id="310" r:id="rId28"/>
    <p:sldId id="311" r:id="rId29"/>
    <p:sldId id="259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60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99B2F-13C3-4916-9AE2-773954F7FF95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2A58F-A9F4-4EDD-94B3-A9547EE99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07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510CBC-CBD4-7FA5-5018-FDCB3BD85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D33713A-80D5-8FCF-C31F-CBCBB27531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DEF5084-F53F-BF3C-FDE4-1399D44B45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3037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E530A6E-4ED8-E9CF-A35E-5E4D5D6A7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9B113993-6107-7FFF-7333-55BA15A75E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BE5FD32-9CB6-EE0E-E53B-C1546F2140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6053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56E969B7-6F75-CE90-6A16-984ED28ED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C2E1510-867B-EB03-A300-F1FF4F9CD9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150C90C2-45B3-8425-5F47-78C518C557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7037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D3114DA-BBD7-ED99-D76A-70912B434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5FCC17A-30CA-2550-B49F-03F6CB98C7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85F304B-CCA3-9440-F724-E5B6DA9A3D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4278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D8B0565-75A3-F535-0EA8-CC2E522A6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12EBAE-AE71-8F9C-3EDD-372B78F6BF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8FF6ED5-8345-F226-24C5-877E114CC1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7176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6CA1DB0C-82FE-C63B-FB02-FE7343001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8014724-6500-186E-0FD8-AD929F82C7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54D8D34E-7C9D-7CA7-FCF1-B146CA37E8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5602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CB25CC-BC15-9B8A-E286-AE800567E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51D05371-8019-5763-9498-1212B58F9E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2B6F66A-6261-792A-D532-768F2C741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71080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E7DDBF9-1A5A-33F1-D0CB-13C465ACF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E2A10DB2-44B2-D632-706E-C49D0AF33B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C33AAC0D-1E59-5DAF-B0EC-E6232E7B42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080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8AE23D3-3AFA-700B-BA11-278ABED8F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15BBAB68-F5FC-8041-9989-0179F5EB1D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30AEDA3A-5C2C-0247-72B0-33E810FD3E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5422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8A2789B-3A5F-2984-7DE6-35BCAB9E7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B830D0-39EC-C6DA-D645-890B9D7369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757FDA8D-6E02-AEEE-EFD4-34AA6DCC34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33915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272C0525-07DB-3B26-898F-57C09690B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84D538AC-FD26-FA97-8B41-167C897F37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96F463FA-6E68-A106-C48D-FEAFEE5E4E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508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7C98704-AB38-C5CE-1952-C0899088E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F8234D1-F285-BBBF-70A9-FCBA699CF3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EEAE7EA-73AE-4897-C74A-204FAE75DE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48983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880650F-860B-A929-93DE-2214F7A22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2550BE7-95E6-5E35-6B78-A560FFE96B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E45347D-6EC2-214D-4A46-8A316500A5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63285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1F74EAF-512E-545B-1219-E035D8C69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7B3A5979-972B-62D2-9C5D-FEF155034E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03462FA-6685-7879-A088-AE9EFB0AB4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67033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9E90E776-8815-E979-51A4-A3D12AD72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6B016115-0E07-F4BC-D24B-C4FA4C9C17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0644ECD-21BF-9BA8-11D6-E2EF56CC31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36520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C0BB458-3BE5-0878-CC6F-AEF439103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B61A955E-17B3-FACA-A27C-69B619149C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D4F30843-E15E-75D1-2ECC-A72F6BCA7A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620678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578D44AB-36DE-59C8-59FE-B79ADB027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E468273-DB0D-6CFB-4D86-5EF75A901D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33ACE41F-76CE-1C9D-4E61-24574D90B5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45431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2533ED8-A19E-3C1D-E238-BE2F564E7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6216B74-07A8-3103-2057-1C2C504B10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D321187-28B2-F976-48E6-F43F186DBE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768966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6266D6F-821B-F616-E1A1-588D9E71B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EFB8CC54-157E-2335-B763-0BAF37FD16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5419230F-DAFB-F7C1-8C46-07396AFE8C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77730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3F6FFB6-D5DD-3312-E448-7771105B7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77BE4343-2CC7-50BC-EADB-89449244CF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2D106C40-2EA3-3D34-9B66-5EC6D31892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596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80DEDFDA-8E45-EB32-BC0B-0328E9ECB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33FE1F80-FDE1-CB83-49B6-20B8D89D4A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58AB297-99FA-B996-EA45-039F4F237C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17165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88F5A01-CC2F-7EB9-CA6D-6FCF69411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6E79AAF8-289E-727D-E260-67F864D545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426CAA68-8A83-5F6A-0669-EAB0C698D7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17877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3B9D76F-BCFD-8A4E-A6BD-573B65539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D193BC2-C038-A9EC-E722-38C11AC27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4DC1DFC-806B-0DDA-2EB1-ABC3435830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479962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90CFB86-0C6E-DB33-7D0F-804F2CB10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DAEDEF9F-8C72-41B5-8795-B7A1753912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F9B30C8B-A4AB-4A91-1DB9-0BDA9CAC1E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72665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14819E7-FDC4-D84C-8428-A15B63B52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61F37266-45C6-DF3E-CE65-BB0D1C4C60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26061031-9D7A-1670-7A7D-8E3C70E50F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3901464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8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78688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600"/>
            </a:lvl1pPr>
            <a:lvl2pPr marL="1219140" lvl="1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09" lvl="2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278" lvl="3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848" lvl="4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418" lvl="5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6987" lvl="6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557" lvl="7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126" lvl="8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4056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4302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7296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88490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248036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635696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4051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373016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765395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218112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2076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49317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35239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61005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306908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752964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922488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448289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36840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1187346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6" y="595001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9241422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1453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93127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2085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028760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dirty="0"/>
              <a:t>Artificial Intelligence</a:t>
            </a:r>
            <a:br>
              <a:rPr lang="en-US" sz="6000" dirty="0"/>
            </a:br>
            <a:r>
              <a:rPr lang="en" sz="2800" dirty="0">
                <a:solidFill>
                  <a:schemeClr val="accent4"/>
                </a:solidFill>
              </a:rPr>
              <a:t>(Machine Learning &amp; Deep Learning)</a:t>
            </a:r>
            <a:endParaRPr sz="28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217849" y="4370325"/>
            <a:ext cx="8487720" cy="5670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200" dirty="0"/>
              <a:t>Deep Learning API</a:t>
            </a:r>
          </a:p>
          <a:p>
            <a:pPr marL="0" indent="0"/>
            <a:r>
              <a:rPr lang="en-US" sz="1200" dirty="0"/>
              <a:t>(TensorFlow, PyTorch, </a:t>
            </a:r>
            <a:r>
              <a:rPr lang="en-US" sz="1200" dirty="0" err="1"/>
              <a:t>Keras</a:t>
            </a:r>
            <a:r>
              <a:rPr lang="en-US" sz="1200" dirty="0"/>
              <a:t>)</a:t>
            </a:r>
          </a:p>
        </p:txBody>
      </p:sp>
      <p:sp>
        <p:nvSpPr>
          <p:cNvPr id="240" name="Google Shape;240;p31"/>
          <p:cNvSpPr txBox="1"/>
          <p:nvPr/>
        </p:nvSpPr>
        <p:spPr>
          <a:xfrm>
            <a:off x="2796400" y="761333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450667" y="53359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796500" y="5477887"/>
            <a:ext cx="1930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94EE6B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94EE6B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340175" y="928586"/>
            <a:ext cx="3170543" cy="5210084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Contents </a:t>
            </a:r>
            <a:r>
              <a:rPr lang="en" dirty="0">
                <a:solidFill>
                  <a:schemeClr val="accent4"/>
                </a:solidFill>
              </a:rPr>
              <a:t>of Week 7 – Day 3</a:t>
            </a:r>
            <a:br>
              <a:rPr lang="en" dirty="0">
                <a:solidFill>
                  <a:schemeClr val="accent4"/>
                </a:solidFill>
              </a:rPr>
            </a:br>
            <a:endParaRPr dirty="0">
              <a:solidFill>
                <a:schemeClr val="accent4"/>
              </a:solidFill>
            </a:endParaRPr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2155408397"/>
              </p:ext>
            </p:extLst>
          </p:nvPr>
        </p:nvGraphicFramePr>
        <p:xfrm>
          <a:off x="968901" y="2328148"/>
          <a:ext cx="10272000" cy="356329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2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5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Moving from Python OOP to Data Science. Why AI needs data.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5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Introduction and implementation of neural</a:t>
                      </a: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networks using appropriate deep learning API</a:t>
                      </a: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of choice (TensorFlow, PyTorch, </a:t>
                      </a:r>
                      <a:r>
                        <a:rPr lang="en-US" sz="1300" b="1" dirty="0" err="1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Keras</a:t>
                      </a: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)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5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implementing method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5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Understanding the logic with real world examples.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5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Debugging tips along with Q&amp;A and suggestion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951099" y="5523067"/>
            <a:ext cx="408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478E5AC7-4524-6A51-8B39-8D8899921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Why Use Deep Learning Frameworks?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Building a neural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network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from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scratch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possible but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painful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You'd manually code: forward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pass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backpropagation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gradient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descent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weight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updates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Hundreds of lines just to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train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one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model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Deep learning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frameworks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TensorFlow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PyTorch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 err="1">
                <a:solidFill>
                  <a:srgbClr val="E7E7E7"/>
                </a:solidFill>
                <a:latin typeface="Source Code Pro"/>
              </a:rPr>
              <a:t>Keras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 do this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automatically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Result: Write 10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lines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of code, get a trained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network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Focus on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architecture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not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plumbing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0154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FAE09901-1EA4-1281-E9D0-75400B034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TensorFlow vs PyTorch vs Keras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TensorFlow 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Google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Production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workhorse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Powers Gmail, Photos, YouTube.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Steeper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learning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curve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Verbose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syntax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Best for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production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deployment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PyTorch (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Meta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/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Facebook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Beloved by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researchers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Pythonic, intuitive.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Easier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debugging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Dynamic computation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graphs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Growing in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production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Tesla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OpenAI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Keras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High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-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level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API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Runs on top of TensorFlow (now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integrated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Simplest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syntax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Perfect for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learning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tf.keras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the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recommended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way to use TensorFlow.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Use: </a:t>
            </a:r>
            <a:r>
              <a:rPr sz="1400" b="1" dirty="0" err="1">
                <a:solidFill>
                  <a:srgbClr val="E7E7E7"/>
                </a:solidFill>
                <a:latin typeface="Source Code Pro"/>
              </a:rPr>
              <a:t>Keras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learning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PyTorch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research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TensorFlow for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production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4333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93EF743-37DF-61A5-E507-BEE9CB679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Keras vs tf.keras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Keras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(standalone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library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Older, less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maintained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Works with TensorFlow, Theano, CNTK.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tf.keras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(inside TensorFlow):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Modern, fully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integrated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with TensorFlow.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Official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recommended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API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- Better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performance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more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features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Use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tf.keras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Always. It's the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future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6680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DDBB3FB-1E1D-5346-0FB9-55028EA8A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Installation - Get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Terminal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command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install TensorFlow (includes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tf.keras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):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pip install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tensorflow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Verify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installation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python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import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tensorflow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as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tf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print(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tf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.__version__)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If it prints a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version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like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2.13.0), you're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good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!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Optional: GPU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support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(CUDA,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cuDNN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 for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faster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training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graphics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cards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Start with CPU for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learning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74017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EC5CC58-C86D-B3EF-39BE-FB3282AB8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Core Concepts - Tensors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 Tensor is just a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multidimensional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array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Scalar: single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number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Shape: ()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Example: 5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Vector: 1D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array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Shape: (3,)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Example: [1, 2, 3]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Matrix: 2D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array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Shape: (2, 3)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Example: [[1, 2, 3], [4, 5, 6]]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Tensor: 3D+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array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Shape: (batch, height, width)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Example: Images (32, 28, 28) = 32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images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of 28×28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pixels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TensorFlow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works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with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tensors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automatically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Don't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overthink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it.</a:t>
            </a:r>
          </a:p>
        </p:txBody>
      </p:sp>
    </p:spTree>
    <p:extLst>
      <p:ext uri="{BB962C8B-B14F-4D97-AF65-F5344CB8AC3E}">
        <p14:creationId xmlns:p14="http://schemas.microsoft.com/office/powerpoint/2010/main" val="3483430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4F5C0FC-1DBC-A7CC-FAC6-09829C351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2591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The Three Steps of Any Neural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1: Define the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model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architecture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"I want 2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hidden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layers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with 64 and 32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neurons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."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2: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Compile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the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model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"Use Adam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optimizer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Cross-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Entropy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loss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."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3: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Train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the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model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"Train on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data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 10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epochs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with </a:t>
            </a:r>
            <a:r>
              <a:rPr sz="1400" b="1" dirty="0" err="1">
                <a:solidFill>
                  <a:srgbClr val="E7E7E7"/>
                </a:solidFill>
                <a:latin typeface="Source Code Pro"/>
              </a:rPr>
              <a:t>batch_size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=32."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That's it!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Framework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handles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backpropagation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721575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7C055C9-C156-1F68-35AF-7995F54AF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Building Your First Network - Import Libraries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Import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libraries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import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tensorflow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as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tf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from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tensorflow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import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keras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from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tensorflow.keras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import layers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import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numpy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as np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tf.keras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the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high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-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level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API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layers = where Dense,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Dropout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etc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live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numpy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for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data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handling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83934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F3C24B5-FA2A-A20C-CFEF-E96090FCD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Building Your First Network - Define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model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keras.Sequential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([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layers.Dense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(128, activation='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relu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input_shape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=(784,)),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layers.Dropout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(0.2),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layers.Dense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(64, activation='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relu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'),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layers.Dropout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(0.2),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layers.Dense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(10, activation='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softmax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])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Sequential = stack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layers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linearly, one after another.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Dense(128) = 128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neurons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fully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connected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activation='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relu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ReLU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activation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function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Dropout(0.2) = randomly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disable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20% of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neurons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during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training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input_shape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=(784,) =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input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784-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dimensional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(e.g., 28×28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pixel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image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flattened).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Output Dense(10) = 10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neurons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 10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classes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(MNIST digits 0-9).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activation='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softmax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 =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multiclass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probability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4674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27396EA-B3CB-5765-A2BF-6067CF0C0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Compiling 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model.compile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optimizer='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adam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',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loss='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sparse_categorical_crossentropy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',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metrics=['accuracy']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optimizer='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adam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 = Adam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optimizer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Automatically computes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gradients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updates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weights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loss='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sparse_categorical_crossentropy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 =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loss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function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multiclass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classification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Use this when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labels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are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integers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(0, 1, 2, ..., 9).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Use 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categorical_crossentropy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 when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labels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are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encoded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metrics=['accuracy'] =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track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accuracy during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training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No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backpropagation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code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needed. TensorFlow does it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automatically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820022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2B9FC64-41CB-FD68-6031-A0DC2CA1A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9" y="365760"/>
            <a:ext cx="103037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Training the Model - fit()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history = model.fit(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  x_train, y_train,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  epochs=10,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  batch_size=32,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  validation_split=0.2,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  verbose=1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endParaRPr sz="140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x_train =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training</a:t>
            </a:r>
            <a:r>
              <a:rPr sz="140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data</a:t>
            </a:r>
            <a:r>
              <a:rPr sz="1400">
                <a:solidFill>
                  <a:srgbClr val="E7E7E7"/>
                </a:solidFill>
                <a:latin typeface="Source Code Pro"/>
              </a:rPr>
              <a:t> (images).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y_train =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training</a:t>
            </a:r>
            <a:r>
              <a:rPr sz="140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labels</a:t>
            </a:r>
            <a:r>
              <a:rPr sz="1400">
                <a:solidFill>
                  <a:srgbClr val="E7E7E7"/>
                </a:solidFill>
                <a:latin typeface="Source Code Pro"/>
              </a:rPr>
              <a:t> (correct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digits</a:t>
            </a:r>
            <a:r>
              <a:rPr sz="140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epochs=10 = loop through all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data</a:t>
            </a:r>
            <a:r>
              <a:rPr sz="1400">
                <a:solidFill>
                  <a:srgbClr val="E7E7E7"/>
                </a:solidFill>
                <a:latin typeface="Source Code Pro"/>
              </a:rPr>
              <a:t> 10 </a:t>
            </a:r>
            <a:r>
              <a:rPr sz="1400" b="1">
                <a:solidFill>
                  <a:srgbClr val="94EE6B"/>
                </a:solidFill>
                <a:latin typeface="Source Code Pro"/>
              </a:rPr>
              <a:t>times</a:t>
            </a:r>
            <a:r>
              <a:rPr sz="140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batch_size=32 = process 32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samples</a:t>
            </a:r>
            <a:r>
              <a:rPr sz="1400">
                <a:solidFill>
                  <a:srgbClr val="E7E7E7"/>
                </a:solidFill>
                <a:latin typeface="Source Code Pro"/>
              </a:rPr>
              <a:t> per weight </a:t>
            </a:r>
            <a:r>
              <a:rPr sz="1400" b="1">
                <a:solidFill>
                  <a:srgbClr val="FD4A4A"/>
                </a:solidFill>
                <a:latin typeface="Source Code Pro"/>
              </a:rPr>
              <a:t>update</a:t>
            </a:r>
            <a:r>
              <a:rPr sz="140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validation_split=0.2 = hold back 20% for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validation</a:t>
            </a:r>
            <a:r>
              <a:rPr sz="140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verbose=1 = print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progress</a:t>
            </a:r>
            <a:r>
              <a:rPr sz="140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>
                <a:solidFill>
                  <a:srgbClr val="BD64B5"/>
                </a:solidFill>
                <a:latin typeface="Source Code Pro"/>
              </a:rPr>
              <a:t>bar</a:t>
            </a:r>
            <a:r>
              <a:rPr sz="1400">
                <a:solidFill>
                  <a:srgbClr val="E7E7E7"/>
                </a:solidFill>
                <a:latin typeface="Source Code Pro"/>
              </a:rPr>
              <a:t> and </a:t>
            </a:r>
            <a:r>
              <a:rPr sz="1400" b="1">
                <a:solidFill>
                  <a:srgbClr val="EC7955"/>
                </a:solidFill>
                <a:latin typeface="Source Code Pro"/>
              </a:rPr>
              <a:t>loss</a:t>
            </a:r>
            <a:r>
              <a:rPr sz="1400">
                <a:solidFill>
                  <a:srgbClr val="E7E7E7"/>
                </a:solidFill>
                <a:latin typeface="Source Code Pro"/>
              </a:rPr>
              <a:t> per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epoch</a:t>
            </a:r>
            <a:r>
              <a:rPr sz="140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Output: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Epoch 1/10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1875/1875 - 2s - loss: 0.35 - accuracy: 0.89 - val_loss: 0.15 - val_accuracy: 0.95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Epoch 2/10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...</a:t>
            </a: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  Epoch 10/10 - loss: 0.02 - accuracy: 0.99 - val_loss: 0.08 - val_accuracy: 0.97</a:t>
            </a:r>
          </a:p>
          <a:p>
            <a:pPr algn="l"/>
            <a:endParaRPr sz="140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>
                <a:solidFill>
                  <a:srgbClr val="E7E7E7"/>
                </a:solidFill>
                <a:latin typeface="Source Code Pro"/>
              </a:rPr>
              <a:t>Loss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decreases</a:t>
            </a:r>
            <a:r>
              <a:rPr sz="140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>
                <a:solidFill>
                  <a:srgbClr val="BD64B5"/>
                </a:solidFill>
                <a:latin typeface="Source Code Pro"/>
              </a:rPr>
              <a:t>accuracy</a:t>
            </a:r>
            <a:r>
              <a:rPr sz="140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increases</a:t>
            </a:r>
            <a:r>
              <a:rPr sz="1400">
                <a:solidFill>
                  <a:srgbClr val="E7E7E7"/>
                </a:solidFill>
                <a:latin typeface="Source Code Pro"/>
              </a:rPr>
              <a:t>. Model is </a:t>
            </a:r>
            <a:r>
              <a:rPr sz="1400" b="1">
                <a:solidFill>
                  <a:srgbClr val="E7E7E7"/>
                </a:solidFill>
                <a:latin typeface="Source Code Pro"/>
              </a:rPr>
              <a:t>learning</a:t>
            </a:r>
            <a:r>
              <a:rPr sz="1400">
                <a:solidFill>
                  <a:srgbClr val="E7E7E7"/>
                </a:solidFill>
                <a:latin typeface="Source Code Pro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839216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E327A70-EE1E-F9B1-7E12-EFB56B1C3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Making Predictions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predictions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model.predict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x_test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Output: Array of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probabilities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 each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sample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 (single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image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predictions[0] = [0.001, 0.002, 0.05, 0.92, 0.001, ...]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→ 92%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confident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it's a 3.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predicted_class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np.argmax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(predictions[0])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→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Returns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3 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highest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probability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593406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07031FE-2C94-6428-17AF-2EFF6FBAC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Evaluating 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test_loss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test_accuracy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model.evaluate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x_test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y_test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print(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f"Test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Accuracy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{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test_accuracy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*100:.2f}%")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Output: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Test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Accuracy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97.50%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Compare to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validation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accuracy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during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training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If test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accuracy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much lower →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Overfitting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If test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accuracy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similar → Generalization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working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012003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87B10FDB-0640-4185-E584-0FA956B0E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Common Layers - Dense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layers.Dense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(units, activation=None)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units = number of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neurons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 this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layer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activation = nonlinearity (</a:t>
            </a:r>
            <a:r>
              <a:rPr sz="1400" b="1" dirty="0" err="1">
                <a:solidFill>
                  <a:srgbClr val="E7E7E7"/>
                </a:solidFill>
                <a:latin typeface="Source Code Pro"/>
              </a:rPr>
              <a:t>relu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sigmoid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tanh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None).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layers.Dense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(128, activation='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relu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→ 128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neurons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with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ReLU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activation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Dense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layers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fully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connected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Every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neuron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connects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every input.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Most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common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layer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type.</a:t>
            </a:r>
          </a:p>
        </p:txBody>
      </p:sp>
    </p:spTree>
    <p:extLst>
      <p:ext uri="{BB962C8B-B14F-4D97-AF65-F5344CB8AC3E}">
        <p14:creationId xmlns:p14="http://schemas.microsoft.com/office/powerpoint/2010/main" val="2612402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AA81348-BCB2-291E-1676-C8F39ACAE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Common Layers - Dropout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layers.Dropout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(rate)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rate = fraction of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neurons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randomly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disable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during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training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(0.2 = 20%).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layers.Dropout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(0.5)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→ Randomly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disable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50% of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neurons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Why? Forces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network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learn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redundant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representations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Prevents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overfitting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Never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use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Dropout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on final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output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layer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796202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3952D5D7-F6E2-949D-ACAB-7F8E8A916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Common Layers - BatchNormalization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layers.BatchNormalization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Normalizes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inputs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the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layer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(zero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mean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unit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variance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layers.Dense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(128, activation='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relu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layers.BatchNormalization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Why? Stabilizes gradient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flow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Allows higher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learning_rates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Speeds up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training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Best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practice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use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before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activation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function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45972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514BACC-F5A4-1251-0F2E-8DC477A22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0807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Activation Functions - Which One?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ReLU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(recommended for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hidden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layers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activation='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relu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Fast, avoids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vanishing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gradients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Sigmoid (binary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classification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output):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activation='sigmoid'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Output: 0 to 1.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Softmax (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multiclass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classification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output):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activation='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softmax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Output: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probabilities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summing to 1.0.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Tanh 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alternative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ReLU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activation='tanh'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Output: -1 to 1.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Linear (no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activation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for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regression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activation=None or activation='linear'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Output: any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number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2962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B761B8A-AD39-74DB-CE21-C42C12BD7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Loss Functions - Which One?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Regression (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predicting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numbers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loss='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mean_squared_error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 → MSE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loss='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mean_absolute_error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 → MAE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Binary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Classification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predicting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0 or 1):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loss='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binary_crossentropy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FD4A4A"/>
                </a:solidFill>
                <a:latin typeface="Source Code Pro"/>
              </a:rPr>
              <a:t>Multiclass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Classification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predicting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1 of 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classes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loss='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categorical_crossentropy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 (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labels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are one-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hot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loss='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sparse_categorical_crossentropy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 (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labels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are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integers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Pick the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right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loss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faster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training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better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accuracy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051584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572B421A-7769-7140-1880-651036E88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Optimizers - How Weights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optimizer='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adam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 (recommended):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Adaptive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learning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rates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per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weight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Fast, stable, low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tuning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needed.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optimizer='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sgd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Stochastic Gradient Descent.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Simpler, but slower.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optimizer='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rmsprop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Good for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recurrent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networks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Most people use Adam. It just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works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69024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16972BC6-6524-83F5-C24E-C6D88F7D6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Metrics - Track What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metrics=['accuracy'] →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Classification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accuracy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metrics=['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mae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'] → Mean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Absolute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Error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regression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metrics=['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'] → Mean Squared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Error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regression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model.compile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  optimizer='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adam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',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  loss='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sparse_categorical_crossentropy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',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  metrics=['accuracy']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During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training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TensorFlow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computes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accuracy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Shows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progress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073467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EB399DED-1598-81F6-DE27-901E704CF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97796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Regularization - Prevent Overfitting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Dropout: Randomly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disable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neurons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L2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Regularization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layers.Dense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(128, activation='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relu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kernel_regularizer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=keras.regularizers.l2(0.001))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Early Stopping: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callbacks.EarlyStopping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(monitor='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val_loss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', patience=5,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restore_best_weights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=True)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Batch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Normalization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Stabilize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training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Use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multiple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Dropout + </a:t>
            </a:r>
            <a:r>
              <a:rPr sz="1400" b="1" dirty="0" err="1">
                <a:solidFill>
                  <a:srgbClr val="E7E7E7"/>
                </a:solidFill>
                <a:latin typeface="Source Code Pro"/>
              </a:rPr>
              <a:t>BatchNorm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+ Early Stopping = robust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model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863734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0C0ADA3A-242A-17CD-A1A7-820A8E55E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99691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Callbacks - Run Code During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EarlyStopping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stop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if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validation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loss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doesn't improve):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keras.callbacks.EarlyStopping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(monitor='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val_loss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', patience=5)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ModelCheckpoint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save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best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model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keras.callbacks.ModelCheckpoint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('best_model.h5', monitor='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val_accuracy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save_best_only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=True)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ReduceLROnPlateau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reduce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learning_rate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if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stuck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keras.callbacks.ReduceLROnPlateau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(monitor='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val_loss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', factor=0.5, patience=3)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Callbacks let you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automate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model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management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99271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3283F099-0F97-B6B9-F989-139BFAA89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2536" y="-113517"/>
            <a:ext cx="116469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Complete Example - MNIST Digit Recognition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2536" y="471258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import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tensorflow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as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tf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from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tensorflow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import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keras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from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tensorflow.keras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import layers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x_train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y_train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), 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x_test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y_test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keras.datasets.mnist.load_data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x_train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x_test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x_train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/ 255.0,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x_test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/ 255.0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model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keras.Sequential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([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layers.Flatten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input_shape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=(28, 28)),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layers.Dense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(128, activation='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relu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'),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layers.Dropout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(0.2),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layers.Dense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(64, activation='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relu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'),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layers.Dropout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(0.2),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layers.Dense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(10, activation='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softmax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])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model.compile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(optimizer='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adam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', loss='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sparse_categorical_crossentropy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', metrics=['accuracy'])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history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model.fit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x_train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y_train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epochs=10,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batch_size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=32,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validation_split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=0.2)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test_loss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test_accuracy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model.evaluate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x_test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y_test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print(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f"Test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Accuracy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{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test_accuracy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*100:.2f}%")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predictions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model.predict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x_test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[:5])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print("First 5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predictions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:",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predictions.argmax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(axis=1))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Result: 97-98%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accuracy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on test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data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6528468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1D811694-FB03-8F93-7A35-B487F5A81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Saving and Loading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Save a trained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model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model.save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('my_model.h5')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Load a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model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loaded_model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keras.models.load_model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('my_model.h5')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Make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predictions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with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loaded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model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predictions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loaded_model.predict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x_test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Never retrain. Just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load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use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506029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85C70654-2A9F-257A-1CFB-7E31D8209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3483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Custom Models - Beyond Sequential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Sequential is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simple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but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limited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For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complex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architectures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use Functional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API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inputs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keras.Input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(shape=(784,))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x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layers.Dense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(128, activation='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relu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')(inputs)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x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layers.Dropout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(0.2)(x)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x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layers.Dense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(64, activation='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relu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')(x)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outputs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layers.Dense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(10, activation='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softmax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')(x)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model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keras.Model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(inputs=inputs, outputs=outputs)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Benefits: Multiple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inputs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skip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connections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custom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layers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Advanced, but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powerful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844493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CFE52EE-A45E-390B-D365-1944DD8EA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878265"/>
            <a:ext cx="120879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Production Use - </a:t>
            </a:r>
            <a:r>
              <a:rPr sz="3200" b="0" dirty="0" err="1">
                <a:solidFill>
                  <a:srgbClr val="FFFFFF"/>
                </a:solidFill>
                <a:latin typeface="Source Code Pro"/>
              </a:rPr>
              <a:t>Hexora</a:t>
            </a:r>
            <a:r>
              <a:rPr sz="3200" b="0" dirty="0">
                <a:solidFill>
                  <a:srgbClr val="FFFFFF"/>
                </a:solidFill>
                <a:latin typeface="Source Code Pro"/>
              </a:rPr>
              <a:t> Recommendation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Hexora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uses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tf.keras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recommend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products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users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Model: 3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hidden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layers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256-128-64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neurons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ReLU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+ Dropout.</a:t>
            </a:r>
          </a:p>
          <a:p>
            <a:pPr algn="l"/>
            <a:r>
              <a:rPr sz="1400" b="1" dirty="0">
                <a:solidFill>
                  <a:srgbClr val="FD4A4A"/>
                </a:solidFill>
                <a:latin typeface="Source Code Pro"/>
              </a:rPr>
              <a:t>Training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50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epochs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 err="1">
                <a:solidFill>
                  <a:srgbClr val="E7E7E7"/>
                </a:solidFill>
                <a:latin typeface="Source Code Pro"/>
              </a:rPr>
              <a:t>batch_size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=64, Adam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optimizer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Validation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94%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accuracy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holdout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test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set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b="1" dirty="0">
                <a:solidFill>
                  <a:srgbClr val="E7E7E7"/>
                </a:solidFill>
                <a:latin typeface="Source Code Pro"/>
              </a:rPr>
              <a:t>Inference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&lt;50ms per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user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production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requirement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Deployment: Save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model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.h5,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serve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with Flask API.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Result: 2.3×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increase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click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-through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rate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18%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revenue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boost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Deployment: Save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model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.h5,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serve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with TensorFlow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Serving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or Flask.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Result: 2.3× increase in engagement, powers millions of predictions daily.</a:t>
            </a:r>
          </a:p>
        </p:txBody>
      </p:sp>
    </p:spTree>
    <p:extLst>
      <p:ext uri="{BB962C8B-B14F-4D97-AF65-F5344CB8AC3E}">
        <p14:creationId xmlns:p14="http://schemas.microsoft.com/office/powerpoint/2010/main" val="37627483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5662782" y="748501"/>
            <a:ext cx="5544039" cy="70641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1867" dirty="0"/>
              <a:t>Thank You for Your Focus Today!</a:t>
            </a:r>
            <a:endParaRPr sz="1867" dirty="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5459796" y="4751364"/>
            <a:ext cx="5608000" cy="17400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400" dirty="0"/>
              <a:t>Waleed Khan</a:t>
            </a:r>
            <a:br>
              <a:rPr lang="en-US" sz="1400" dirty="0"/>
            </a:br>
            <a:r>
              <a:rPr lang="en-US" sz="1400" dirty="0"/>
              <a:t>(</a:t>
            </a:r>
            <a:r>
              <a:rPr lang="en-US" sz="1200" dirty="0"/>
              <a:t>Robotics Engineer | Senior Python Developer)</a:t>
            </a:r>
            <a:br>
              <a:rPr lang="en-US" sz="1400" dirty="0"/>
            </a:br>
            <a:endParaRPr lang="en-US" sz="1400" dirty="0"/>
          </a:p>
          <a:p>
            <a:pPr marL="0" indent="0"/>
            <a:r>
              <a:rPr lang="en-US" sz="1400" dirty="0"/>
              <a:t>Email: 0xcloudcoder@gmail.com</a:t>
            </a:r>
            <a:br>
              <a:rPr lang="en-US" sz="1867" dirty="0"/>
            </a:br>
            <a:r>
              <a:rPr lang="en-US" sz="1400" dirty="0"/>
              <a:t>Contact: +923126008702</a:t>
            </a:r>
            <a:endParaRPr sz="1400" dirty="0"/>
          </a:p>
        </p:txBody>
      </p:sp>
      <p:sp>
        <p:nvSpPr>
          <p:cNvPr id="354" name="Google Shape;354;p34"/>
          <p:cNvSpPr txBox="1"/>
          <p:nvPr/>
        </p:nvSpPr>
        <p:spPr>
          <a:xfrm>
            <a:off x="11106533" y="53044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447523" y="928586"/>
            <a:ext cx="3909392" cy="5210084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8854201" y="5162812"/>
            <a:ext cx="692400" cy="11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E2DD26-B17A-503C-A9CA-D2B6DDAE5AF0}"/>
              </a:ext>
            </a:extLst>
          </p:cNvPr>
          <p:cNvSpPr txBox="1"/>
          <p:nvPr/>
        </p:nvSpPr>
        <p:spPr>
          <a:xfrm>
            <a:off x="5387008" y="2407058"/>
            <a:ext cx="64119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was the most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confusing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part of today's lab?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979797"/>
      </a:dk1>
      <a:lt1>
        <a:sysClr val="window" lastClr="1E1E1E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y 6" id="{035ED6D3-E824-4B6B-AAF7-CA8C606A2217}" vid="{7F810BC9-F9DE-4B77-994F-C9059B10EE5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979797"/>
      </a:dk1>
      <a:lt1>
        <a:sysClr val="window" lastClr="1E1E1E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2580</Words>
  <Application>Microsoft Office PowerPoint</Application>
  <PresentationFormat>Widescreen</PresentationFormat>
  <Paragraphs>410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9" baseType="lpstr">
      <vt:lpstr>Arial</vt:lpstr>
      <vt:lpstr>Bebas Neue</vt:lpstr>
      <vt:lpstr>Calibri</vt:lpstr>
      <vt:lpstr>Comfortaa</vt:lpstr>
      <vt:lpstr>Fira Code</vt:lpstr>
      <vt:lpstr>Nunito Light</vt:lpstr>
      <vt:lpstr>PT Sans</vt:lpstr>
      <vt:lpstr>Source Code Pro</vt:lpstr>
      <vt:lpstr>Source Code Pro Medium</vt:lpstr>
      <vt:lpstr>Office 主题</vt:lpstr>
      <vt:lpstr>day 6</vt:lpstr>
      <vt:lpstr>Artificial Intelligence (Machine Learning &amp; Deep Learning)</vt:lpstr>
      <vt:lpstr>Contents of Week 7 – Day 3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Focus Today!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Awais Qarni</cp:lastModifiedBy>
  <cp:revision>34</cp:revision>
  <dcterms:created xsi:type="dcterms:W3CDTF">2026-03-05T18:59:57Z</dcterms:created>
  <dcterms:modified xsi:type="dcterms:W3CDTF">2026-05-05T02:58:33Z</dcterms:modified>
</cp:coreProperties>
</file>