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25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YGILT182T6w?si=wPpk9Wuxa0WwcSZ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Convolutional Neural Network (CNN)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4 Week 8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765787793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Convolutional Neural Network (CNN)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2D CNN for image classification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1D CNN for text document classification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918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What is a Convolutional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6903" y="3599140"/>
            <a:ext cx="894372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CNN is a neural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optimized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sequential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Unlike 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(fully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connected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), CNNs use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convolutional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convolutional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slides a small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across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(edges, textures,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shapes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insight: Not every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connects to every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Only local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neighborhoods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Fewer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better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generalization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It is designed to process grid like data like image. They are standard for computer vision task.</a:t>
            </a:r>
          </a:p>
          <a:p>
            <a:r>
              <a:rPr lang="en-US" sz="1400" dirty="0">
                <a:solidFill>
                  <a:srgbClr val="E7E7E7"/>
                </a:solidFill>
                <a:latin typeface="Source Code Pro"/>
              </a:rPr>
              <a:t>Tutorial on CNN explanation: </a:t>
            </a:r>
            <a:r>
              <a:rPr lang="en-US" sz="1400" dirty="0">
                <a:solidFill>
                  <a:srgbClr val="E7E7E7"/>
                </a:solidFill>
                <a:latin typeface="Source Code Pro"/>
                <a:hlinkClick r:id="rId3"/>
              </a:rPr>
              <a:t>https://youtu.be/YGILT182T6w?si=wPpk9Wuxa0WwcSZ9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F4F46-486A-929B-1085-E433286A8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03" y="903221"/>
            <a:ext cx="5569097" cy="277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CNN Instead of Dense Layers?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28×28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28×28 = 784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inputs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 128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784×128 = 100,352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Still manageable.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224×224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224×224 = 50,176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inputs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 128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50,176×128 = 6,422,528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Too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many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CNN with 32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3×3: 3×3×32 = 288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Tiny!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CNNs: Share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across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everywhere.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Fewer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faster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less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better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Convolution Operation - 2D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(kernel) slides across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size: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typically,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3×3 or 5×5.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Stride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how many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pixels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time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Usually,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1.</a:t>
            </a: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Padding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add zeros around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edges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Preserves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(3×3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stride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=1):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Input: [[1,2,3,4], [5,6,7,8], [9,10,11,12], [13,14,15,16]]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Filter: [[1,0,-1], [2,0,-2], [1,0,-1]]  (edge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Position (0,0): sum of element-wise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multiply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input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= 1*1 + 2*2 + 1*3 + 0*5 + 0*6 + (-2)*7 + (-1)*9 + 0*10 + (-1)*11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= 1 + 4 + 3 + 0 + 0 - 14 - 9 + 0 - 11 = -26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Repeat for every position → output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produces one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Multiple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produce multiple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(e.g., 32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32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Convolution Formula - 2D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i,j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= Σ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Σ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Filter[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a,b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× Input[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i+a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j+b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+ bias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Variables: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i,j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=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position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i,j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in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map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Filter[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a,b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position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a,b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in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filter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i+a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j+b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=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pixel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a,b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loop over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dimensions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(e.g., 0-2 for 3×3)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bias = learnable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offset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this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filter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Stride &amp; Padding affect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Output_size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Input_size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Filter_size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+ 2*Padding) / Stride + 1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Input=28×28, Filter=5×5, Stride=1, Padding=0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Output_size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(28 - 5 + 0) / 1 + 1 = 24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Pooling Layers 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–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Down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convolution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use pooling to reduce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spatial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Max Pooling: Take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maximum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each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window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[[1,2], [3,4]] → Output: 4 (max of 1,2,3,4)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Average Pooling: Take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average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each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window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[[1,2], [3,4]] → Output: 2.5 (average)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Typical: 2×2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stride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=2.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Effect: Input 28×28 → Output 14×14. Half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pool? Reduces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computation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prevents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makes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robust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2D CNN Architecture for 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Typical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Conv2D(32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3×3) +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(2×2)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Conv2D(64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3×3) +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(2×2)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Conv2D(128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3×3) +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(2×2)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Flatten (convert to 1D vector)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Dense(128) +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Dropout(0.5)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Dense(10) + Softmax (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Flow: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 → extract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(edges)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→ extract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complex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→ extract high-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level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shapes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→ flatten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→ classify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increasingly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abstract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Stack Multiple Convolutional Layers?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Layer 1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 Detects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edges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Output features: 32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simple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Layer 2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 Combines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edges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Output: 64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complex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Layer 3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 Combines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shapes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Output: 128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detailed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Depth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builds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hierarchy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Low-level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edges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Mid-level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High-level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objects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convolutional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operation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Only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different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Hierarchical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extraction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Perfect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2D CNN Code Example - MNIST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tensorflow.keras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import layers, models</a:t>
            </a:r>
          </a:p>
          <a:p>
            <a:pPr algn="l"/>
            <a:endParaRPr sz="10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models.Sequential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([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layers.Conv2D(32, (3, 3), activation='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',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input_shape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=(28, 28, 1)),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Input: 28×28 </a:t>
            </a:r>
            <a:r>
              <a:rPr sz="1000" b="1" dirty="0">
                <a:solidFill>
                  <a:srgbClr val="E7E7E7"/>
                </a:solidFill>
                <a:latin typeface="Source Code Pro"/>
              </a:rPr>
              <a:t>grayscale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0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(1 </a:t>
            </a:r>
            <a:r>
              <a:rPr sz="1000" b="1" dirty="0">
                <a:solidFill>
                  <a:srgbClr val="E81A81"/>
                </a:solidFill>
                <a:latin typeface="Source Code Pro"/>
              </a:rPr>
              <a:t>channel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32 </a:t>
            </a:r>
            <a:r>
              <a:rPr sz="1000" b="1" dirty="0">
                <a:solidFill>
                  <a:srgbClr val="EC7955"/>
                </a:solidFill>
                <a:latin typeface="Source Code Pro"/>
              </a:rPr>
              <a:t>filters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of 3×3 </a:t>
            </a:r>
            <a:r>
              <a:rPr sz="1000" b="1" dirty="0">
                <a:solidFill>
                  <a:srgbClr val="FD4A4A"/>
                </a:solidFill>
                <a:latin typeface="Source Code Pro"/>
              </a:rPr>
              <a:t>size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Output: 26×26×32 </a:t>
            </a:r>
            <a:r>
              <a:rPr sz="10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000" b="1" dirty="0">
                <a:solidFill>
                  <a:srgbClr val="FD4A4A"/>
                </a:solidFill>
                <a:latin typeface="Source Code Pro"/>
              </a:rPr>
              <a:t>maps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layers.MaxPooling2D((2, 2)),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Reduce 26×26 → 13×13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layers.Conv2D(64, (3, 3), activation='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'),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64 </a:t>
            </a:r>
            <a:r>
              <a:rPr sz="1000" b="1" dirty="0">
                <a:solidFill>
                  <a:srgbClr val="FD4A4A"/>
                </a:solidFill>
                <a:latin typeface="Source Code Pro"/>
              </a:rPr>
              <a:t>filters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on 13×13</a:t>
            </a:r>
            <a:r>
              <a:rPr sz="1000" b="1" dirty="0">
                <a:solidFill>
                  <a:srgbClr val="E7E7E7"/>
                </a:solidFill>
                <a:latin typeface="Source Code Pro"/>
              </a:rPr>
              <a:t>input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Output: 11×11×64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layers.MaxPooling2D((2, 2)),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Reduce 11×11 → 5×5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layers.Flatten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(),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Convert 5×5×64 = 1600 values to 1D vector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'),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(0.5),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(10, activation='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    # 10 </a:t>
            </a:r>
            <a:r>
              <a:rPr sz="1000" b="1" dirty="0">
                <a:solidFill>
                  <a:srgbClr val="E7E7E7"/>
                </a:solidFill>
                <a:latin typeface="Source Code Pro"/>
              </a:rPr>
              <a:t>classes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(digits 0-9)</a:t>
            </a: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])</a:t>
            </a:r>
          </a:p>
          <a:p>
            <a:pPr algn="l"/>
            <a:endParaRPr sz="10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000" dirty="0" err="1">
                <a:solidFill>
                  <a:srgbClr val="E7E7E7"/>
                </a:solidFill>
                <a:latin typeface="Source Code Pro"/>
              </a:rPr>
              <a:t>model.compile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(optimizer='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adam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', loss='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sparse_categorical_crossentropy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', metrics=['accuracy'])</a:t>
            </a:r>
          </a:p>
          <a:p>
            <a:pPr algn="l"/>
            <a:r>
              <a:rPr sz="10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, epochs=10,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batch_size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=32, </a:t>
            </a:r>
            <a:r>
              <a:rPr sz="1000" dirty="0" err="1">
                <a:solidFill>
                  <a:srgbClr val="E7E7E7"/>
                </a:solidFill>
                <a:latin typeface="Source Code Pro"/>
              </a:rPr>
              <a:t>validation_split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=0.2)</a:t>
            </a:r>
          </a:p>
          <a:p>
            <a:pPr algn="l"/>
            <a:endParaRPr sz="10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000" dirty="0">
                <a:solidFill>
                  <a:srgbClr val="E7E7E7"/>
                </a:solidFill>
                <a:latin typeface="Source Code Pro"/>
              </a:rPr>
              <a:t>Result: 99%+ </a:t>
            </a:r>
            <a:r>
              <a:rPr sz="10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 on MNIST </a:t>
            </a:r>
            <a:r>
              <a:rPr sz="10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0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1D CNN for Text - Different Input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2D CNN: Input is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(height × width ×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channels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1D CNN: Input is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sequence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document_length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embedding_size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representation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"This is great!" → [0.2, -0.5, 0.1] (word 1)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          [0.3,  0.1, 0.8] (word 2)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          ...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Shape: (sequence_length, embedding_dim)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100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300-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dimensional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(100, 300)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Conv1D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Size 3-5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Slides over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-to-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Detects local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(bigrams, trigrams).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1D CNN Operation -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size: k words (e.g., k=3).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Stride: 1 word.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sequence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[v1, v2, v3, v4, v5] (5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Filter size: 3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Position 1: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Multiply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[v1, v2, v3]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scalar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output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Position 2: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Multiply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[v2, v3, v4]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scalar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output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Position 3: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Multiply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[v3, v4, v5]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scalar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output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[o1, o2, o3] (length 5 - 3 + 1 = 3)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Multiple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Each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detects different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1D CNN Formula -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= Σ Filter[k] × Input[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i+k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+ bias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Variables: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=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convolution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result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position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Filter[k] =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offset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i+k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 at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position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i+k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k = loop over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(e.g., 0-2 for size-3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bias = learnable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offset</a:t>
            </a: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size = (Input_length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Filter_size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/ Stride + 1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Text length=100, Filter size=3, Stride=1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 length = (100 - 3) / 1 + 1 = 98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1D CNN Code Example - Text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tensorflow.keras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import layers, models</a:t>
            </a:r>
          </a:p>
          <a:p>
            <a:pPr algn="l"/>
            <a:endParaRPr sz="12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models.Sequential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([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layers.Embedding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vocab_size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=10000,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output_dim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=128,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input_length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=100),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Convert </a:t>
            </a:r>
            <a:r>
              <a:rPr sz="1200" b="1" dirty="0">
                <a:solidFill>
                  <a:srgbClr val="EC7955"/>
                </a:solidFill>
                <a:latin typeface="Source Code Pro"/>
              </a:rPr>
              <a:t>word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indices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to 128-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dimensional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200" b="1" dirty="0">
                <a:solidFill>
                  <a:srgbClr val="BD64B5"/>
                </a:solidFill>
                <a:latin typeface="Source Code Pro"/>
              </a:rPr>
              <a:t>vectors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Input: sequences of word IDs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Output: (batch, 100, 128)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layers.Conv1D(32,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kernel_size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=3, activation='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'),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32 </a:t>
            </a:r>
            <a:r>
              <a:rPr sz="1200" b="1" dirty="0">
                <a:solidFill>
                  <a:srgbClr val="94EE6B"/>
                </a:solidFill>
                <a:latin typeface="Source Code Pro"/>
              </a:rPr>
              <a:t>filters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of size 3 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words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Detects 3-</a:t>
            </a:r>
            <a:r>
              <a:rPr sz="1200" b="1" dirty="0">
                <a:solidFill>
                  <a:srgbClr val="E81A81"/>
                </a:solidFill>
                <a:latin typeface="Source Code Pro"/>
              </a:rPr>
              <a:t>word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200" b="1" dirty="0">
                <a:solidFill>
                  <a:srgbClr val="BD64B5"/>
                </a:solidFill>
                <a:latin typeface="Source Code Pro"/>
              </a:rPr>
              <a:t>patterns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layers.GlobalAveragePooling1D(),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Pool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across all positions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Convert (batch, 98, 32) → (batch, 32)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'),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(0.3),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(1, activation='sigmoid')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    # Binary 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(spam vs ham, positive vs 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negative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])</a:t>
            </a:r>
          </a:p>
          <a:p>
            <a:pPr algn="l"/>
            <a:endParaRPr sz="12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200" dirty="0" err="1">
                <a:solidFill>
                  <a:srgbClr val="E7E7E7"/>
                </a:solidFill>
                <a:latin typeface="Source Code Pro"/>
              </a:rPr>
              <a:t>model.compile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(optimizer='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adam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', loss='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binary_crossentropy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', metrics=['accuracy'])</a:t>
            </a:r>
          </a:p>
          <a:p>
            <a:pPr algn="l"/>
            <a:r>
              <a:rPr sz="12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, epochs=5,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batch_size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=32, </a:t>
            </a:r>
            <a:r>
              <a:rPr sz="1200" dirty="0" err="1">
                <a:solidFill>
                  <a:srgbClr val="E7E7E7"/>
                </a:solidFill>
                <a:latin typeface="Source Code Pro"/>
              </a:rPr>
              <a:t>validation_split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=0.2)</a:t>
            </a:r>
          </a:p>
          <a:p>
            <a:pPr algn="l"/>
            <a:endParaRPr sz="12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200" dirty="0">
                <a:solidFill>
                  <a:srgbClr val="E7E7E7"/>
                </a:solidFill>
                <a:latin typeface="Source Code Pro"/>
              </a:rPr>
              <a:t>Result: 95%+ </a:t>
            </a:r>
            <a:r>
              <a:rPr sz="1200" b="1" dirty="0">
                <a:solidFill>
                  <a:srgbClr val="E81A81"/>
                </a:solidFill>
                <a:latin typeface="Source Code Pro"/>
              </a:rPr>
              <a:t>accuracy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2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2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2D CNN vs 1D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2D CNN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height × width × channels (e.g., 224×224×3 for RGB)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Filter: 2D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kernel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(e.g., 3×3)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Detects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spatial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(edges,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shapes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Examples: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object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detection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1D CNN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sequence_length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embedding_dim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(e.g., 100×300)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Filter: 1D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kernel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(e.g., size 3)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Detects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sequential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(word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phrases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Examples: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sentiment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analysis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share core idea: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Slide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hierarchical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Pooling in 1D CNN -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GlobalAveragePooling1D: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Average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all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positions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(batch, 98, 32) → Output: (batch, 32)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Takes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mean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98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positions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GlobalMaxPooling1D: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Maximum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across all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positions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(batch, 98, 32) → Output: (batch, 32)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Takes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98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positions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 Compress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fixed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before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Keep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strongest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signals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(high-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impact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Average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Combine all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signals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(holistic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view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Multiple Filter Sizes - Multi-Scale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Conv1D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same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Detects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only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scale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Multiple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parallel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Conv1D(32,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kernel_size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=2) → detects 2-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phrases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Conv1D(32,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kernel_size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=3) → detects 3-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phrases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Conv1D(32,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kernel_size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=5) → detects 5-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phrases</a:t>
            </a: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Concatenate outputs → (batch, length, 96) (3 scales × 32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Captures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-scale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Better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Data Augmentation for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limited.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augmentation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generate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new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samples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Rotation: Rotate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0-20 degrees.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Zoom: Crop and scale.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Horizontal Flip: Mirror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left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Brightness: Add/subtract intensity.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tensorflow.keras.preprocessing.image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ImageDataGenerator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augmentation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ImageDataGenerator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rotation_range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=20,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zoom_range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=0.2,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horizontal_flip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=True,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brightness_range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=[0.8, 1.2]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Effect: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different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views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Reduces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improves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generalization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Transfer Learning - Use Pre-Trained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CNN from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scratch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needs: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compute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ImageNet (1.2M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1000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Already learned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universal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(edges,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shapes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Usage: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1. Load pre-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 (VGG16, ResNet50,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MobileNet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2. Remove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(specific to ImageNet)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3. Add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custom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(specific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your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task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4.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Freeze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early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only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layers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5. Fine-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tune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your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Need only 100-1000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instead of 10,000+.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Training: Hours instead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days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CNNs Work So Well for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insight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Spatial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locality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Pixels near each other are more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related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apart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Edge at top-left corner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doesn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't depend on pixels at bottom-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assume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matter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equally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Wrong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CNN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assume only </a:t>
            </a:r>
            <a:r>
              <a:rPr lang="en-US" sz="1400" b="1" dirty="0">
                <a:solidFill>
                  <a:srgbClr val="E7E7E7"/>
                </a:solidFill>
                <a:latin typeface="Source Code Pro"/>
              </a:rPr>
              <a:t>neighbor's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matter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Correct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CNNs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built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Better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CNNs Work for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insight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 meaning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depends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nearby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distant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ones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"Not good"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means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negative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(local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"That movie was not good"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meaning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1D CNN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capture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grams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treat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equally.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Wrong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CNNs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great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Alternative: RNNs/LSTMs, Transformers (more powerful but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slower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Production Use - Hexora 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Hexora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uses CNN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user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uploaded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photos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product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images,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complaints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Architecture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224×224 RGB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Pre-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MobileNet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(transfer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Custom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top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5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Classes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authentic,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blurry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inappropriate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valid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97.3% on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validation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Inference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&lt;100ms per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(production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requirement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Result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Automate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moderation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detect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fake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listings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Saves 40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human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moderators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improves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Production Use - Hexora Text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Hexora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uses 1D CNN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customer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reviews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sentiment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toxic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Architecture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200-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sequence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Embedding(10000 vocab, 100-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Conv1D with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kernel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[2,3,5]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GlobalMaxPooling1D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Binary output (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legit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94.8%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detection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Inference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&lt;50ms per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review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Result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Filter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reviews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surface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authentic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feedback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Increases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review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quality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user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engagement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CNN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Fewer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parameters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than 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Spatial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awareness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and sequential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awareness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Learns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hierarchical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edges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objects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Robust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small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translations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rotations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Easy to interpret: visualize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CNN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Requires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large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datasets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good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(thousands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Ignores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dependencies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(CNN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only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Difficult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tasks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without clear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spatial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time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hours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days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even with GPU.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 for long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dependencies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Recurrent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(RNN, LSTM) or Transformers.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2D CNN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Conv2D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MaxPooling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Flatten → Dense.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1D CNN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Embedding → Conv1D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GlobalPooling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Dense.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Both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filters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detect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efficiently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Transfer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Use pre-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models,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tune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augmentation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Rotate, flip, zoom to increase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diversity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CNNs are state-of-the-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competitive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Learn RNNs/LSTMs: Better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sequences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time-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series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Learn Transformers: State-of-the-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(BERT, GPT).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Learn Object Detection: YOLO, Faster R-CNN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find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locate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objects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Learn Semantic Segmentation: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pixel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Deep learning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journey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CNN → RNN → Attention → Transformers.</a:t>
            </a:r>
          </a:p>
        </p:txBody>
      </p:sp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3040</Words>
  <Application>Microsoft Office PowerPoint</Application>
  <PresentationFormat>Widescreen</PresentationFormat>
  <Paragraphs>414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4 Week 8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47</cp:revision>
  <dcterms:created xsi:type="dcterms:W3CDTF">2026-03-05T18:59:57Z</dcterms:created>
  <dcterms:modified xsi:type="dcterms:W3CDTF">2026-05-06T08:06:33Z</dcterms:modified>
</cp:coreProperties>
</file>