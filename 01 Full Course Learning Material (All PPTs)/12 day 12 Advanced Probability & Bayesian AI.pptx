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8" r:id="rId2"/>
    <p:sldId id="257" r:id="rId3"/>
    <p:sldId id="263" r:id="rId4"/>
    <p:sldId id="265" r:id="rId5"/>
    <p:sldId id="266" r:id="rId6"/>
    <p:sldId id="267" r:id="rId7"/>
    <p:sldId id="26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B5B34-CBB2-4EB8-A264-87648998955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E995C-AC5E-46FD-9A5B-1D0ABF2B8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F5E8EF6-8676-15E7-A48F-D5DB58DF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D8D7E10-AF0A-6118-6C1E-F2A9F188B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BC8ADB4-CE92-9413-917C-FBDD8EADEE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662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EDB27CA-4784-DD77-F92F-B296B2E0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B9FEC7D-896B-045E-5F2D-832175984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97C807-260D-9739-BDAB-4AB7C530D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0436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D377B72-064A-6817-DC91-A154DB8D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A3F27DB-5F34-47A4-6552-D73204378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64756D-D66E-8273-5D77-83E11B2D8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409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1162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817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856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991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07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162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2872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09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5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4377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3796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990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184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0623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6193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7166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9218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860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26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61384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35700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54525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38721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31299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96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48182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Advanced Probability &amp; Bayesian AI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Finding Relationships: Correlation, Visualization, &amp; Probability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559991655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Joint, Marginal, and Conditional Probability.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What is a Probability Distribution?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Discrete vs. Continuous Distributions.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Bayesian Probability (Building the FBR Prediction Engine).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Marginal Probability P(A): </a:t>
            </a:r>
            <a:r>
              <a:rPr lang="en-US" sz="1600" dirty="0"/>
              <a:t>The baseline chance of a single event happening, completely ignoring everything else. </a:t>
            </a:r>
          </a:p>
          <a:p>
            <a:pPr marL="0" indent="0"/>
            <a:r>
              <a:rPr lang="en-US" sz="1600" b="1" dirty="0"/>
              <a:t>Example:</a:t>
            </a:r>
            <a:r>
              <a:rPr lang="en-US" sz="1600" dirty="0"/>
              <a:t> What is the probability that a random citizen gets audited by the FBR?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probability of Event A AND Event B happening at the exact same time.</a:t>
            </a:r>
          </a:p>
          <a:p>
            <a:pPr marL="0" indent="0"/>
            <a:r>
              <a:rPr lang="en-US" sz="1600" b="1" dirty="0"/>
              <a:t>Example</a:t>
            </a:r>
            <a:r>
              <a:rPr lang="en-US" sz="1600" dirty="0"/>
              <a:t>: What is the probability that a citizen gets audited AND they own a Luxury Car?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probability of Event A happening, GIVEN THAT Event B has already happened.</a:t>
            </a:r>
          </a:p>
          <a:p>
            <a:pPr marL="0" indent="0"/>
            <a:r>
              <a:rPr lang="en-US" sz="1600" b="1" dirty="0"/>
              <a:t>Example</a:t>
            </a:r>
            <a:r>
              <a:rPr lang="en-US" sz="1600" dirty="0"/>
              <a:t>: If we already know a citizen owns a Luxury Car, what is the new probability they get audited? (This is how AI filters work!).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2827767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Marginal, Joint, and Conditional Probability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C0CD1-8251-D3E4-BE61-FF907318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1" y="3330674"/>
            <a:ext cx="2734057" cy="42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65CB67-C5C3-833D-7E09-0EB68DD60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1" y="4435518"/>
            <a:ext cx="3162741" cy="342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D35AAC4-8AA2-9B09-E789-F2BFC485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B17194A-1BC1-D35D-7A6A-7BDF6FC1C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173E7C98-58C5-EA04-2075-F0A73232D2F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Probability Distribution: </a:t>
            </a:r>
          </a:p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pPr marL="0" indent="0"/>
            <a:r>
              <a:rPr lang="en-US" sz="1600" dirty="0"/>
              <a:t>The A mathematical function that provides the probabilities of occurrence of different possible outcomes. For Devs, it is literally just a list or a </a:t>
            </a:r>
            <a:r>
              <a:rPr lang="en-US" sz="1600" dirty="0">
                <a:solidFill>
                  <a:srgbClr val="FF0000"/>
                </a:solidFill>
              </a:rPr>
              <a:t>graph showing every single thing that </a:t>
            </a:r>
            <a:r>
              <a:rPr lang="en-US" sz="1600" i="1" dirty="0">
                <a:solidFill>
                  <a:srgbClr val="FF0000"/>
                </a:solidFill>
              </a:rPr>
              <a:t>could</a:t>
            </a:r>
            <a:r>
              <a:rPr lang="en-US" sz="1600" dirty="0">
                <a:solidFill>
                  <a:srgbClr val="FF0000"/>
                </a:solidFill>
              </a:rPr>
              <a:t> happen, and the exact percentage chance of </a:t>
            </a:r>
            <a:r>
              <a:rPr lang="en-US" sz="1600" i="1" dirty="0">
                <a:solidFill>
                  <a:srgbClr val="FF0000"/>
                </a:solidFill>
              </a:rPr>
              <a:t>each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thing happening.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(If you add up the probability of every possible outcome, it must equal exactly 100%).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166355F6-B1AE-BCBC-7798-2ED138DAD1C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4ADFF43-654C-9923-3DB3-0BE256BEA304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B5D6B32D-9D9A-8CF4-6C2C-9408E785EB25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FD72FF71-2FDF-2574-211D-A48F719EB09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CA47F5-EFF7-6BBB-BDD9-B3C56BA0E984}"/>
              </a:ext>
            </a:extLst>
          </p:cNvPr>
          <p:cNvSpPr txBox="1"/>
          <p:nvPr/>
        </p:nvSpPr>
        <p:spPr>
          <a:xfrm>
            <a:off x="2827767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is a Probability Distribution?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D9BEA-C6A8-0585-7DDA-87EA73AEA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0" y="4169578"/>
            <a:ext cx="3105583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4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Discrete Distribution (Countable):</a:t>
            </a:r>
            <a:endParaRPr lang="en-US" sz="1600" dirty="0">
              <a:solidFill>
                <a:schemeClr val="accent3"/>
              </a:solidFill>
            </a:endParaRPr>
          </a:p>
          <a:p>
            <a:r>
              <a:rPr lang="en-US" sz="1600" b="1" dirty="0"/>
              <a:t>The Rule:</a:t>
            </a:r>
            <a:r>
              <a:rPr lang="en-US" sz="1600" dirty="0"/>
              <a:t> The outcomes can only be specific, separate whole values. No fractions.</a:t>
            </a:r>
          </a:p>
          <a:p>
            <a:r>
              <a:rPr lang="en-US" sz="1600" b="1" dirty="0"/>
              <a:t>Example:</a:t>
            </a:r>
            <a:r>
              <a:rPr lang="en-US" sz="1600" dirty="0"/>
              <a:t> The number of properties a citizen owns. They can own 1, 2, or 3 houses. </a:t>
            </a:r>
          </a:p>
          <a:p>
            <a:r>
              <a:rPr lang="en-US" sz="1600" dirty="0"/>
              <a:t>They cannot own 1.74 houses.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Continuous Distribution (Infinite):</a:t>
            </a:r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b="1" dirty="0"/>
              <a:t>The Rule:</a:t>
            </a:r>
            <a:r>
              <a:rPr lang="en-US" sz="1600" dirty="0"/>
              <a:t> The outcomes can take any value within a range, including infinite decimals.</a:t>
            </a:r>
          </a:p>
          <a:p>
            <a:r>
              <a:rPr lang="en-US" sz="1600" b="1" dirty="0"/>
              <a:t>Example:</a:t>
            </a:r>
            <a:r>
              <a:rPr lang="en-US" sz="1600" dirty="0"/>
              <a:t> The exact tax paid in Rupees. It could be Rs. 50,000, or Rs. 50,000.50, or Rs. 50,000.99. Because there are infinite possibilities, we calculate the probability of a </a:t>
            </a:r>
            <a:r>
              <a:rPr lang="en-US" sz="1600" i="1" dirty="0"/>
              <a:t>range</a:t>
            </a:r>
            <a:r>
              <a:rPr lang="en-US" sz="1600" dirty="0"/>
              <a:t> (e.g., "What is the probability they paid between 40k and 50k?").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0DAB363A-2E56-60E2-321B-8055AF4A7B3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EDD5137-BDF6-BE81-E0A8-19E89B92D60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5D0B2A4-53D6-6D6F-78CE-4622CA2216B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E86406B-5857-C076-2752-D51501DB24B1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3208767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Discrete vs. Continuous (Distribution)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D6CFDB0-3752-2633-C32E-E1BFF8B7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BA75DF19-71D8-FE31-C7DA-669A8BED1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A00A244-E0B9-E64F-5712-001ABFA0C3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Bayesian Probability: </a:t>
            </a:r>
          </a:p>
          <a:p>
            <a:endParaRPr lang="en-US" sz="1600" b="1" dirty="0">
              <a:solidFill>
                <a:schemeClr val="accent3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Everything we have done so far relies on historical averages.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But what if the world changes right in front of you? </a:t>
            </a:r>
          </a:p>
          <a:p>
            <a:r>
              <a:rPr lang="en-US" sz="1600" dirty="0">
                <a:solidFill>
                  <a:schemeClr val="tx1"/>
                </a:solidFill>
              </a:rPr>
              <a:t>What if an ordinary citizen suddenly buys a Rs. 5 Crore mansion in Sector G?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The AI cannot just rely on yesterday's baseline risk. </a:t>
            </a:r>
          </a:p>
          <a:p>
            <a:r>
              <a:rPr lang="en-US" sz="1600" dirty="0">
                <a:solidFill>
                  <a:schemeClr val="tx1"/>
                </a:solidFill>
              </a:rPr>
              <a:t>It needs to update its predictions instantly based on that new evidence. 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That is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Bayesian Probability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dirty="0"/>
              <a:t>Bayesian probability is a way of updating how likely something is after you get new evidence. It starts with an initial belief, then revises that belief using observed data.</a:t>
            </a:r>
            <a:endParaRPr lang="en-US" sz="1600" dirty="0">
              <a:solidFill>
                <a:schemeClr val="tx1"/>
              </a:solidFill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23EAB642-778B-D0BA-1368-A87C33DC044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EE52655-C0AD-91FC-F19D-8917DE033C67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EE463348-5FB6-46F9-2B94-AC5DF37C832E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8E8CB-8845-1F64-AB52-862117A98A51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Bayesian AI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82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8DC6BB0-460A-CD09-BDE3-5FCF165D5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3045C92-A055-BA95-0EB7-9B5AF739F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EAD21BF-ADBD-D706-9213-D16D794DCF9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380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endParaRPr lang="en-US" sz="1600" dirty="0"/>
          </a:p>
          <a:p>
            <a:r>
              <a:rPr lang="en-US" sz="1600" b="1" dirty="0"/>
              <a:t>P(A) (The Prior): </a:t>
            </a:r>
            <a:r>
              <a:rPr lang="en-US" sz="1600" dirty="0"/>
              <a:t>Your AI's baseline guess before new data arrives. (e.g., The baseline chance anyone is a Tax Evader is 5%).</a:t>
            </a:r>
          </a:p>
          <a:p>
            <a:endParaRPr lang="en-US" sz="1600" dirty="0"/>
          </a:p>
          <a:p>
            <a:r>
              <a:rPr lang="en-US" sz="1600" b="1" dirty="0"/>
              <a:t>B (The Evidence): </a:t>
            </a:r>
            <a:r>
              <a:rPr lang="en-US" sz="1600" dirty="0"/>
              <a:t>The new real-time data! (e.g., The citizen just bought a massive mansion).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Your AI's updated, smarter guess. </a:t>
            </a:r>
          </a:p>
          <a:p>
            <a:r>
              <a:rPr lang="en-US" sz="1600" dirty="0"/>
              <a:t>(e.g., Given that they bought a mansion, what is the NEW probability they are an evader?)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592CDA0E-8CB2-B352-136F-6C312778D8D0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1FAB503-18EA-4411-2DC0-67DD056D8FD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44C42CBB-C890-5689-8076-870F7B07D61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BEB9F-18A8-7455-615E-54E2AF71AD33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Bayes' Theorem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2F823-33D2-1247-FB52-C212370D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198" y="1942645"/>
            <a:ext cx="2715004" cy="657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9DFAA-71C0-B148-08C7-30A27872A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33" y="4429760"/>
            <a:ext cx="233395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8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743</Words>
  <Application>Microsoft Office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day 6</vt:lpstr>
      <vt:lpstr>Artificial Intelligence (Machine Learning &amp; Deep Learning)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10</cp:revision>
  <dcterms:created xsi:type="dcterms:W3CDTF">2026-03-02T19:55:33Z</dcterms:created>
  <dcterms:modified xsi:type="dcterms:W3CDTF">2026-05-17T13:15:56Z</dcterms:modified>
</cp:coreProperties>
</file>