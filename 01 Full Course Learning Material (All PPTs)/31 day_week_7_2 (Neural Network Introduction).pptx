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2"/>
  </p:notesMasterIdLst>
  <p:sldIdLst>
    <p:sldId id="258" r:id="rId3"/>
    <p:sldId id="257" r:id="rId4"/>
    <p:sldId id="275" r:id="rId5"/>
    <p:sldId id="312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259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86" autoAdjust="0"/>
    <p:restoredTop sz="94660"/>
  </p:normalViewPr>
  <p:slideViewPr>
    <p:cSldViewPr snapToGrid="0">
      <p:cViewPr varScale="1">
        <p:scale>
          <a:sx n="88" d="100"/>
          <a:sy n="88" d="100"/>
        </p:scale>
        <p:origin x="66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C98704-AB38-C5CE-1952-C0899088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F8234D1-F285-BBBF-70A9-FCBA699CF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EEAE7EA-73AE-4897-C74A-204FAE75D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98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80650F-860B-A929-93DE-2214F7A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550BE7-95E6-5E35-6B78-A560FFE9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E45347D-6EC2-214D-4A46-8A316500A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328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1F74EAF-512E-545B-1219-E035D8C6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B3A5979-972B-62D2-9C5D-FEF155034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03462FA-6685-7879-A088-AE9EFB0AB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703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E90E776-8815-E979-51A4-A3D12AD7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B016115-0E07-F4BC-D24B-C4FA4C9C1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0644ECD-21BF-9BA8-11D6-E2EF56CC3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52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C0BB458-3BE5-0878-CC6F-AEF43910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61A955E-17B3-FACA-A27C-69B619149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4F30843-E15E-75D1-2ECC-A72F6BCA7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2067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78D44AB-36DE-59C8-59FE-B79ADB02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E468273-DB0D-6CFB-4D86-5EF75A901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3ACE41F-76CE-1C9D-4E61-24574D90B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4543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2533ED8-A19E-3C1D-E238-BE2F564E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6216B74-07A8-3103-2057-1C2C504B1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D321187-28B2-F976-48E6-F43F186DB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6896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6266D6F-821B-F616-E1A1-588D9E71B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FB8CC54-157E-2335-B763-0BAF37FD16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19230F-DAFB-F7C1-8C46-07396AFE8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77730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3F6FFB6-D5DD-3312-E448-7771105B7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7BE4343-2CC7-50BC-EADB-89449244CF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D106C40-2EA3-3D34-9B66-5EC6D3189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596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80DEDFDA-8E45-EB32-BC0B-0328E9EC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33FE1F80-FDE1-CB83-49B6-20B8D89D4A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58AB297-99FA-B996-EA45-039F4F237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1716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8F5A01-CC2F-7EB9-CA6D-6FCF6941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E79AAF8-289E-727D-E260-67F864D54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26CAA68-8A83-5F6A-0669-EAB0C698D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17877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3B9D76F-BCFD-8A4E-A6BD-573B6553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D193BC2-C038-A9EC-E722-38C11AC27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4DC1DFC-806B-0DDA-2EB1-ABC343583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79962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90CFB86-0C6E-DB33-7D0F-804F2CB1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AEDEF9F-8C72-41B5-8795-B7A175391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F9B30C8B-A4AB-4A91-1DB9-0BDA9CAC1E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72665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14819E7-FDC4-D84C-8428-A15B63B5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1F37266-45C6-DF3E-CE65-BB0D1C4C60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6061031-9D7A-1670-7A7D-8E3C70E50F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90146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Neural Network Introduction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15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166469828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Neural Network Introduction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Forward Feed &amp; back Feed</a:t>
                      </a:r>
                      <a:b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</a:b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Single &amp; Multi Neuron Network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solidFill>
                  <a:srgbClr val="FFFFFF"/>
                </a:solidFill>
                <a:latin typeface="Source Code Pro"/>
              </a:rPr>
              <a:t>What is a Neural Network?</a:t>
            </a:r>
            <a:br>
              <a:rPr lang="en-US" sz="3200" b="0" dirty="0">
                <a:solidFill>
                  <a:srgbClr val="FFFFFF"/>
                </a:solidFill>
                <a:latin typeface="Source Code Pro"/>
              </a:rPr>
            </a:br>
            <a:r>
              <a:rPr lang="en-US" sz="2000" dirty="0"/>
              <a:t>It’s just </a:t>
            </a:r>
            <a:r>
              <a:rPr lang="en-US" sz="2000" b="1" dirty="0"/>
              <a:t>math + optimization</a:t>
            </a:r>
            <a:r>
              <a:rPr lang="en-US" sz="2000" dirty="0"/>
              <a:t>, inspired by the brain</a:t>
            </a:r>
            <a:endParaRPr sz="3200" b="0" dirty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832" y="2023872"/>
            <a:ext cx="860755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7E7E7"/>
                </a:solidFill>
                <a:latin typeface="Source Code Pro"/>
              </a:rPr>
              <a:t>A Neural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Network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layers of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neurons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connected together, mimicking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Its </a:t>
            </a:r>
            <a:r>
              <a:rPr lang="en-US" sz="1400" b="1" dirty="0">
                <a:solidFill>
                  <a:srgbClr val="E7E7E7"/>
                </a:solidFill>
                <a:latin typeface="Source Code Pro"/>
              </a:rPr>
              <a:t>ml model(algorithm)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lang="en-US" sz="1400" dirty="0"/>
              <a:t>used to </a:t>
            </a:r>
            <a:r>
              <a:rPr lang="en-US" sz="1400" b="1" dirty="0"/>
              <a:t>learn patterns from data</a:t>
            </a:r>
            <a:r>
              <a:rPr lang="en-US" sz="1400" dirty="0"/>
              <a:t>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takes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inputs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applies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adds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bias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outputs a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number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Neurons are organized in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Input → Hidden → Output.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connection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has a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that gets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r>
              <a:rPr lang="en-US" sz="1400" dirty="0"/>
              <a:t>A </a:t>
            </a:r>
            <a:r>
              <a:rPr lang="en-US" sz="1400" b="1" dirty="0"/>
              <a:t>weight</a:t>
            </a:r>
            <a:r>
              <a:rPr lang="en-US" sz="1400" dirty="0"/>
              <a:t> is a value that controls how important an input is. While A </a:t>
            </a:r>
            <a:r>
              <a:rPr lang="en-US" sz="1400" b="1" dirty="0"/>
              <a:t>bias</a:t>
            </a:r>
            <a:r>
              <a:rPr lang="en-US" sz="1400" dirty="0"/>
              <a:t> is an extra value added to shift the output. </a:t>
            </a:r>
          </a:p>
          <a:p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r>
              <a:rPr sz="1400" dirty="0">
                <a:solidFill>
                  <a:srgbClr val="E7E7E7"/>
                </a:solidFill>
                <a:latin typeface="Source Code Pro"/>
              </a:rPr>
              <a:t>Unlike Decision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Trees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(yes/no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decisions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), Neural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Networks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learn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continuous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transformations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lang="en-US" sz="1400" b="1" dirty="0"/>
              <a:t>learning from mistakes</a:t>
            </a:r>
            <a:r>
              <a:rPr lang="en-US" sz="1400" dirty="0"/>
              <a:t>. Or learn patterns by adjusting these parameters through backpropagation.)</a:t>
            </a:r>
          </a:p>
          <a:p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r>
              <a:rPr lang="en-US" sz="1400" dirty="0"/>
              <a:t>Neural networks are better for: Images, Speech , Complex patterns.</a:t>
            </a: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DE17-3B87-AE38-15CE-ECABE9175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889" y="324456"/>
            <a:ext cx="10272000" cy="763600"/>
          </a:xfrm>
        </p:spPr>
        <p:txBody>
          <a:bodyPr/>
          <a:lstStyle/>
          <a:p>
            <a:r>
              <a:rPr lang="en-US" dirty="0"/>
              <a:t>Flow of Neural Network</a:t>
            </a:r>
            <a:endParaRPr lang="en-PK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4619C6E-A410-45E3-A06A-BE9EA015567F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68866" y="1117602"/>
            <a:ext cx="10100734" cy="4842934"/>
          </a:xfrm>
        </p:spPr>
        <p:txBody>
          <a:bodyPr/>
          <a:lstStyle/>
          <a:p>
            <a:r>
              <a:rPr lang="en-US" sz="1200" dirty="0"/>
              <a:t>1. </a:t>
            </a:r>
            <a:r>
              <a:rPr lang="en-US" sz="1200" b="1" dirty="0"/>
              <a:t>Forward Pass</a:t>
            </a:r>
            <a:endParaRPr lang="en-US" sz="1200" dirty="0"/>
          </a:p>
          <a:p>
            <a:r>
              <a:rPr lang="en-US" sz="1400" dirty="0"/>
              <a:t>Input × Weight + Bias → Hidden Layers → Activation → Output</a:t>
            </a:r>
          </a:p>
          <a:p>
            <a:r>
              <a:rPr lang="en-US" sz="1400" dirty="0"/>
              <a:t>Data layers </a:t>
            </a:r>
            <a:r>
              <a:rPr lang="en-US" sz="1400" dirty="0" err="1"/>
              <a:t>ke</a:t>
            </a:r>
            <a:r>
              <a:rPr lang="en-US" sz="1400" dirty="0"/>
              <a:t> through </a:t>
            </a:r>
            <a:r>
              <a:rPr lang="en-US" sz="1400" dirty="0" err="1"/>
              <a:t>jata</a:t>
            </a:r>
            <a:r>
              <a:rPr lang="en-US" sz="1400" dirty="0"/>
              <a:t> </a:t>
            </a:r>
            <a:r>
              <a:rPr lang="en-US" sz="1400" dirty="0" err="1"/>
              <a:t>hai</a:t>
            </a:r>
            <a:endParaRPr lang="en-US" sz="1400" dirty="0"/>
          </a:p>
          <a:p>
            <a:r>
              <a:rPr lang="en-US" sz="1400" dirty="0"/>
              <a:t>Prediction/output </a:t>
            </a:r>
            <a:r>
              <a:rPr lang="en-US" sz="1400" dirty="0" err="1"/>
              <a:t>milta</a:t>
            </a:r>
            <a:r>
              <a:rPr lang="en-US" sz="1400" dirty="0"/>
              <a:t> </a:t>
            </a:r>
            <a:r>
              <a:rPr lang="en-US" sz="1400" dirty="0" err="1"/>
              <a:t>hai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2. </a:t>
            </a:r>
            <a:r>
              <a:rPr lang="en-US" sz="1400" b="1" dirty="0"/>
              <a:t>Backward Pass (Backpropagation)</a:t>
            </a:r>
            <a:endParaRPr lang="en-US" sz="1400" dirty="0"/>
          </a:p>
          <a:p>
            <a:r>
              <a:rPr lang="en-US" sz="1400" dirty="0"/>
              <a:t>Output Error → Loss Function → Chain Rule → Gradients → Weights Update → Next Forward Pass</a:t>
            </a:r>
          </a:p>
          <a:p>
            <a:r>
              <a:rPr lang="en-US" sz="1400" b="1" dirty="0"/>
              <a:t>Loss</a:t>
            </a:r>
            <a:r>
              <a:rPr lang="en-US" sz="1400" dirty="0"/>
              <a:t> calculate: (actual - predicted)²</a:t>
            </a:r>
          </a:p>
          <a:p>
            <a:r>
              <a:rPr lang="en-US" sz="1400" b="1" dirty="0"/>
              <a:t>Gradients</a:t>
            </a:r>
            <a:r>
              <a:rPr lang="en-US" sz="1400" dirty="0"/>
              <a:t> chain rule se: Loss/weight</a:t>
            </a:r>
          </a:p>
          <a:p>
            <a:r>
              <a:rPr lang="en-US" sz="1400" b="1" dirty="0"/>
              <a:t>Weights change</a:t>
            </a:r>
            <a:r>
              <a:rPr lang="en-US" sz="1400" dirty="0"/>
              <a:t>: weight = weight - </a:t>
            </a:r>
            <a:r>
              <a:rPr lang="en-US" sz="1400" dirty="0" err="1"/>
              <a:t>learning_rate</a:t>
            </a:r>
            <a:r>
              <a:rPr lang="en-US" sz="1400" dirty="0"/>
              <a:t> × gradient</a:t>
            </a:r>
          </a:p>
          <a:p>
            <a:endParaRPr lang="en-US" sz="1400" dirty="0"/>
          </a:p>
          <a:p>
            <a:r>
              <a:rPr lang="en-US" sz="1400" dirty="0"/>
              <a:t>Complete Training Loop</a:t>
            </a:r>
          </a:p>
          <a:p>
            <a:r>
              <a:rPr lang="en-US" sz="1400" dirty="0"/>
              <a:t>REPEAT UNTIL convergence:</a:t>
            </a:r>
          </a:p>
          <a:p>
            <a:r>
              <a:rPr lang="en-US" sz="1400" dirty="0"/>
              <a:t>┌─ Forward Pass ──────────────┐</a:t>
            </a:r>
          </a:p>
          <a:p>
            <a:r>
              <a:rPr lang="en-US" sz="1400" dirty="0"/>
              <a:t>│ Input → Layers → Prediction │</a:t>
            </a:r>
          </a:p>
          <a:p>
            <a:r>
              <a:rPr lang="en-US" sz="1400" dirty="0"/>
              <a:t>└──────────┬──────────────────┘</a:t>
            </a:r>
          </a:p>
          <a:p>
            <a:r>
              <a:rPr lang="en-US" sz="1400" dirty="0"/>
              <a:t>           │</a:t>
            </a:r>
          </a:p>
          <a:p>
            <a:r>
              <a:rPr lang="en-US" sz="1400" dirty="0"/>
              <a:t>           ▼</a:t>
            </a:r>
          </a:p>
          <a:p>
            <a:r>
              <a:rPr lang="en-US" sz="1400" dirty="0"/>
              <a:t>┌─ Backward Pass ─────────────┐</a:t>
            </a:r>
          </a:p>
          <a:p>
            <a:r>
              <a:rPr lang="en-US" sz="1400" dirty="0"/>
              <a:t>│ Loss → Backprop → Update    │</a:t>
            </a:r>
          </a:p>
          <a:p>
            <a:r>
              <a:rPr lang="en-US" sz="1400" dirty="0"/>
              <a:t>│ Weights/Bias                │</a:t>
            </a:r>
          </a:p>
          <a:p>
            <a:r>
              <a:rPr lang="en-US" sz="1400" dirty="0"/>
              <a:t>└──────────┘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04F5BD-7236-886F-1448-E2EAE31731C3}"/>
              </a:ext>
            </a:extLst>
          </p:cNvPr>
          <p:cNvSpPr txBox="1"/>
          <p:nvPr/>
        </p:nvSpPr>
        <p:spPr>
          <a:xfrm>
            <a:off x="5308600" y="3924516"/>
            <a:ext cx="7052733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Forward Pass → Backward Pass → Weights Update → NEXT Forward Pass (new weights </a:t>
            </a:r>
            <a:r>
              <a:rPr lang="en-US" sz="1100" dirty="0" err="1"/>
              <a:t>ke</a:t>
            </a:r>
            <a:r>
              <a:rPr lang="en-US" sz="1100" dirty="0"/>
              <a:t> </a:t>
            </a:r>
            <a:r>
              <a:rPr lang="en-US" sz="1100" dirty="0" err="1"/>
              <a:t>saath</a:t>
            </a:r>
            <a:r>
              <a:rPr lang="en-US" sz="1100" dirty="0"/>
              <a:t>)</a:t>
            </a:r>
          </a:p>
          <a:p>
            <a:endParaRPr lang="en-US" sz="1100" dirty="0"/>
          </a:p>
          <a:p>
            <a:r>
              <a:rPr lang="en-US" sz="1100" dirty="0"/>
              <a:t>Visual Flow</a:t>
            </a:r>
          </a:p>
          <a:p>
            <a:r>
              <a:rPr lang="en-US" sz="1100" dirty="0"/>
              <a:t>Data ──► [Forward] ──► Prediction ──► Loss</a:t>
            </a:r>
          </a:p>
          <a:p>
            <a:r>
              <a:rPr lang="en-US" sz="1100" dirty="0"/>
              <a:t>          ↑                    │</a:t>
            </a:r>
          </a:p>
          <a:p>
            <a:r>
              <a:rPr lang="en-US" sz="1100" dirty="0"/>
              <a:t>          └──── [Backward] ◄───┘</a:t>
            </a:r>
          </a:p>
          <a:p>
            <a:r>
              <a:rPr lang="en-US" sz="1100" dirty="0"/>
              <a:t>               Weights Update</a:t>
            </a:r>
          </a:p>
          <a:p>
            <a:r>
              <a:rPr lang="en-US" sz="1100" b="1" dirty="0"/>
              <a:t>Ye loop epochs </a:t>
            </a:r>
            <a:r>
              <a:rPr lang="en-US" sz="1100" b="1" dirty="0" err="1"/>
              <a:t>tak</a:t>
            </a:r>
            <a:r>
              <a:rPr lang="en-US" sz="1100" b="1" dirty="0"/>
              <a:t> </a:t>
            </a:r>
            <a:r>
              <a:rPr lang="en-US" sz="1100" b="1" dirty="0" err="1"/>
              <a:t>chalti</a:t>
            </a:r>
            <a:r>
              <a:rPr lang="en-US" sz="1100" b="1" dirty="0"/>
              <a:t> </a:t>
            </a:r>
            <a:r>
              <a:rPr lang="en-US" sz="1100" b="1" dirty="0" err="1"/>
              <a:t>hai</a:t>
            </a:r>
            <a:r>
              <a:rPr lang="en-US" sz="1100" dirty="0"/>
              <a:t> - </a:t>
            </a:r>
            <a:r>
              <a:rPr lang="en-US" sz="1100" dirty="0" err="1"/>
              <a:t>har</a:t>
            </a:r>
            <a:r>
              <a:rPr lang="en-US" sz="1100" dirty="0"/>
              <a:t> iteration </a:t>
            </a:r>
            <a:r>
              <a:rPr lang="en-US" sz="1100" dirty="0" err="1"/>
              <a:t>mein</a:t>
            </a:r>
            <a:r>
              <a:rPr lang="en-US" sz="1100" dirty="0"/>
              <a:t> model better </a:t>
            </a:r>
            <a:r>
              <a:rPr lang="en-US" sz="1100" dirty="0" err="1"/>
              <a:t>hota</a:t>
            </a:r>
            <a:r>
              <a:rPr lang="en-US" sz="1100" dirty="0"/>
              <a:t> </a:t>
            </a:r>
            <a:r>
              <a:rPr lang="en-US" sz="1100" dirty="0" err="1"/>
              <a:t>jata</a:t>
            </a:r>
            <a:r>
              <a:rPr lang="en-US" sz="1100" dirty="0"/>
              <a:t> </a:t>
            </a:r>
            <a:r>
              <a:rPr lang="en-US" sz="1100" dirty="0" err="1"/>
              <a:t>hai</a:t>
            </a:r>
            <a:r>
              <a:rPr lang="en-US" sz="1100" dirty="0"/>
              <a:t>!</a:t>
            </a:r>
          </a:p>
          <a:p>
            <a:endParaRPr lang="en-US" sz="1100" dirty="0"/>
          </a:p>
          <a:p>
            <a:pPr algn="l">
              <a:buNone/>
            </a:pPr>
            <a:r>
              <a:rPr lang="en-US" sz="1200" b="1" i="0" dirty="0">
                <a:solidFill>
                  <a:srgbClr val="D6D5D4"/>
                </a:solidFill>
                <a:effectLst/>
                <a:latin typeface="pplxSerif"/>
              </a:rPr>
              <a:t>Backward Pass Ka Exact Kaam</a:t>
            </a:r>
            <a:endParaRPr lang="en-US" sz="1200" b="1" i="0" dirty="0">
              <a:solidFill>
                <a:srgbClr val="D6D0C8"/>
              </a:solidFill>
              <a:effectLst/>
              <a:latin typeface="pplxSansMono"/>
            </a:endParaRPr>
          </a:p>
          <a:p>
            <a:r>
              <a:rPr lang="en-US" sz="1200" b="0" i="0" dirty="0">
                <a:solidFill>
                  <a:srgbClr val="D6D0C8"/>
                </a:solidFill>
                <a:effectLst/>
                <a:latin typeface="pplxSansMono"/>
              </a:rPr>
              <a:t>1. ERROR ko OUTPUT layer se INPUT layer </a:t>
            </a:r>
            <a:r>
              <a:rPr lang="en-US" sz="1200" b="0" i="0" dirty="0" err="1">
                <a:solidFill>
                  <a:srgbClr val="D6D0C8"/>
                </a:solidFill>
                <a:effectLst/>
                <a:latin typeface="pplxSansMono"/>
              </a:rPr>
              <a:t>tak</a:t>
            </a:r>
            <a:r>
              <a:rPr lang="en-US" sz="1200" b="0" i="0" dirty="0">
                <a:solidFill>
                  <a:srgbClr val="D6D0C8"/>
                </a:solidFill>
                <a:effectLst/>
                <a:latin typeface="pplxSansMono"/>
              </a:rPr>
              <a:t> </a:t>
            </a:r>
            <a:r>
              <a:rPr lang="en-US" sz="1200" b="0" i="0" dirty="0" err="1">
                <a:solidFill>
                  <a:srgbClr val="D6D0C8"/>
                </a:solidFill>
                <a:effectLst/>
                <a:latin typeface="pplxSansMono"/>
              </a:rPr>
              <a:t>bhejta</a:t>
            </a:r>
            <a:r>
              <a:rPr lang="en-US" sz="1200" b="0" i="0" dirty="0">
                <a:solidFill>
                  <a:srgbClr val="D6D0C8"/>
                </a:solidFill>
                <a:effectLst/>
                <a:latin typeface="pplxSansMono"/>
              </a:rPr>
              <a:t> </a:t>
            </a:r>
            <a:r>
              <a:rPr lang="en-US" sz="1200" b="0" i="0" dirty="0" err="1">
                <a:solidFill>
                  <a:srgbClr val="D6D0C8"/>
                </a:solidFill>
                <a:effectLst/>
                <a:latin typeface="pplxSansMono"/>
              </a:rPr>
              <a:t>hai</a:t>
            </a:r>
            <a:r>
              <a:rPr lang="en-US" sz="1200" b="0" i="0" dirty="0">
                <a:solidFill>
                  <a:srgbClr val="D6D0C8"/>
                </a:solidFill>
                <a:effectLst/>
                <a:latin typeface="pplxSansMono"/>
              </a:rPr>
              <a:t> [web:28] </a:t>
            </a:r>
          </a:p>
          <a:p>
            <a:r>
              <a:rPr lang="en-US" sz="1200" b="0" i="0" dirty="0">
                <a:solidFill>
                  <a:srgbClr val="D6D0C8"/>
                </a:solidFill>
                <a:effectLst/>
                <a:latin typeface="pplxSansMono"/>
              </a:rPr>
              <a:t>2. Har layer pe GRADIENT calculate </a:t>
            </a:r>
            <a:r>
              <a:rPr lang="en-US" sz="1200" b="0" i="0" dirty="0" err="1">
                <a:solidFill>
                  <a:srgbClr val="D6D0C8"/>
                </a:solidFill>
                <a:effectLst/>
                <a:latin typeface="pplxSansMono"/>
              </a:rPr>
              <a:t>karta</a:t>
            </a:r>
            <a:r>
              <a:rPr lang="en-US" sz="1200" b="0" i="0" dirty="0">
                <a:solidFill>
                  <a:srgbClr val="D6D0C8"/>
                </a:solidFill>
                <a:effectLst/>
                <a:latin typeface="pplxSansMono"/>
              </a:rPr>
              <a:t> </a:t>
            </a:r>
            <a:r>
              <a:rPr lang="en-US" sz="1200" b="0" i="0" dirty="0" err="1">
                <a:solidFill>
                  <a:srgbClr val="D6D0C8"/>
                </a:solidFill>
                <a:effectLst/>
                <a:latin typeface="pplxSansMono"/>
              </a:rPr>
              <a:t>hai</a:t>
            </a:r>
            <a:r>
              <a:rPr lang="en-US" sz="1200" b="0" i="0" dirty="0">
                <a:solidFill>
                  <a:srgbClr val="D6D0C8"/>
                </a:solidFill>
                <a:effectLst/>
                <a:latin typeface="pplxSansMono"/>
              </a:rPr>
              <a:t> (chain rule se) [web:42] </a:t>
            </a:r>
          </a:p>
          <a:p>
            <a:r>
              <a:rPr lang="en-US" sz="1200" b="0" i="0" dirty="0">
                <a:solidFill>
                  <a:srgbClr val="D6D0C8"/>
                </a:solidFill>
                <a:effectLst/>
                <a:latin typeface="pplxSansMono"/>
              </a:rPr>
              <a:t>3. Ye gradients weights update </a:t>
            </a:r>
            <a:r>
              <a:rPr lang="en-US" sz="1200" b="0" i="0" dirty="0" err="1">
                <a:solidFill>
                  <a:srgbClr val="D6D0C8"/>
                </a:solidFill>
                <a:effectLst/>
                <a:latin typeface="pplxSansMono"/>
              </a:rPr>
              <a:t>karne</a:t>
            </a:r>
            <a:r>
              <a:rPr lang="en-US" sz="1200" b="0" i="0" dirty="0">
                <a:solidFill>
                  <a:srgbClr val="D6D0C8"/>
                </a:solidFill>
                <a:effectLst/>
                <a:latin typeface="pplxSansMono"/>
              </a:rPr>
              <a:t> </a:t>
            </a:r>
            <a:r>
              <a:rPr lang="en-US" sz="1200" b="0" i="0" dirty="0" err="1">
                <a:solidFill>
                  <a:srgbClr val="D6D0C8"/>
                </a:solidFill>
                <a:effectLst/>
                <a:latin typeface="pplxSansMono"/>
              </a:rPr>
              <a:t>ke</a:t>
            </a:r>
            <a:r>
              <a:rPr lang="en-US" sz="1200" b="0" i="0" dirty="0">
                <a:solidFill>
                  <a:srgbClr val="D6D0C8"/>
                </a:solidFill>
                <a:effectLst/>
                <a:latin typeface="pplxSansMono"/>
              </a:rPr>
              <a:t> </a:t>
            </a:r>
            <a:r>
              <a:rPr lang="en-US" sz="1200" b="0" i="0" dirty="0" err="1">
                <a:solidFill>
                  <a:srgbClr val="D6D0C8"/>
                </a:solidFill>
                <a:effectLst/>
                <a:latin typeface="pplxSansMono"/>
              </a:rPr>
              <a:t>liye</a:t>
            </a:r>
            <a:r>
              <a:rPr lang="en-US" sz="1200" b="0" i="0" dirty="0">
                <a:solidFill>
                  <a:srgbClr val="D6D0C8"/>
                </a:solidFill>
                <a:effectLst/>
                <a:latin typeface="pplxSansMono"/>
              </a:rPr>
              <a:t> use </a:t>
            </a:r>
            <a:r>
              <a:rPr lang="en-US" sz="1200" b="0" i="0" dirty="0" err="1">
                <a:solidFill>
                  <a:srgbClr val="D6D0C8"/>
                </a:solidFill>
                <a:effectLst/>
                <a:latin typeface="pplxSansMono"/>
              </a:rPr>
              <a:t>hote</a:t>
            </a:r>
            <a:r>
              <a:rPr lang="en-US" sz="1200" b="0" i="0" dirty="0">
                <a:solidFill>
                  <a:srgbClr val="D6D0C8"/>
                </a:solidFill>
                <a:effectLst/>
                <a:latin typeface="pplxSansMono"/>
              </a:rPr>
              <a:t> </a:t>
            </a:r>
            <a:r>
              <a:rPr lang="en-US" sz="1200" b="0" i="0" dirty="0" err="1">
                <a:solidFill>
                  <a:srgbClr val="D6D0C8"/>
                </a:solidFill>
                <a:effectLst/>
                <a:latin typeface="pplxSansMono"/>
              </a:rPr>
              <a:t>hain</a:t>
            </a:r>
            <a:r>
              <a:rPr lang="en-US" sz="1200" b="0" i="0" dirty="0">
                <a:solidFill>
                  <a:srgbClr val="D6D0C8"/>
                </a:solidFill>
                <a:effectLst/>
                <a:latin typeface="pplxSansMono"/>
              </a:rPr>
              <a:t> [web:23]</a:t>
            </a:r>
            <a:endParaRPr lang="en-PK" sz="1200" dirty="0"/>
          </a:p>
        </p:txBody>
      </p:sp>
    </p:spTree>
    <p:extLst>
      <p:ext uri="{BB962C8B-B14F-4D97-AF65-F5344CB8AC3E}">
        <p14:creationId xmlns:p14="http://schemas.microsoft.com/office/powerpoint/2010/main" val="1791254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30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MLP - Multi-Layer Perceptron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956" y="1512711"/>
            <a:ext cx="10560756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 </a:t>
            </a:r>
            <a:r>
              <a:rPr lang="en-US" sz="1400" b="1" dirty="0"/>
              <a:t>Perceptron</a:t>
            </a:r>
            <a:r>
              <a:rPr lang="en-US" sz="1400" dirty="0"/>
              <a:t> is the simplest type of neural network — a single neuron used for binary classification. (“yes/no”). Input &amp; output layer.</a:t>
            </a:r>
          </a:p>
          <a:p>
            <a:endParaRPr lang="en-US" sz="1400" dirty="0"/>
          </a:p>
          <a:p>
            <a:r>
              <a:rPr lang="en-US" sz="1400" dirty="0"/>
              <a:t>An MLP (Multi-Layer Perceptron) is a </a:t>
            </a:r>
            <a:r>
              <a:rPr lang="en-US" sz="1400" b="1" dirty="0"/>
              <a:t>feedforward neural network </a:t>
            </a:r>
            <a:r>
              <a:rPr lang="en-US" sz="1400" dirty="0"/>
              <a:t>consisting of input, hidden, and output layers, where each layer applies weights, biases, and activation functions to transform data and learn complex patterns.</a:t>
            </a:r>
            <a:br>
              <a:rPr lang="en-US" sz="1400" dirty="0"/>
            </a:br>
            <a:r>
              <a:rPr lang="en-US" sz="1400" dirty="0"/>
              <a:t>fully support and rely on backpropagation for training. While the feed-forward process generates predictions, backpropagation calculates errors and updates weights in reverse to minimize loss.</a:t>
            </a:r>
          </a:p>
          <a:p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Input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Raw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(e.g., pixel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values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Hidden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Neurons that learn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(could be 1, 5, 100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Here multi-layers used </a:t>
            </a:r>
            <a:r>
              <a:rPr lang="en-US" sz="1400" dirty="0"/>
              <a:t>each layer applies weights, biases, and activation functions to transform data.</a:t>
            </a:r>
          </a:p>
          <a:p>
            <a:pPr algn="l"/>
            <a:r>
              <a:rPr lang="en-US" sz="1400" dirty="0"/>
              <a:t>                   Each layer transforms data step by step:</a:t>
            </a:r>
          </a:p>
          <a:p>
            <a:pPr lvl="5"/>
            <a:r>
              <a:rPr lang="en-US" sz="1400" dirty="0"/>
              <a:t>Layer 1 → basic features </a:t>
            </a:r>
          </a:p>
          <a:p>
            <a:pPr lvl="5"/>
            <a:r>
              <a:rPr lang="en-US" sz="1400" dirty="0"/>
              <a:t>Layer 2 → complex patterns </a:t>
            </a:r>
          </a:p>
          <a:p>
            <a:pPr lvl="5"/>
            <a:r>
              <a:rPr lang="en-US" sz="1400" dirty="0"/>
              <a:t>Layer 3 → high-level understanding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Final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prediction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(class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label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value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 Input(784) → Hidden(128) → Hidden(64) → Output(10) for MNIST digit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recognition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transforms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Stacking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creates deep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r>
              <a:rPr lang="en-US" sz="1400" dirty="0"/>
              <a:t>Data </a:t>
            </a:r>
            <a:r>
              <a:rPr lang="en-US" sz="1400" dirty="0" err="1"/>
              <a:t>seedha</a:t>
            </a:r>
            <a:r>
              <a:rPr lang="en-US" sz="1400" dirty="0"/>
              <a:t> </a:t>
            </a:r>
            <a:r>
              <a:rPr lang="en-US" sz="1400" dirty="0" err="1"/>
              <a:t>aata</a:t>
            </a:r>
            <a:r>
              <a:rPr lang="en-US" sz="1400" dirty="0"/>
              <a:t> </a:t>
            </a:r>
            <a:r>
              <a:rPr lang="en-US" sz="1400" dirty="0" err="1"/>
              <a:t>hai</a:t>
            </a:r>
            <a:r>
              <a:rPr lang="en-US" sz="1400" dirty="0"/>
              <a:t> → process </a:t>
            </a:r>
            <a:r>
              <a:rPr lang="en-US" sz="1400" dirty="0" err="1"/>
              <a:t>hota</a:t>
            </a:r>
            <a:r>
              <a:rPr lang="en-US" sz="1400" dirty="0"/>
              <a:t> </a:t>
            </a:r>
            <a:r>
              <a:rPr lang="en-US" sz="1400" dirty="0" err="1"/>
              <a:t>hai</a:t>
            </a:r>
            <a:r>
              <a:rPr lang="en-US" sz="1400" dirty="0"/>
              <a:t> → output </a:t>
            </a:r>
            <a:r>
              <a:rPr lang="en-US" sz="1400" dirty="0" err="1"/>
              <a:t>nikalta</a:t>
            </a:r>
            <a:r>
              <a:rPr lang="en-US" sz="1400" dirty="0"/>
              <a:t> </a:t>
            </a:r>
            <a:r>
              <a:rPr lang="en-US" sz="1400" dirty="0" err="1"/>
              <a:t>hai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Koi “</a:t>
            </a:r>
            <a:r>
              <a:rPr lang="en-US" sz="1400" dirty="0" err="1"/>
              <a:t>wapas</a:t>
            </a:r>
            <a:r>
              <a:rPr lang="en-US" sz="1400" dirty="0"/>
              <a:t> </a:t>
            </a:r>
            <a:r>
              <a:rPr lang="en-US" sz="1400" dirty="0" err="1"/>
              <a:t>jana</a:t>
            </a:r>
            <a:r>
              <a:rPr lang="en-US" sz="1400" dirty="0"/>
              <a:t>” </a:t>
            </a:r>
            <a:r>
              <a:rPr lang="en-US" sz="1400" dirty="0" err="1"/>
              <a:t>ya</a:t>
            </a:r>
            <a:r>
              <a:rPr lang="en-US" sz="1400" dirty="0"/>
              <a:t> memory </a:t>
            </a:r>
            <a:r>
              <a:rPr lang="en-US" sz="1400" dirty="0" err="1"/>
              <a:t>nahi</a:t>
            </a:r>
            <a:r>
              <a:rPr lang="en-US" sz="1400" dirty="0"/>
              <a:t> </a:t>
            </a:r>
            <a:r>
              <a:rPr lang="en-US" sz="1400" dirty="0" err="1"/>
              <a:t>hoti</a:t>
            </a:r>
            <a:r>
              <a:rPr lang="en-US" sz="1400" dirty="0"/>
              <a:t>.</a:t>
            </a:r>
          </a:p>
          <a:p>
            <a:r>
              <a:rPr lang="en-US" sz="1400" dirty="0"/>
              <a:t>This is called: </a:t>
            </a:r>
            <a:r>
              <a:rPr lang="en-US" sz="1400" b="1" dirty="0"/>
              <a:t>Feedforward Neural Network</a:t>
            </a:r>
            <a:endParaRPr lang="en-US" sz="1400" dirty="0"/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Forward Pass - Feeding Data Through the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643662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Forward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Pass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pushing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through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network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get a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prediction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a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r>
              <a:rPr lang="en-US" sz="1400" dirty="0">
                <a:solidFill>
                  <a:srgbClr val="E7E7E7"/>
                </a:solidFill>
                <a:latin typeface="Source Code Pro"/>
              </a:rPr>
              <a:t>z = weights*inputs + bias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z =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weight₁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× input₁ +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weight₂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× input₂ + ... +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bias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output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activation_function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(z)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(one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z = 0.5 × x₁ + 0.3 × x₂ + 0.2 (bias)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output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(z) = max(0, z)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Repeat for every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every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until you reach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output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Final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output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your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prediction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Time: milliseconds. Very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fast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r>
              <a:rPr lang="en-US" sz="1400" dirty="0">
                <a:solidFill>
                  <a:srgbClr val="E7E7E7"/>
                </a:solidFill>
                <a:latin typeface="Source Code Pro"/>
              </a:rPr>
              <a:t>Concept: </a:t>
            </a:r>
            <a:r>
              <a:rPr lang="en-US" sz="1400" dirty="0"/>
              <a:t>Passing data from input → output.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Just making a </a:t>
            </a:r>
            <a:r>
              <a:rPr lang="en-US" altLang="en-US" sz="1400" b="1" dirty="0">
                <a:latin typeface="Arial" panose="020B0604020202020204" pitchFamily="34" charset="0"/>
              </a:rPr>
              <a:t>prediction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No learning yet 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8691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solidFill>
                  <a:srgbClr val="FFFFFF"/>
                </a:solidFill>
                <a:latin typeface="Source Code Pro"/>
              </a:rPr>
              <a:t>Backward Pass - Computing Gradients</a:t>
            </a:r>
            <a:r>
              <a:rPr lang="en-US" sz="3200" b="0" dirty="0">
                <a:solidFill>
                  <a:srgbClr val="FFFFFF"/>
                </a:solidFill>
                <a:latin typeface="Source Code Pro"/>
              </a:rPr>
              <a:t> and send back to input layer</a:t>
            </a:r>
            <a:endParaRPr sz="3200" b="0" dirty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711395"/>
            <a:ext cx="858316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Backward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Pass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using the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error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update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 get a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prediction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It's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wrong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Calculate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loss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Now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propagate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error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backward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through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network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compute: How much did this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contribute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the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error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the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gradient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(∂loss/∂weight).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Update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new_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old_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-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learning_rate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×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gradient</a:t>
            </a:r>
            <a:endParaRPr lang="en-US"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C7955"/>
              </a:solidFill>
              <a:latin typeface="Source Code Pro"/>
            </a:endParaRPr>
          </a:p>
          <a:p>
            <a:r>
              <a:rPr lang="en-US" b="1" dirty="0">
                <a:solidFill>
                  <a:srgbClr val="FF0000"/>
                </a:solidFill>
              </a:rPr>
              <a:t>gradient</a:t>
            </a:r>
            <a:r>
              <a:rPr lang="en-US" dirty="0"/>
              <a:t> means </a:t>
            </a:r>
            <a:r>
              <a:rPr lang="en-US" dirty="0">
                <a:solidFill>
                  <a:schemeClr val="accent1"/>
                </a:solidFill>
              </a:rPr>
              <a:t>rate of change of loss </a:t>
            </a:r>
            <a:r>
              <a:rPr lang="en-US" dirty="0"/>
              <a:t>(error) with respect to each weight or bias.</a:t>
            </a:r>
            <a:r>
              <a:rPr lang="en-US" sz="1400" dirty="0"/>
              <a:t>. Formula=&gt; ∂loss / ∂weight // means weight or </a:t>
            </a:r>
            <a:r>
              <a:rPr lang="en-US" sz="1400" dirty="0" err="1"/>
              <a:t>baise</a:t>
            </a:r>
            <a:r>
              <a:rPr lang="en-US" sz="1400" dirty="0"/>
              <a:t> change </a:t>
            </a:r>
            <a:r>
              <a:rPr lang="en-US" sz="1400" dirty="0" err="1"/>
              <a:t>karne</a:t>
            </a:r>
            <a:r>
              <a:rPr lang="en-US" sz="1400" dirty="0"/>
              <a:t> se loss </a:t>
            </a:r>
            <a:r>
              <a:rPr lang="en-US" sz="1400" dirty="0" err="1"/>
              <a:t>kitna</a:t>
            </a:r>
            <a:r>
              <a:rPr lang="en-US" sz="1400" dirty="0"/>
              <a:t> change </a:t>
            </a:r>
            <a:r>
              <a:rPr lang="en-US" sz="1400" dirty="0" err="1"/>
              <a:t>hota</a:t>
            </a:r>
            <a:r>
              <a:rPr lang="en-US" sz="1400" dirty="0"/>
              <a:t> </a:t>
            </a:r>
            <a:r>
              <a:rPr lang="en-US" sz="1400" dirty="0" err="1"/>
              <a:t>hai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It is derivation that comes from loss function using chain of rule during backpropagation.</a:t>
            </a:r>
            <a:endParaRPr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chain</a:t>
            </a:r>
            <a:r>
              <a:rPr lang="en-US" sz="1400" b="1" dirty="0">
                <a:solidFill>
                  <a:srgbClr val="E7E7E7"/>
                </a:solidFill>
                <a:latin typeface="Source Code Pro"/>
              </a:rPr>
              <a:t> of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rule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used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in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backwardPass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propagate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errors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backward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Called </a:t>
            </a:r>
            <a:r>
              <a:rPr sz="1400" b="1" dirty="0" err="1">
                <a:solidFill>
                  <a:schemeClr val="accent1"/>
                </a:solidFill>
                <a:latin typeface="Source Code Pro"/>
              </a:rPr>
              <a:t>Backpropagation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.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and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gradient is core of backpropagation, because ye hi decide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karta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hai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har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step par weight aur bias ko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kis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direction aur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kitni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magnitude se change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karna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hai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taake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error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kam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hota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jaye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3022" y="0"/>
            <a:ext cx="11734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Backpropagation - The Chain Rule in Action</a:t>
            </a:r>
            <a:r>
              <a:rPr lang="en-US" sz="3200" b="0" dirty="0">
                <a:solidFill>
                  <a:srgbClr val="FFFFFF"/>
                </a:solidFill>
                <a:latin typeface="Source Code Pro"/>
              </a:rPr>
              <a:t> (send error back, calculate gradient, update weight &amp; </a:t>
            </a:r>
            <a:r>
              <a:rPr lang="en-US" sz="3200" b="0" dirty="0" err="1">
                <a:solidFill>
                  <a:srgbClr val="FFFFFF"/>
                </a:solidFill>
                <a:latin typeface="Source Code Pro"/>
              </a:rPr>
              <a:t>baise</a:t>
            </a:r>
            <a:r>
              <a:rPr lang="en-US" sz="3200" b="0" dirty="0">
                <a:solidFill>
                  <a:srgbClr val="FFFFFF"/>
                </a:solidFill>
                <a:latin typeface="Source Code Pro"/>
              </a:rPr>
              <a:t>)</a:t>
            </a:r>
            <a:endParaRPr sz="3200" b="0" dirty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595021"/>
            <a:ext cx="8229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Backpropagation ek </a:t>
            </a:r>
            <a:r>
              <a:rPr lang="en-US" sz="1400" b="1" i="0" dirty="0">
                <a:solidFill>
                  <a:srgbClr val="D6D5D4"/>
                </a:solidFill>
                <a:effectLst/>
                <a:latin typeface="pplxSerif"/>
              </a:rPr>
              <a:t>algorithm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hai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jo </a:t>
            </a:r>
            <a:r>
              <a:rPr lang="en-US" sz="1400" b="1" i="0" dirty="0">
                <a:solidFill>
                  <a:srgbClr val="D6D5D4"/>
                </a:solidFill>
                <a:effectLst/>
                <a:latin typeface="pplxSerif"/>
              </a:rPr>
              <a:t>chain rule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 use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karke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batata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hai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ke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har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weight aur bias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kitna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change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karna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chahiye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error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kam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karne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ke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liye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.</a:t>
            </a:r>
            <a:br>
              <a:rPr lang="en-US" sz="1400" dirty="0"/>
            </a:b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Ye backward pass ka core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hai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- error ko layer by layer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peeche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bhejta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hai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If output depends on hidden, and hidden depends on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loss/weight = loss/output × output/hidden × hidden/weight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Layer 3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error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0.5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Layer 2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error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0.5 × 0.8 (contribution of Layer 2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= 0.4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Layer 1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error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0.4 × 0.6 (contribution of Layer 1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= 0.24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computes its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error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using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previous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error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All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get updated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simultaneously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--------------------------------------------------</a:t>
            </a:r>
          </a:p>
          <a:p>
            <a:pPr algn="l">
              <a:buNone/>
            </a:pP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Forward Pass vs Backward Pass</a:t>
            </a:r>
          </a:p>
          <a:p>
            <a:pPr algn="l">
              <a:buNone/>
            </a:pPr>
            <a:r>
              <a:rPr lang="en-US" sz="1400" b="1" i="0" dirty="0">
                <a:solidFill>
                  <a:srgbClr val="D6D5D4"/>
                </a:solidFill>
                <a:effectLst/>
                <a:latin typeface="pplxSerif"/>
              </a:rPr>
              <a:t>Forward Pass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: Input → Hidden Layers → Output (prediction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banate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hain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)</a:t>
            </a:r>
            <a:b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</a:br>
            <a:r>
              <a:rPr lang="en-US" sz="1400" b="1" i="0" dirty="0">
                <a:solidFill>
                  <a:srgbClr val="D6D5D4"/>
                </a:solidFill>
                <a:effectLst/>
                <a:latin typeface="pplxSerif"/>
              </a:rPr>
              <a:t>Backward Pass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: Error ko output se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wapas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input ki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taraf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propagate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karte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hain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weights adjust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karne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ke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liye</a:t>
            </a:r>
            <a:endParaRPr lang="en-US" sz="1400" b="0" i="0" dirty="0">
              <a:solidFill>
                <a:srgbClr val="D6D5D4"/>
              </a:solidFill>
              <a:effectLst/>
              <a:latin typeface="pplxSerif"/>
            </a:endParaRPr>
          </a:p>
          <a:p>
            <a:pPr algn="l">
              <a:buNone/>
            </a:pP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Backpropagation Kia Hai?</a:t>
            </a:r>
          </a:p>
          <a:p>
            <a:pPr algn="l">
              <a:buNone/>
            </a:pP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Backpropagation ek algorithm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hai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jo </a:t>
            </a:r>
            <a:r>
              <a:rPr lang="en-US" sz="1400" b="1" i="0" dirty="0">
                <a:solidFill>
                  <a:srgbClr val="D6D5D4"/>
                </a:solidFill>
                <a:effectLst/>
                <a:latin typeface="pplxSerif"/>
              </a:rPr>
              <a:t>chain rule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 use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karke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batata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hai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ke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har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weight aur bias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kitna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change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karna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chahiye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error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kam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karne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ke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liye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.</a:t>
            </a:r>
            <a:b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</a:b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Ye backward pass ka core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hai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- error ko layer by layer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peeche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bhejta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sz="1400" b="0" i="0" dirty="0" err="1">
                <a:solidFill>
                  <a:srgbClr val="D6D5D4"/>
                </a:solidFill>
                <a:effectLst/>
                <a:latin typeface="pplxSerif"/>
              </a:rPr>
              <a:t>hai</a:t>
            </a:r>
            <a:r>
              <a:rPr lang="en-US" sz="1400" b="0" i="0" dirty="0">
                <a:solidFill>
                  <a:srgbClr val="D6D5D4"/>
                </a:solidFill>
                <a:effectLst/>
                <a:latin typeface="pplxSerif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Computational Graph - Tracking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3973"/>
            <a:ext cx="98588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Computational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Graph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a diagram showing how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flows and how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errors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propagate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Forward Pass (left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input → multiply by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add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bias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apply activation → output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Backward Pass (right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left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loss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error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← loss from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output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← loss from activation ← loss from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bias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← loss from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weight</a:t>
            </a:r>
          </a:p>
          <a:p>
            <a:pPr algn="l"/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 If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increases, how does loss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change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Follow the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path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weight → z → activation → output → loss.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Multiply all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partial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derivatives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along the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path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Frameworks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like TensorFlow/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PyTorch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build this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automatically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39" y="15709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What is an Activation Function?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39" y="752623"/>
            <a:ext cx="1137326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Activation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Function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adds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nonlinearity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Without it, stacking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useless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Why? Linear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function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linear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function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still linear.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y = 2x, then y = 3y = 6x. Still just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multiplication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Can't learn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curves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complex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Activation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Functions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introduce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bends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squashes</a:t>
            </a:r>
            <a:r>
              <a:rPr lang="en-US" sz="1400" b="1" dirty="0">
                <a:latin typeface="Source Code Pro"/>
              </a:rPr>
              <a:t>(means compresses the values into a limited range)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(x) = max(0, x) - makes negative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values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zero.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Sigmoid(x) = 1/(1+e^-x) - squashes to 0-1.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Tanh(x) = 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e^x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- e^-x)/(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e^x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+ e^-x) - squashes to -1 to 1.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Nonlinearity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lets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network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learn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anything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FCAAC0-851C-BDAB-5B79-E08F08AE3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930" y="2579078"/>
            <a:ext cx="5410293" cy="417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ReLU - Rectified Linear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(x) = max(0, x)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If input &gt; 0: output = input.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If input ≤ 0: output = 0.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Graph: Diagonal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line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x&gt;0, flat at zero for x≤0.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use it?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Super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fast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(just max operation).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Works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great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practice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Avoids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vanishing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gradients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(more later).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Industry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standard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Cons: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Dead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neurons (if a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always outputs 0, its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gradients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0).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Solution: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LeakyReLU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max(0.01 × x, x). Small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slope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negative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values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Sigmoid vs Tanh Activation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Sigmoid(x) = 1 / (1 + e^-x)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Input: any </a:t>
            </a:r>
            <a:r>
              <a:rPr sz="1400" b="1">
                <a:solidFill>
                  <a:srgbClr val="E81A81"/>
                </a:solidFill>
                <a:latin typeface="Source Code Pro"/>
              </a:rPr>
              <a:t>number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Output: 0 to 1. Perfect for binary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classification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S-shaped </a:t>
            </a:r>
            <a:r>
              <a:rPr sz="1400" b="1">
                <a:solidFill>
                  <a:srgbClr val="BD64B5"/>
                </a:solidFill>
                <a:latin typeface="Source Code Pro"/>
              </a:rPr>
              <a:t>curve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Problem: </a:t>
            </a:r>
            <a:r>
              <a:rPr sz="1400" b="1">
                <a:solidFill>
                  <a:srgbClr val="94EE6B"/>
                </a:solidFill>
                <a:latin typeface="Source Code Pro"/>
              </a:rPr>
              <a:t>Vanishing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gradients</a:t>
            </a:r>
            <a:r>
              <a:rPr sz="1400">
                <a:solidFill>
                  <a:srgbClr val="E7E7E7"/>
                </a:solidFill>
                <a:latin typeface="Source Code Pro"/>
              </a:rPr>
              <a:t>. When x is very positive or very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negative</a:t>
            </a:r>
            <a:r>
              <a:rPr sz="1400">
                <a:solidFill>
                  <a:srgbClr val="E7E7E7"/>
                </a:solidFill>
                <a:latin typeface="Source Code Pro"/>
              </a:rPr>
              <a:t>, gradient ≈ 0.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Tanh(x) = (e^x - e^-x) / (e^x + e^-x)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Input: any </a:t>
            </a:r>
            <a:r>
              <a:rPr sz="1400" b="1">
                <a:solidFill>
                  <a:srgbClr val="E81A81"/>
                </a:solidFill>
                <a:latin typeface="Source Code Pro"/>
              </a:rPr>
              <a:t>number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Output: -1 to 1.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Similar S-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shape</a:t>
            </a:r>
            <a:r>
              <a:rPr sz="1400">
                <a:solidFill>
                  <a:srgbClr val="E7E7E7"/>
                </a:solidFill>
                <a:latin typeface="Source Code Pro"/>
              </a:rPr>
              <a:t> to Sigmoid but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centered</a:t>
            </a:r>
            <a:r>
              <a:rPr sz="1400">
                <a:solidFill>
                  <a:srgbClr val="E7E7E7"/>
                </a:solidFill>
                <a:latin typeface="Source Code Pro"/>
              </a:rPr>
              <a:t> at zero.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Slightly better than Sigmoid for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hidden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94EE6B"/>
                </a:solidFill>
                <a:latin typeface="Source Code Pro"/>
              </a:rPr>
              <a:t>layers</a:t>
            </a:r>
            <a:r>
              <a:rPr sz="1400">
                <a:solidFill>
                  <a:srgbClr val="E7E7E7"/>
                </a:solidFill>
                <a:latin typeface="Source Code Pro"/>
              </a:rPr>
              <a:t> (avoids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dead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zones</a:t>
            </a:r>
            <a:r>
              <a:rPr sz="140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For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hidden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BD64B5"/>
                </a:solidFill>
                <a:latin typeface="Source Code Pro"/>
              </a:rPr>
              <a:t>layers</a:t>
            </a:r>
            <a:r>
              <a:rPr sz="1400">
                <a:solidFill>
                  <a:srgbClr val="E7E7E7"/>
                </a:solidFill>
                <a:latin typeface="Source Code Pro"/>
              </a:rPr>
              <a:t>: use ReLU. For output (binary): use Sigmoid.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Output Activation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For Binary </a:t>
            </a:r>
            <a:r>
              <a:rPr sz="1400" b="1">
                <a:solidFill>
                  <a:srgbClr val="EC7955"/>
                </a:solidFill>
                <a:latin typeface="Source Code Pro"/>
              </a:rPr>
              <a:t>Classification</a:t>
            </a:r>
            <a:r>
              <a:rPr sz="1400">
                <a:solidFill>
                  <a:srgbClr val="E7E7E7"/>
                </a:solidFill>
                <a:latin typeface="Source Code Pro"/>
              </a:rPr>
              <a:t>: Sigmoid(x) = 1/(1+e^-x).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Output: 0-1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probability</a:t>
            </a:r>
            <a:r>
              <a:rPr sz="1400">
                <a:solidFill>
                  <a:srgbClr val="E7E7E7"/>
                </a:solidFill>
                <a:latin typeface="Source Code Pro"/>
              </a:rPr>
              <a:t>. If ≥0.5 → class 1, else → class 0.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For Multiclass </a:t>
            </a:r>
            <a:r>
              <a:rPr sz="1400" b="1">
                <a:solidFill>
                  <a:srgbClr val="E81A81"/>
                </a:solidFill>
                <a:latin typeface="Source Code Pro"/>
              </a:rPr>
              <a:t>Classification</a:t>
            </a:r>
            <a:r>
              <a:rPr sz="1400">
                <a:solidFill>
                  <a:srgbClr val="E7E7E7"/>
                </a:solidFill>
                <a:latin typeface="Source Code Pro"/>
              </a:rPr>
              <a:t>: Softmax(z_i) = e^z_i / Σ e^z_j.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Output: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probabilities</a:t>
            </a:r>
            <a:r>
              <a:rPr sz="1400">
                <a:solidFill>
                  <a:srgbClr val="E7E7E7"/>
                </a:solidFill>
                <a:latin typeface="Source Code Pro"/>
              </a:rPr>
              <a:t> for each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class</a:t>
            </a:r>
            <a:r>
              <a:rPr sz="1400">
                <a:solidFill>
                  <a:srgbClr val="E7E7E7"/>
                </a:solidFill>
                <a:latin typeface="Source Code Pro"/>
              </a:rPr>
              <a:t>, sum to 1.0.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For </a:t>
            </a:r>
            <a:r>
              <a:rPr sz="1400" b="1">
                <a:solidFill>
                  <a:srgbClr val="EC7955"/>
                </a:solidFill>
                <a:latin typeface="Source Code Pro"/>
              </a:rPr>
              <a:t>Regression</a:t>
            </a:r>
            <a:r>
              <a:rPr sz="1400">
                <a:solidFill>
                  <a:srgbClr val="E7E7E7"/>
                </a:solidFill>
                <a:latin typeface="Source Code Pro"/>
              </a:rPr>
              <a:t>: Linear (no activation).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Output: any </a:t>
            </a:r>
            <a:r>
              <a:rPr sz="1400" b="1">
                <a:solidFill>
                  <a:srgbClr val="4CAE97"/>
                </a:solidFill>
                <a:latin typeface="Source Code Pro"/>
              </a:rPr>
              <a:t>number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Choose based on your </a:t>
            </a:r>
            <a:r>
              <a:rPr sz="1400" b="1">
                <a:solidFill>
                  <a:srgbClr val="E81A81"/>
                </a:solidFill>
                <a:latin typeface="Source Code Pro"/>
              </a:rPr>
              <a:t>problem</a:t>
            </a:r>
            <a:r>
              <a:rPr sz="1400">
                <a:solidFill>
                  <a:srgbClr val="E7E7E7"/>
                </a:solidFill>
                <a:latin typeface="Source Code Pro"/>
              </a:rPr>
              <a:t> type.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3596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solidFill>
                  <a:srgbClr val="FFFFFF"/>
                </a:solidFill>
                <a:latin typeface="Source Code Pro"/>
              </a:rPr>
              <a:t>Cross-Entropy Loss </a:t>
            </a:r>
            <a:r>
              <a:rPr lang="en-US" sz="3200" b="0" dirty="0">
                <a:solidFill>
                  <a:srgbClr val="FFFFFF"/>
                </a:solidFill>
                <a:latin typeface="Source Code Pro"/>
              </a:rPr>
              <a:t>– </a:t>
            </a:r>
            <a:r>
              <a:rPr sz="3200" b="0" dirty="0">
                <a:solidFill>
                  <a:srgbClr val="FFFFFF"/>
                </a:solidFill>
                <a:latin typeface="Source Code Pro"/>
              </a:rPr>
              <a:t>Classification Standard</a:t>
            </a:r>
            <a:br>
              <a:rPr lang="en-US" sz="3200" dirty="0">
                <a:solidFill>
                  <a:srgbClr val="FFFFFF"/>
                </a:solidFill>
                <a:latin typeface="Source Code Pro"/>
              </a:rPr>
            </a:br>
            <a:r>
              <a:rPr lang="en-US" sz="2400" dirty="0">
                <a:solidFill>
                  <a:srgbClr val="FFFFFF"/>
                </a:solidFill>
                <a:latin typeface="Source Code Pro"/>
              </a:rPr>
              <a:t>(</a:t>
            </a:r>
            <a:r>
              <a:rPr lang="en-US" sz="2400" dirty="0"/>
              <a:t>measure of the "difference" between two probability distributions</a:t>
            </a:r>
            <a:r>
              <a:rPr lang="en-US" sz="2400" dirty="0">
                <a:solidFill>
                  <a:srgbClr val="FFFFFF"/>
                </a:solidFill>
                <a:latin typeface="Source Code Pro"/>
              </a:rPr>
              <a:t>)</a:t>
            </a:r>
            <a:endParaRPr sz="3200" b="0" dirty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7754" y="1659285"/>
            <a:ext cx="1052919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r>
              <a:rPr sz="1400" dirty="0">
                <a:solidFill>
                  <a:srgbClr val="E7E7E7"/>
                </a:solidFill>
                <a:latin typeface="Source Code Pro"/>
              </a:rPr>
              <a:t>Cross-Entropy measures how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wrong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your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prediction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that model </a:t>
            </a:r>
            <a:r>
              <a:rPr lang="en-US" sz="1400" dirty="0"/>
              <a:t>guesses.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(for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Formula: loss = -Σ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× log(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predicted_i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Where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true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label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(0 or 1),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predicted_i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probability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(binary):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True: class 0 (y=[1, 0])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Predicted: [0.9, 0.1]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loss = -[1×log(0.9) + 0×log(0.1)] = -log(0.9) ≈ 0.105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If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prediction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correct (0.99), loss ≈ 0.01.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If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prediction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wrong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(0.01), loss ≈ 4.6.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Large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loss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big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penalty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Motivates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improve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07031FE-2C94-6428-17AF-2EFF6FBA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13713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Mean Squared Error - Regression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2924" y="1603717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MSE measures how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wrong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predictions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(for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Formula: loss = (1/N) × Σ(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actual_i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-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predicted_i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)²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Actual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prices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[100, 200, 150]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Predicted: [102, 198, 155]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Errors: [2, -2, 5]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MSE = (1/3) × (4 + 4 + 25) = 11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Penalizes large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errors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more (squaring).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use MSE.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use Cross-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Entropy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2003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7B10FDB-0640-4185-E584-0FA956B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solidFill>
                  <a:srgbClr val="FFFFFF"/>
                </a:solidFill>
                <a:latin typeface="Source Code Pro"/>
              </a:rPr>
              <a:t>Vanishing Gradients - The Problem</a:t>
            </a:r>
            <a:r>
              <a:rPr lang="en-US" sz="3200" b="0" dirty="0">
                <a:solidFill>
                  <a:srgbClr val="FFFFFF"/>
                </a:solidFill>
                <a:latin typeface="Source Code Pro"/>
              </a:rPr>
              <a:t> (</a:t>
            </a:r>
            <a:r>
              <a:rPr lang="en-US" dirty="0"/>
              <a:t> gradients shrink exponentially &amp; no weight update </a:t>
            </a:r>
            <a:r>
              <a:rPr lang="en-US" dirty="0" err="1"/>
              <a:t>signel</a:t>
            </a:r>
            <a:r>
              <a:rPr lang="en-US" dirty="0"/>
              <a:t>)</a:t>
            </a:r>
            <a:endParaRPr sz="3200" b="0" dirty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6031" y="1463040"/>
            <a:ext cx="10306461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When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backpropagating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through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many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gradients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multiply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together.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r>
              <a:rPr lang="en-US" dirty="0"/>
              <a:t>when using activation functions like Sigmoid or Tanh, which have small derivatives. When these are multiplied repeatedly across many layers, the gradient "vanishes" toward zero.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 5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gradient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0.5.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Gradient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after 5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0.5^5 = 0.03 (tiny!)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Update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0.03 ×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learning_rate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≈ almost zero.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barely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change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stalls</a:t>
            </a:r>
            <a:r>
              <a:rPr lang="en-US" sz="1400" b="1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lang="en-US" sz="1400" b="1" dirty="0" err="1">
                <a:solidFill>
                  <a:srgbClr val="E7E7E7"/>
                </a:solidFill>
                <a:latin typeface="Source Code Pro"/>
              </a:rPr>
              <a:t>stoped</a:t>
            </a:r>
            <a:r>
              <a:rPr lang="en-US" sz="1400" b="1" dirty="0">
                <a:solidFill>
                  <a:srgbClr val="E7E7E7"/>
                </a:solidFill>
                <a:latin typeface="Source Code Pro"/>
              </a:rPr>
              <a:t> | to cause something to stop for a time)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Problem gets worse with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sigmoid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/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tanh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(gradients ≤ 0.25).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Solutions: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Use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(gradients = 0 or 1, less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multiplication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Use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batch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normalization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(stabilize gradient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flow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Use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skip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connections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(allow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gradients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bypass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Use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careful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initialization.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r>
              <a:rPr lang="en-US" sz="1400" dirty="0"/>
              <a:t>Exponentially =&gt; time k sth </a:t>
            </a:r>
            <a:r>
              <a:rPr lang="en-US" sz="1400" dirty="0" err="1"/>
              <a:t>ksy</a:t>
            </a:r>
            <a:r>
              <a:rPr lang="en-US" sz="1400" dirty="0"/>
              <a:t> </a:t>
            </a:r>
            <a:r>
              <a:rPr lang="en-US" sz="1400" dirty="0" err="1"/>
              <a:t>chz</a:t>
            </a:r>
            <a:r>
              <a:rPr lang="en-US" sz="1400" dirty="0"/>
              <a:t> ka or </a:t>
            </a:r>
            <a:r>
              <a:rPr lang="en-US" sz="1400" dirty="0" err="1"/>
              <a:t>tzi</a:t>
            </a:r>
            <a:r>
              <a:rPr lang="en-US" sz="1400" dirty="0"/>
              <a:t> sy change </a:t>
            </a:r>
            <a:r>
              <a:rPr lang="en-US" sz="1400" dirty="0" err="1"/>
              <a:t>hona</a:t>
            </a: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2612402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AA81348-BCB2-291E-1676-C8F39AC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73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Exploding Gradients - The Opposite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Sometimes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gradients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multiply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become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huge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[5, 5, 5, 5],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gradients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explode.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Updates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become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massive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swing wildly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(doing something in an uncontrolled and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undeciplined</a:t>
            </a:r>
            <a:r>
              <a:rPr lang="en-US" sz="1400">
                <a:solidFill>
                  <a:srgbClr val="E7E7E7"/>
                </a:solidFill>
                <a:latin typeface="Source Code Pro"/>
              </a:rPr>
              <a:t> manner)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Loss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becomes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NaN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(not a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number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crashes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Solutions: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Gradient Clipping: cap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gradients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at a maximum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value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Smaller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learning_rate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Better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initialization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(Xavier/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He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initialization).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Batch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normalization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Most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frameworks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handle this automatically. But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know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it exists!</a:t>
            </a:r>
          </a:p>
        </p:txBody>
      </p:sp>
    </p:spTree>
    <p:extLst>
      <p:ext uri="{BB962C8B-B14F-4D97-AF65-F5344CB8AC3E}">
        <p14:creationId xmlns:p14="http://schemas.microsoft.com/office/powerpoint/2010/main" val="3796202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952D5D7-F6E2-949D-ACAB-7F8E8A91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Underfitting - Model Too Simple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Underfitting =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model</a:t>
            </a:r>
            <a:r>
              <a:rPr sz="1400">
                <a:solidFill>
                  <a:srgbClr val="E7E7E7"/>
                </a:solidFill>
                <a:latin typeface="Source Code Pro"/>
              </a:rPr>
              <a:t> is too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simple</a:t>
            </a:r>
            <a:r>
              <a:rPr sz="1400">
                <a:solidFill>
                  <a:srgbClr val="E7E7E7"/>
                </a:solidFill>
                <a:latin typeface="Source Code Pro"/>
              </a:rPr>
              <a:t>. It can't learn the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data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Signs: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Training </a:t>
            </a:r>
            <a:r>
              <a:rPr sz="1400" b="1">
                <a:solidFill>
                  <a:srgbClr val="FD4A4A"/>
                </a:solidFill>
                <a:latin typeface="Source Code Pro"/>
              </a:rPr>
              <a:t>loss</a:t>
            </a:r>
            <a:r>
              <a:rPr sz="1400">
                <a:solidFill>
                  <a:srgbClr val="E7E7E7"/>
                </a:solidFill>
                <a:latin typeface="Source Code Pro"/>
              </a:rPr>
              <a:t> high.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Test </a:t>
            </a:r>
            <a:r>
              <a:rPr sz="1400" b="1">
                <a:solidFill>
                  <a:srgbClr val="94EE6B"/>
                </a:solidFill>
                <a:latin typeface="Source Code Pro"/>
              </a:rPr>
              <a:t>loss</a:t>
            </a:r>
            <a:r>
              <a:rPr sz="1400">
                <a:solidFill>
                  <a:srgbClr val="E7E7E7"/>
                </a:solidFill>
                <a:latin typeface="Source Code Pro"/>
              </a:rPr>
              <a:t> high.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Both are equally </a:t>
            </a:r>
            <a:r>
              <a:rPr sz="1400" b="1">
                <a:solidFill>
                  <a:srgbClr val="4CAE97"/>
                </a:solidFill>
                <a:latin typeface="Source Code Pro"/>
              </a:rPr>
              <a:t>bad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Causes: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Too few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layers</a:t>
            </a:r>
            <a:r>
              <a:rPr sz="1400">
                <a:solidFill>
                  <a:srgbClr val="E7E7E7"/>
                </a:solidFill>
                <a:latin typeface="Source Code Pro"/>
              </a:rPr>
              <a:t> or </a:t>
            </a:r>
            <a:r>
              <a:rPr sz="1400" b="1">
                <a:solidFill>
                  <a:srgbClr val="94EE6B"/>
                </a:solidFill>
                <a:latin typeface="Source Code Pro"/>
              </a:rPr>
              <a:t>neurons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b="1">
                <a:solidFill>
                  <a:srgbClr val="FD4A4A"/>
                </a:solidFill>
                <a:latin typeface="Source Code Pro"/>
              </a:rPr>
              <a:t>Model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capacity</a:t>
            </a:r>
            <a:r>
              <a:rPr sz="1400">
                <a:solidFill>
                  <a:srgbClr val="E7E7E7"/>
                </a:solidFill>
                <a:latin typeface="Source Code Pro"/>
              </a:rPr>
              <a:t> is too small.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Not training long enough.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Solutions: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Add more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layers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Add more </a:t>
            </a:r>
            <a:r>
              <a:rPr sz="1400" b="1">
                <a:solidFill>
                  <a:srgbClr val="FD4A4A"/>
                </a:solidFill>
                <a:latin typeface="Source Code Pro"/>
              </a:rPr>
              <a:t>neurons</a:t>
            </a:r>
            <a:r>
              <a:rPr sz="1400">
                <a:solidFill>
                  <a:srgbClr val="E7E7E7"/>
                </a:solidFill>
                <a:latin typeface="Source Code Pro"/>
              </a:rPr>
              <a:t> per </a:t>
            </a:r>
            <a:r>
              <a:rPr sz="1400" b="1">
                <a:solidFill>
                  <a:srgbClr val="BD64B5"/>
                </a:solidFill>
                <a:latin typeface="Source Code Pro"/>
              </a:rPr>
              <a:t>layer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Train longer (more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epochs</a:t>
            </a:r>
            <a:r>
              <a:rPr sz="140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Increase model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complexity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4597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514BACC-F5A4-1251-0F2E-8DC477A2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Overfitting - Model Too Complex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Overfitting =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model</a:t>
            </a:r>
            <a:r>
              <a:rPr sz="1400">
                <a:solidFill>
                  <a:srgbClr val="E7E7E7"/>
                </a:solidFill>
                <a:latin typeface="Source Code Pro"/>
              </a:rPr>
              <a:t> memorizes </a:t>
            </a:r>
            <a:r>
              <a:rPr sz="1400" b="1">
                <a:solidFill>
                  <a:srgbClr val="EC7955"/>
                </a:solidFill>
                <a:latin typeface="Source Code Pro"/>
              </a:rPr>
              <a:t>training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EC7955"/>
                </a:solidFill>
                <a:latin typeface="Source Code Pro"/>
              </a:rPr>
              <a:t>data</a:t>
            </a:r>
            <a:r>
              <a:rPr sz="1400">
                <a:solidFill>
                  <a:srgbClr val="E7E7E7"/>
                </a:solidFill>
                <a:latin typeface="Source Code Pro"/>
              </a:rPr>
              <a:t>, fails on new </a:t>
            </a:r>
            <a:r>
              <a:rPr sz="1400" b="1">
                <a:solidFill>
                  <a:srgbClr val="BD64B5"/>
                </a:solidFill>
                <a:latin typeface="Source Code Pro"/>
              </a:rPr>
              <a:t>data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Signs: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Training </a:t>
            </a:r>
            <a:r>
              <a:rPr sz="1400" b="1">
                <a:solidFill>
                  <a:srgbClr val="4CAE97"/>
                </a:solidFill>
                <a:latin typeface="Source Code Pro"/>
              </a:rPr>
              <a:t>loss</a:t>
            </a:r>
            <a:r>
              <a:rPr sz="1400">
                <a:solidFill>
                  <a:srgbClr val="E7E7E7"/>
                </a:solidFill>
                <a:latin typeface="Source Code Pro"/>
              </a:rPr>
              <a:t> very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low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Test </a:t>
            </a:r>
            <a:r>
              <a:rPr sz="1400" b="1">
                <a:solidFill>
                  <a:srgbClr val="FD4A4A"/>
                </a:solidFill>
                <a:latin typeface="Source Code Pro"/>
              </a:rPr>
              <a:t>loss</a:t>
            </a:r>
            <a:r>
              <a:rPr sz="1400">
                <a:solidFill>
                  <a:srgbClr val="E7E7E7"/>
                </a:solidFill>
                <a:latin typeface="Source Code Pro"/>
              </a:rPr>
              <a:t> very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high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Large gap between them.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Causes: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Too many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layers</a:t>
            </a:r>
            <a:r>
              <a:rPr sz="1400">
                <a:solidFill>
                  <a:srgbClr val="E7E7E7"/>
                </a:solidFill>
                <a:latin typeface="Source Code Pro"/>
              </a:rPr>
              <a:t>/</a:t>
            </a:r>
            <a:r>
              <a:rPr sz="1400" b="1">
                <a:solidFill>
                  <a:srgbClr val="EC7955"/>
                </a:solidFill>
                <a:latin typeface="Source Code Pro"/>
              </a:rPr>
              <a:t>neurons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Training too long (too many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epochs</a:t>
            </a:r>
            <a:r>
              <a:rPr sz="140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Not enough </a:t>
            </a:r>
            <a:r>
              <a:rPr sz="1400" b="1">
                <a:solidFill>
                  <a:srgbClr val="4CAE97"/>
                </a:solidFill>
                <a:latin typeface="Source Code Pro"/>
              </a:rPr>
              <a:t>regularization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Solutions: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Use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Dropout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Use L1/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L2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4CAE97"/>
                </a:solidFill>
                <a:latin typeface="Source Code Pro"/>
              </a:rPr>
              <a:t>regularization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Early stopping (stop when test </a:t>
            </a:r>
            <a:r>
              <a:rPr sz="1400" b="1">
                <a:solidFill>
                  <a:srgbClr val="BD64B5"/>
                </a:solidFill>
                <a:latin typeface="Source Code Pro"/>
              </a:rPr>
              <a:t>loss</a:t>
            </a:r>
            <a:r>
              <a:rPr sz="1400">
                <a:solidFill>
                  <a:srgbClr val="E7E7E7"/>
                </a:solidFill>
                <a:latin typeface="Source Code Pro"/>
              </a:rPr>
              <a:t> stops improving).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More </a:t>
            </a:r>
            <a:r>
              <a:rPr sz="1400" b="1">
                <a:solidFill>
                  <a:srgbClr val="EC7955"/>
                </a:solidFill>
                <a:latin typeface="Source Code Pro"/>
              </a:rPr>
              <a:t>training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BD64B5"/>
                </a:solidFill>
                <a:latin typeface="Source Code Pro"/>
              </a:rPr>
              <a:t>data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2962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B761B8A-AD39-74DB-CE21-C42C12BD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Dropout Regularization - Randomly Erase Neurons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7955"/>
                </a:solidFill>
                <a:latin typeface="Source Code Pro"/>
              </a:rPr>
              <a:t>Dropout</a:t>
            </a:r>
            <a:r>
              <a:rPr sz="1400">
                <a:solidFill>
                  <a:srgbClr val="E7E7E7"/>
                </a:solidFill>
                <a:latin typeface="Source Code Pro"/>
              </a:rPr>
              <a:t>: During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, randomly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disable</a:t>
            </a:r>
            <a:r>
              <a:rPr sz="1400">
                <a:solidFill>
                  <a:srgbClr val="E7E7E7"/>
                </a:solidFill>
                <a:latin typeface="Source Code Pro"/>
              </a:rPr>
              <a:t> (set to zero) a fraction of </a:t>
            </a:r>
            <a:r>
              <a:rPr sz="1400" b="1">
                <a:solidFill>
                  <a:srgbClr val="EC7955"/>
                </a:solidFill>
                <a:latin typeface="Source Code Pro"/>
              </a:rPr>
              <a:t>neurons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Example (50% </a:t>
            </a:r>
            <a:r>
              <a:rPr sz="1400" b="1">
                <a:solidFill>
                  <a:srgbClr val="BD64B5"/>
                </a:solidFill>
                <a:latin typeface="Source Code Pro"/>
              </a:rPr>
              <a:t>dropout</a:t>
            </a:r>
            <a:r>
              <a:rPr sz="140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Normal: [neuron1, neuron2, neuron3, neuron4]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With </a:t>
            </a:r>
            <a:r>
              <a:rPr sz="1400" b="1">
                <a:solidFill>
                  <a:srgbClr val="4CAE97"/>
                </a:solidFill>
                <a:latin typeface="Source Code Pro"/>
              </a:rPr>
              <a:t>dropout</a:t>
            </a:r>
            <a:r>
              <a:rPr sz="1400">
                <a:solidFill>
                  <a:srgbClr val="E7E7E7"/>
                </a:solidFill>
                <a:latin typeface="Source Code Pro"/>
              </a:rPr>
              <a:t>: [neuron1, 0, neuron3, 0]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Effect: Forces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network</a:t>
            </a:r>
            <a:r>
              <a:rPr sz="1400">
                <a:solidFill>
                  <a:srgbClr val="E7E7E7"/>
                </a:solidFill>
                <a:latin typeface="Source Code Pro"/>
              </a:rPr>
              <a:t> to learn with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partial</a:t>
            </a:r>
            <a:r>
              <a:rPr sz="1400">
                <a:solidFill>
                  <a:srgbClr val="E7E7E7"/>
                </a:solidFill>
                <a:latin typeface="Source Code Pro"/>
              </a:rPr>
              <a:t> information.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Can't rely on any single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neuron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Learns redundant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representations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Generalizes better on test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data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During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inference</a:t>
            </a:r>
            <a:r>
              <a:rPr sz="1400">
                <a:solidFill>
                  <a:srgbClr val="E7E7E7"/>
                </a:solidFill>
                <a:latin typeface="Source Code Pro"/>
              </a:rPr>
              <a:t>: no </a:t>
            </a:r>
            <a:r>
              <a:rPr sz="1400" b="1">
                <a:solidFill>
                  <a:srgbClr val="FD4A4A"/>
                </a:solidFill>
                <a:latin typeface="Source Code Pro"/>
              </a:rPr>
              <a:t>dropout</a:t>
            </a:r>
            <a:r>
              <a:rPr sz="1400">
                <a:solidFill>
                  <a:srgbClr val="E7E7E7"/>
                </a:solidFill>
                <a:latin typeface="Source Code Pro"/>
              </a:rPr>
              <a:t>. Use all </a:t>
            </a:r>
            <a:r>
              <a:rPr sz="1400" b="1">
                <a:solidFill>
                  <a:srgbClr val="E81A81"/>
                </a:solidFill>
                <a:latin typeface="Source Code Pro"/>
              </a:rPr>
              <a:t>neurons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Add </a:t>
            </a:r>
            <a:r>
              <a:rPr sz="1400" b="1">
                <a:solidFill>
                  <a:srgbClr val="94EE6B"/>
                </a:solidFill>
                <a:latin typeface="Source Code Pro"/>
              </a:rPr>
              <a:t>dropout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BD64B5"/>
                </a:solidFill>
                <a:latin typeface="Source Code Pro"/>
              </a:rPr>
              <a:t>layers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between</a:t>
            </a:r>
            <a:r>
              <a:rPr sz="1400">
                <a:solidFill>
                  <a:srgbClr val="E7E7E7"/>
                </a:solidFill>
                <a:latin typeface="Source Code Pro"/>
              </a:rPr>
              <a:t> hidden </a:t>
            </a:r>
            <a:r>
              <a:rPr sz="1400" b="1">
                <a:solidFill>
                  <a:srgbClr val="4CAE97"/>
                </a:solidFill>
                <a:latin typeface="Source Code Pro"/>
              </a:rPr>
              <a:t>layers</a:t>
            </a:r>
            <a:r>
              <a:rPr sz="1400">
                <a:solidFill>
                  <a:srgbClr val="E7E7E7"/>
                </a:solidFill>
                <a:latin typeface="Source Code Pro"/>
              </a:rPr>
              <a:t>: Dense(128) → </a:t>
            </a:r>
            <a:r>
              <a:rPr sz="1400" b="1">
                <a:solidFill>
                  <a:srgbClr val="94EE6B"/>
                </a:solidFill>
                <a:latin typeface="Source Code Pro"/>
              </a:rPr>
              <a:t>Dropout</a:t>
            </a:r>
            <a:r>
              <a:rPr sz="1400">
                <a:solidFill>
                  <a:srgbClr val="E7E7E7"/>
                </a:solidFill>
                <a:latin typeface="Source Code Pro"/>
              </a:rPr>
              <a:t>(0.5) → Dense(64).</a:t>
            </a:r>
          </a:p>
        </p:txBody>
      </p:sp>
    </p:spTree>
    <p:extLst>
      <p:ext uri="{BB962C8B-B14F-4D97-AF65-F5344CB8AC3E}">
        <p14:creationId xmlns:p14="http://schemas.microsoft.com/office/powerpoint/2010/main" val="4005158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572B421A-7769-7140-1880-651036E8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L1 and L2 Regularization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Regularization</a:t>
            </a:r>
            <a:r>
              <a:rPr lang="en-US" sz="1400" dirty="0"/>
              <a:t>, a crucial technique in machine learning used to prevent </a:t>
            </a:r>
            <a:r>
              <a:rPr lang="en-US" sz="1400" b="1" dirty="0"/>
              <a:t>overfitting</a:t>
            </a:r>
            <a:r>
              <a:rPr lang="en-US" sz="1400" dirty="0"/>
              <a:t>. Overfitting happens when a model learns the "noise" in your training data too well, making it perform poorly on new, unseen data.</a:t>
            </a:r>
          </a:p>
          <a:p>
            <a:r>
              <a:rPr lang="en-US" sz="1400" dirty="0"/>
              <a:t>By adding a penalty to the loss function based on the size of the weights, we discourage the model from becoming overly complex.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L2 (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Ridge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Regularization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Penalize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large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loss_total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loss + λ × Σ(weight²)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λ = regularization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strength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(0.001, 0.01, 0.1?).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High λ = strong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penalty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large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simpler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less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overfitting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L1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Lasso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Regularization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Penalize absolute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values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loss_total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loss + λ × Σ(|weight|)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L1 pushes some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exactly zero (feature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selection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L2 just shrinks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L2 by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default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L1 if you want feature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elimination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6902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6972BC6-6524-83F5-C24E-C6D88F7D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Early Stopping - Stop Before Overfitting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Early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Stopping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: Monitor test </a:t>
            </a:r>
            <a:r>
              <a:rPr sz="1400" b="1">
                <a:solidFill>
                  <a:srgbClr val="E81A81"/>
                </a:solidFill>
                <a:latin typeface="Source Code Pro"/>
              </a:rPr>
              <a:t>loss</a:t>
            </a:r>
            <a:r>
              <a:rPr sz="1400">
                <a:solidFill>
                  <a:srgbClr val="E7E7E7"/>
                </a:solidFill>
                <a:latin typeface="Source Code Pro"/>
              </a:rPr>
              <a:t> during </a:t>
            </a:r>
            <a:r>
              <a:rPr sz="1400" b="1">
                <a:solidFill>
                  <a:srgbClr val="94EE6B"/>
                </a:solidFill>
                <a:latin typeface="Source Code Pro"/>
              </a:rPr>
              <a:t>training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. Stop when it stops improving.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Epoch 1: train_loss=0.5, test_loss=0.55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Epoch 10: train_loss=0.1, test_loss=0.2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Epoch 20: train_loss=0.01, test_loss=0.25 ← test </a:t>
            </a:r>
            <a:r>
              <a:rPr sz="1400" b="1">
                <a:solidFill>
                  <a:srgbClr val="EC7955"/>
                </a:solidFill>
                <a:latin typeface="Source Code Pro"/>
              </a:rPr>
              <a:t>loss</a:t>
            </a:r>
            <a:r>
              <a:rPr sz="1400">
                <a:solidFill>
                  <a:srgbClr val="E7E7E7"/>
                </a:solidFill>
                <a:latin typeface="Source Code Pro"/>
              </a:rPr>
              <a:t> increasing!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Overfitting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!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Epoch 30: train_loss=0.001, test_loss=0.3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Stop at Epoch 10. Don't </a:t>
            </a:r>
            <a:r>
              <a:rPr sz="1400" b="1">
                <a:solidFill>
                  <a:srgbClr val="BD64B5"/>
                </a:solidFill>
                <a:latin typeface="Source Code Pro"/>
              </a:rPr>
              <a:t>train</a:t>
            </a:r>
            <a:r>
              <a:rPr sz="1400">
                <a:solidFill>
                  <a:srgbClr val="E7E7E7"/>
                </a:solidFill>
                <a:latin typeface="Source Code Pro"/>
              </a:rPr>
              <a:t> further.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Most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powerful</a:t>
            </a:r>
            <a:r>
              <a:rPr sz="140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>
                <a:solidFill>
                  <a:srgbClr val="EC7955"/>
                </a:solidFill>
                <a:latin typeface="Source Code Pro"/>
              </a:rPr>
              <a:t>practical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regularization</a:t>
            </a:r>
            <a:r>
              <a:rPr sz="1400">
                <a:solidFill>
                  <a:srgbClr val="E7E7E7"/>
                </a:solidFill>
                <a:latin typeface="Source Code Pro"/>
              </a:rPr>
              <a:t> technique.</a:t>
            </a:r>
          </a:p>
        </p:txBody>
      </p:sp>
    </p:spTree>
    <p:extLst>
      <p:ext uri="{BB962C8B-B14F-4D97-AF65-F5344CB8AC3E}">
        <p14:creationId xmlns:p14="http://schemas.microsoft.com/office/powerpoint/2010/main" val="2107346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B399DED-1598-81F6-DE27-901E704C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09292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Batch Normalization - Stabilize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E7E7"/>
                </a:solidFill>
                <a:latin typeface="Source Code Pro"/>
              </a:rPr>
              <a:t>Batch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Normalization</a:t>
            </a:r>
            <a:r>
              <a:rPr sz="1400">
                <a:solidFill>
                  <a:srgbClr val="E7E7E7"/>
                </a:solidFill>
                <a:latin typeface="Source Code Pro"/>
              </a:rPr>
              <a:t>: Normalize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inputs</a:t>
            </a:r>
            <a:r>
              <a:rPr sz="1400">
                <a:solidFill>
                  <a:srgbClr val="E7E7E7"/>
                </a:solidFill>
                <a:latin typeface="Source Code Pro"/>
              </a:rPr>
              <a:t> to each </a:t>
            </a:r>
            <a:r>
              <a:rPr sz="1400" b="1">
                <a:solidFill>
                  <a:srgbClr val="4CAE97"/>
                </a:solidFill>
                <a:latin typeface="Source Code Pro"/>
              </a:rPr>
              <a:t>layer</a:t>
            </a:r>
            <a:r>
              <a:rPr sz="1400">
                <a:solidFill>
                  <a:srgbClr val="E7E7E7"/>
                </a:solidFill>
                <a:latin typeface="Source Code Pro"/>
              </a:rPr>
              <a:t> to have </a:t>
            </a:r>
            <a:r>
              <a:rPr sz="1400" b="1">
                <a:solidFill>
                  <a:srgbClr val="94EE6B"/>
                </a:solidFill>
                <a:latin typeface="Source Code Pro"/>
              </a:rPr>
              <a:t>zero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mean</a:t>
            </a:r>
            <a:r>
              <a:rPr sz="1400">
                <a:solidFill>
                  <a:srgbClr val="E7E7E7"/>
                </a:solidFill>
                <a:latin typeface="Source Code Pro"/>
              </a:rPr>
              <a:t> and unit </a:t>
            </a:r>
            <a:r>
              <a:rPr sz="1400" b="1">
                <a:solidFill>
                  <a:srgbClr val="94EE6B"/>
                </a:solidFill>
                <a:latin typeface="Source Code Pro"/>
              </a:rPr>
              <a:t>variance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During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Compute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mean</a:t>
            </a:r>
            <a:r>
              <a:rPr sz="140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>
                <a:solidFill>
                  <a:srgbClr val="94EE6B"/>
                </a:solidFill>
                <a:latin typeface="Source Code Pro"/>
              </a:rPr>
              <a:t>variance</a:t>
            </a:r>
            <a:r>
              <a:rPr sz="1400">
                <a:solidFill>
                  <a:srgbClr val="E7E7E7"/>
                </a:solidFill>
                <a:latin typeface="Source Code Pro"/>
              </a:rPr>
              <a:t> of current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batch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Subtract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mean</a:t>
            </a:r>
            <a:r>
              <a:rPr sz="1400">
                <a:solidFill>
                  <a:srgbClr val="E7E7E7"/>
                </a:solidFill>
                <a:latin typeface="Source Code Pro"/>
              </a:rPr>
              <a:t>, divide by </a:t>
            </a:r>
            <a:r>
              <a:rPr sz="1400" b="1">
                <a:solidFill>
                  <a:srgbClr val="94EE6B"/>
                </a:solidFill>
                <a:latin typeface="Source Code Pro"/>
              </a:rPr>
              <a:t>std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Scale and </a:t>
            </a:r>
            <a:r>
              <a:rPr sz="1400" b="1">
                <a:solidFill>
                  <a:srgbClr val="FD4A4A"/>
                </a:solidFill>
                <a:latin typeface="Source Code Pro"/>
              </a:rPr>
              <a:t>shift</a:t>
            </a:r>
            <a:r>
              <a:rPr sz="1400">
                <a:solidFill>
                  <a:srgbClr val="E7E7E7"/>
                </a:solidFill>
                <a:latin typeface="Source Code Pro"/>
              </a:rPr>
              <a:t> with learnable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parameters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Effects: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Stabilizes gradient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flow</a:t>
            </a:r>
            <a:r>
              <a:rPr sz="1400">
                <a:solidFill>
                  <a:srgbClr val="E7E7E7"/>
                </a:solidFill>
                <a:latin typeface="Source Code Pro"/>
              </a:rPr>
              <a:t> (prevents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vanishing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/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exploding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gradients</a:t>
            </a:r>
            <a:r>
              <a:rPr sz="140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Allows higher learning_rates.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Acts as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regularization</a:t>
            </a:r>
            <a:r>
              <a:rPr sz="1400">
                <a:solidFill>
                  <a:srgbClr val="E7E7E7"/>
                </a:solidFill>
                <a:latin typeface="Source Code Pro"/>
              </a:rPr>
              <a:t> (reduces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overfitting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Faster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Add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Batch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Norm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layers</a:t>
            </a:r>
            <a:r>
              <a:rPr sz="1400">
                <a:solidFill>
                  <a:srgbClr val="E7E7E7"/>
                </a:solidFill>
                <a:latin typeface="Source Code Pro"/>
              </a:rPr>
              <a:t>: Dense(128) → BatchNorm → ReLU.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Industry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standard</a:t>
            </a:r>
            <a:r>
              <a:rPr sz="1400">
                <a:solidFill>
                  <a:srgbClr val="E7E7E7"/>
                </a:solidFill>
                <a:latin typeface="Source Code Pro"/>
              </a:rPr>
              <a:t>. Use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everywhere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6373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C0ADA3A-242A-17CD-A1A7-820A8E55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134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Training Loop - Putting It All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Initialize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weights</a:t>
            </a:r>
            <a:r>
              <a:rPr sz="1400">
                <a:solidFill>
                  <a:srgbClr val="E7E7E7"/>
                </a:solidFill>
                <a:latin typeface="Source Code Pro"/>
              </a:rPr>
              <a:t> randomly.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for each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epoch</a:t>
            </a:r>
            <a:r>
              <a:rPr sz="140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for each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batch</a:t>
            </a:r>
            <a:r>
              <a:rPr sz="1400">
                <a:solidFill>
                  <a:srgbClr val="E7E7E7"/>
                </a:solidFill>
                <a:latin typeface="Source Code Pro"/>
              </a:rPr>
              <a:t> in </a:t>
            </a:r>
            <a:r>
              <a:rPr sz="1400" b="1">
                <a:solidFill>
                  <a:srgbClr val="4CAE97"/>
                </a:solidFill>
                <a:latin typeface="Source Code Pro"/>
              </a:rPr>
              <a:t>training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E81A81"/>
                </a:solidFill>
                <a:latin typeface="Source Code Pro"/>
              </a:rPr>
              <a:t>data</a:t>
            </a:r>
            <a:r>
              <a:rPr sz="140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  Forward </a:t>
            </a:r>
            <a:r>
              <a:rPr sz="1400" b="1">
                <a:solidFill>
                  <a:srgbClr val="4CAE97"/>
                </a:solidFill>
                <a:latin typeface="Source Code Pro"/>
              </a:rPr>
              <a:t>Pass</a:t>
            </a:r>
            <a:r>
              <a:rPr sz="1400">
                <a:solidFill>
                  <a:srgbClr val="E7E7E7"/>
                </a:solidFill>
                <a:latin typeface="Source Code Pro"/>
              </a:rPr>
              <a:t>: compute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predictions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  Compute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loss</a:t>
            </a:r>
            <a:r>
              <a:rPr sz="1400">
                <a:solidFill>
                  <a:srgbClr val="E7E7E7"/>
                </a:solidFill>
                <a:latin typeface="Source Code Pro"/>
              </a:rPr>
              <a:t> (Cross-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Entropy</a:t>
            </a:r>
            <a:r>
              <a:rPr sz="1400">
                <a:solidFill>
                  <a:srgbClr val="E7E7E7"/>
                </a:solidFill>
                <a:latin typeface="Source Code Pro"/>
              </a:rPr>
              <a:t> or MSE).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Backward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94EE6B"/>
                </a:solidFill>
                <a:latin typeface="Source Code Pro"/>
              </a:rPr>
              <a:t>Pass</a:t>
            </a:r>
            <a:r>
              <a:rPr sz="1400">
                <a:solidFill>
                  <a:srgbClr val="E7E7E7"/>
                </a:solidFill>
                <a:latin typeface="Source Code Pro"/>
              </a:rPr>
              <a:t>: compute </a:t>
            </a:r>
            <a:r>
              <a:rPr sz="1400" b="1">
                <a:solidFill>
                  <a:srgbClr val="EC7955"/>
                </a:solidFill>
                <a:latin typeface="Source Code Pro"/>
              </a:rPr>
              <a:t>gradients</a:t>
            </a:r>
            <a:r>
              <a:rPr sz="1400">
                <a:solidFill>
                  <a:srgbClr val="E7E7E7"/>
                </a:solidFill>
                <a:latin typeface="Source Code Pro"/>
              </a:rPr>
              <a:t> using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backpropagation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  Update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weights</a:t>
            </a:r>
            <a:r>
              <a:rPr sz="1400">
                <a:solidFill>
                  <a:srgbClr val="E7E7E7"/>
                </a:solidFill>
                <a:latin typeface="Source Code Pro"/>
              </a:rPr>
              <a:t>: weight = weight - learning_rate ×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gradient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Evaluate on test </a:t>
            </a:r>
            <a:r>
              <a:rPr sz="1400" b="1">
                <a:solidFill>
                  <a:srgbClr val="E81A81"/>
                </a:solidFill>
                <a:latin typeface="Source Code Pro"/>
              </a:rPr>
              <a:t>data</a:t>
            </a:r>
            <a:r>
              <a:rPr sz="1400">
                <a:solidFill>
                  <a:srgbClr val="E7E7E7"/>
                </a:solidFill>
                <a:latin typeface="Source Code Pro"/>
              </a:rPr>
              <a:t> (check for </a:t>
            </a:r>
            <a:r>
              <a:rPr sz="1400" b="1">
                <a:solidFill>
                  <a:srgbClr val="BD64B5"/>
                </a:solidFill>
                <a:latin typeface="Source Code Pro"/>
              </a:rPr>
              <a:t>overfitting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If test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loss</a:t>
            </a:r>
            <a:r>
              <a:rPr sz="1400">
                <a:solidFill>
                  <a:srgbClr val="E7E7E7"/>
                </a:solidFill>
                <a:latin typeface="Source Code Pro"/>
              </a:rPr>
              <a:t> stops improving: Early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Stop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Result: Trained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model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Time: minutes to hours. Depends on </a:t>
            </a:r>
            <a:r>
              <a:rPr sz="1400" b="1">
                <a:solidFill>
                  <a:srgbClr val="EC7955"/>
                </a:solidFill>
                <a:latin typeface="Source Code Pro"/>
              </a:rPr>
              <a:t>data</a:t>
            </a:r>
            <a:r>
              <a:rPr sz="1400">
                <a:solidFill>
                  <a:srgbClr val="E7E7E7"/>
                </a:solidFill>
                <a:latin typeface="Source Code Pro"/>
              </a:rPr>
              <a:t> size and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model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complexity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99271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283F099-0F97-B6B9-F989-139BFAA89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96556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Hyperparameters - What You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learning_rate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How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big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each weight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update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(0.001, 0.01, 0.1?).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Lower = more stable but slower. Higher = faster but unstable.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batch_size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How many samples per weight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update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(16, 32, 64, 128?).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Larger = more stable but less frequent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updates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n_epochs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How many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times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loop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through all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(10, 100, 1000?).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Too few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underfitting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Too many =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overfitting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hidden_sizes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Number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([128, 64], [256, 128, 64]?).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Larger = more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capacity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but slower and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prone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overfitting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dropout_rate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Fraction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drop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(0.2, 0.5, 0.7?).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Higher = more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regularization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but risk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underfitting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2846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D811694-FB03-8F93-7A35-B487F5A81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20613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Xavier Initialization - Smart Weight Startup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Don't initialize </a:t>
            </a:r>
            <a:r>
              <a:rPr sz="1400" b="1">
                <a:solidFill>
                  <a:srgbClr val="94EE6B"/>
                </a:solidFill>
                <a:latin typeface="Source Code Pro"/>
              </a:rPr>
              <a:t>weights</a:t>
            </a:r>
            <a:r>
              <a:rPr sz="1400">
                <a:solidFill>
                  <a:srgbClr val="E7E7E7"/>
                </a:solidFill>
                <a:latin typeface="Source Code Pro"/>
              </a:rPr>
              <a:t> randomly from [-1, 1].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Xavier (Glorot)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Initialization</a:t>
            </a:r>
            <a:r>
              <a:rPr sz="140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For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>
                <a:solidFill>
                  <a:srgbClr val="E7E7E7"/>
                </a:solidFill>
                <a:latin typeface="Source Code Pro"/>
              </a:rPr>
              <a:t> with n_in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inputs</a:t>
            </a:r>
            <a:r>
              <a:rPr sz="1400">
                <a:solidFill>
                  <a:srgbClr val="E7E7E7"/>
                </a:solidFill>
                <a:latin typeface="Source Code Pro"/>
              </a:rPr>
              <a:t> and n_out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outputs</a:t>
            </a:r>
            <a:r>
              <a:rPr sz="140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>
                <a:solidFill>
                  <a:srgbClr val="E81A81"/>
                </a:solidFill>
                <a:latin typeface="Source Code Pro"/>
              </a:rPr>
              <a:t>weights</a:t>
            </a:r>
            <a:r>
              <a:rPr sz="1400">
                <a:solidFill>
                  <a:srgbClr val="E7E7E7"/>
                </a:solidFill>
                <a:latin typeface="Source Code Pro"/>
              </a:rPr>
              <a:t> ~ Uniform[-√(6/(n_in+n_out)), √(6/(n_in+n_out))]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Effect: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Initial</a:t>
            </a:r>
            <a:r>
              <a:rPr sz="1400">
                <a:solidFill>
                  <a:srgbClr val="E7E7E7"/>
                </a:solidFill>
                <a:latin typeface="Source Code Pro"/>
              </a:rPr>
              <a:t> gradients neither too large nor too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small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Avoids </a:t>
            </a:r>
            <a:r>
              <a:rPr sz="1400" b="1">
                <a:solidFill>
                  <a:srgbClr val="E81A81"/>
                </a:solidFill>
                <a:latin typeface="Source Code Pro"/>
              </a:rPr>
              <a:t>vanishing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/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exploding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4CAE97"/>
                </a:solidFill>
                <a:latin typeface="Source Code Pro"/>
              </a:rPr>
              <a:t>gradients</a:t>
            </a:r>
            <a:r>
              <a:rPr sz="1400">
                <a:solidFill>
                  <a:srgbClr val="E7E7E7"/>
                </a:solidFill>
                <a:latin typeface="Source Code Pro"/>
              </a:rPr>
              <a:t> at the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start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He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Initialization</a:t>
            </a:r>
            <a:r>
              <a:rPr sz="1400">
                <a:solidFill>
                  <a:srgbClr val="E7E7E7"/>
                </a:solidFill>
                <a:latin typeface="Source Code Pro"/>
              </a:rPr>
              <a:t> (for ReLU):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>
                <a:solidFill>
                  <a:srgbClr val="94EE6B"/>
                </a:solidFill>
                <a:latin typeface="Source Code Pro"/>
              </a:rPr>
              <a:t>weights</a:t>
            </a:r>
            <a:r>
              <a:rPr sz="1400">
                <a:solidFill>
                  <a:srgbClr val="E7E7E7"/>
                </a:solidFill>
                <a:latin typeface="Source Code Pro"/>
              </a:rPr>
              <a:t> ~ Uniform[-√(6/n_in), √(6/n_in)]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Slightly </a:t>
            </a:r>
            <a:r>
              <a:rPr sz="1400" b="1">
                <a:solidFill>
                  <a:srgbClr val="4CAE97"/>
                </a:solidFill>
                <a:latin typeface="Source Code Pro"/>
              </a:rPr>
              <a:t>different</a:t>
            </a:r>
            <a:r>
              <a:rPr sz="1400">
                <a:solidFill>
                  <a:srgbClr val="E7E7E7"/>
                </a:solidFill>
                <a:latin typeface="Source Code Pro"/>
              </a:rPr>
              <a:t> scaling for ReLU networks.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Most </a:t>
            </a:r>
            <a:r>
              <a:rPr sz="1400" b="1">
                <a:solidFill>
                  <a:srgbClr val="94EE6B"/>
                </a:solidFill>
                <a:latin typeface="Source Code Pro"/>
              </a:rPr>
              <a:t>frameworks</a:t>
            </a:r>
            <a:r>
              <a:rPr sz="1400">
                <a:solidFill>
                  <a:srgbClr val="E7E7E7"/>
                </a:solidFill>
                <a:latin typeface="Source Code Pro"/>
              </a:rPr>
              <a:t> do this automatically. But understand why!</a:t>
            </a:r>
          </a:p>
        </p:txBody>
      </p:sp>
    </p:spTree>
    <p:extLst>
      <p:ext uri="{BB962C8B-B14F-4D97-AF65-F5344CB8AC3E}">
        <p14:creationId xmlns:p14="http://schemas.microsoft.com/office/powerpoint/2010/main" val="150602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5C70654-2A9F-257A-1CFB-7E31D820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20613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Production Use - </a:t>
            </a:r>
            <a:r>
              <a:rPr sz="3200" b="0" dirty="0" err="1">
                <a:solidFill>
                  <a:srgbClr val="FFFFFF"/>
                </a:solidFill>
                <a:latin typeface="Source Code Pro"/>
              </a:rPr>
              <a:t>Hexora</a:t>
            </a:r>
            <a:r>
              <a:rPr sz="3200" b="0" dirty="0">
                <a:solidFill>
                  <a:srgbClr val="FFFFFF"/>
                </a:solidFill>
                <a:latin typeface="Source Code Pro"/>
              </a:rPr>
              <a:t> Customer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958465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Hexora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uses MLPs to classify customers into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risk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segments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Input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Account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transaction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count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average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spend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churn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signals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Hidden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[64, 32]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+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Dropout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(0.3) + 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BatchNorm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Softmax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3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classes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(Low, Medium, High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risk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Learning_rate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0.001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Batch_size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32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Max_epochs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100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Early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stopping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validation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L2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regularization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λ=0.001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94%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test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Prevents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churn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Saves millions.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Inference: &lt;1ms per prediction. Deployed 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production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servers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4449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CFE52EE-A45E-390B-D365-1944DD8EA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When to Use MLPs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Use MLPs if: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b="1">
                <a:solidFill>
                  <a:srgbClr val="EC7955"/>
                </a:solidFill>
                <a:latin typeface="Source Code Pro"/>
              </a:rPr>
              <a:t>Data</a:t>
            </a:r>
            <a:r>
              <a:rPr sz="1400">
                <a:solidFill>
                  <a:srgbClr val="E7E7E7"/>
                </a:solidFill>
                <a:latin typeface="Source Code Pro"/>
              </a:rPr>
              <a:t> is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tabular</a:t>
            </a:r>
            <a:r>
              <a:rPr sz="1400">
                <a:solidFill>
                  <a:srgbClr val="E7E7E7"/>
                </a:solidFill>
                <a:latin typeface="Source Code Pro"/>
              </a:rPr>
              <a:t> (rows and columns).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You need </a:t>
            </a:r>
            <a:r>
              <a:rPr sz="1400" b="1">
                <a:solidFill>
                  <a:srgbClr val="94EE6B"/>
                </a:solidFill>
                <a:latin typeface="Source Code Pro"/>
              </a:rPr>
              <a:t>fast</a:t>
            </a:r>
            <a:r>
              <a:rPr sz="1400">
                <a:solidFill>
                  <a:srgbClr val="E7E7E7"/>
                </a:solidFill>
                <a:latin typeface="Source Code Pro"/>
              </a:rPr>
              <a:t> training (minutes, not hours).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Model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interpretability</a:t>
            </a:r>
            <a:r>
              <a:rPr sz="1400">
                <a:solidFill>
                  <a:srgbClr val="E7E7E7"/>
                </a:solidFill>
                <a:latin typeface="Source Code Pro"/>
              </a:rPr>
              <a:t> is secondary.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You have &lt;1M </a:t>
            </a:r>
            <a:r>
              <a:rPr sz="1400" b="1">
                <a:solidFill>
                  <a:srgbClr val="4CAE97"/>
                </a:solidFill>
                <a:latin typeface="Source Code Pro"/>
              </a:rPr>
              <a:t>samples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Don't use MLPs if: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b="1">
                <a:solidFill>
                  <a:srgbClr val="EC7955"/>
                </a:solidFill>
                <a:latin typeface="Source Code Pro"/>
              </a:rPr>
              <a:t>Data</a:t>
            </a:r>
            <a:r>
              <a:rPr sz="1400">
                <a:solidFill>
                  <a:srgbClr val="E7E7E7"/>
                </a:solidFill>
                <a:latin typeface="Source Code Pro"/>
              </a:rPr>
              <a:t> is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images</a:t>
            </a:r>
            <a:r>
              <a:rPr sz="1400">
                <a:solidFill>
                  <a:srgbClr val="E7E7E7"/>
                </a:solidFill>
                <a:latin typeface="Source Code Pro"/>
              </a:rPr>
              <a:t> (use CNNs instead).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b="1">
                <a:solidFill>
                  <a:srgbClr val="E81A81"/>
                </a:solidFill>
                <a:latin typeface="Source Code Pro"/>
              </a:rPr>
              <a:t>Data</a:t>
            </a:r>
            <a:r>
              <a:rPr sz="1400">
                <a:solidFill>
                  <a:srgbClr val="E7E7E7"/>
                </a:solidFill>
                <a:latin typeface="Source Code Pro"/>
              </a:rPr>
              <a:t> is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sequences</a:t>
            </a:r>
            <a:r>
              <a:rPr sz="1400">
                <a:solidFill>
                  <a:srgbClr val="E7E7E7"/>
                </a:solidFill>
                <a:latin typeface="Source Code Pro"/>
              </a:rPr>
              <a:t>/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text</a:t>
            </a:r>
            <a:r>
              <a:rPr sz="1400">
                <a:solidFill>
                  <a:srgbClr val="E7E7E7"/>
                </a:solidFill>
                <a:latin typeface="Source Code Pro"/>
              </a:rPr>
              <a:t> (use RNNs/Transformers instead).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- You need extreme interpretability (use Decision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Trees</a:t>
            </a:r>
            <a:r>
              <a:rPr sz="1400">
                <a:solidFill>
                  <a:srgbClr val="E7E7E7"/>
                </a:solidFill>
                <a:latin typeface="Source Code Pro"/>
              </a:rPr>
              <a:t> instead).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MLPs are the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baseline</a:t>
            </a:r>
            <a:r>
              <a:rPr sz="1400">
                <a:solidFill>
                  <a:srgbClr val="E7E7E7"/>
                </a:solidFill>
                <a:latin typeface="Source Code Pro"/>
              </a:rPr>
              <a:t>. Always </a:t>
            </a:r>
            <a:r>
              <a:rPr sz="1400" b="1">
                <a:solidFill>
                  <a:srgbClr val="4CAE97"/>
                </a:solidFill>
                <a:latin typeface="Source Code Pro"/>
              </a:rPr>
              <a:t>try</a:t>
            </a:r>
            <a:r>
              <a:rPr sz="1400">
                <a:solidFill>
                  <a:srgbClr val="E7E7E7"/>
                </a:solidFill>
                <a:latin typeface="Source Code Pro"/>
              </a:rPr>
              <a:t> them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first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27483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3765</Words>
  <Application>Microsoft Office PowerPoint</Application>
  <PresentationFormat>Widescreen</PresentationFormat>
  <Paragraphs>459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Arial</vt:lpstr>
      <vt:lpstr>Bebas Neue</vt:lpstr>
      <vt:lpstr>Calibri</vt:lpstr>
      <vt:lpstr>Comfortaa</vt:lpstr>
      <vt:lpstr>Fira Code</vt:lpstr>
      <vt:lpstr>Nunito Light</vt:lpstr>
      <vt:lpstr>pplxSansMono</vt:lpstr>
      <vt:lpstr>pplxSerif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15 </vt:lpstr>
      <vt:lpstr>PowerPoint Presentation</vt:lpstr>
      <vt:lpstr>Flow of Neural Network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Awais Qarni</cp:lastModifiedBy>
  <cp:revision>140</cp:revision>
  <dcterms:created xsi:type="dcterms:W3CDTF">2026-03-05T18:59:57Z</dcterms:created>
  <dcterms:modified xsi:type="dcterms:W3CDTF">2026-05-03T20:00:40Z</dcterms:modified>
</cp:coreProperties>
</file>