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8" r:id="rId3"/>
    <p:sldId id="271" r:id="rId4"/>
    <p:sldId id="257" r:id="rId5"/>
    <p:sldId id="261" r:id="rId6"/>
    <p:sldId id="263" r:id="rId7"/>
    <p:sldId id="273" r:id="rId8"/>
    <p:sldId id="272" r:id="rId9"/>
    <p:sldId id="274" r:id="rId10"/>
    <p:sldId id="275" r:id="rId11"/>
    <p:sldId id="276" r:id="rId12"/>
    <p:sldId id="270" r:id="rId13"/>
    <p:sldId id="277" r:id="rId14"/>
    <p:sldId id="278" r:id="rId15"/>
    <p:sldId id="27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9E6B2-7D43-498C-8D81-90403BCE905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F70B860-C9CF-4149-A559-64C330EDC2F3}">
      <dgm:prSet/>
      <dgm:spPr/>
      <dgm:t>
        <a:bodyPr/>
        <a:lstStyle/>
        <a:p>
          <a:r>
            <a:rPr lang="en-US" b="1"/>
            <a:t>🔹 Types of Polymorphism in Python</a:t>
          </a:r>
          <a:endParaRPr lang="en-US"/>
        </a:p>
      </dgm:t>
    </dgm:pt>
    <dgm:pt modelId="{E1FF5009-A5B3-4085-A552-9A97F77A865C}" type="parTrans" cxnId="{2602C443-77C4-4ECE-941F-29DDD0C84467}">
      <dgm:prSet/>
      <dgm:spPr/>
      <dgm:t>
        <a:bodyPr/>
        <a:lstStyle/>
        <a:p>
          <a:endParaRPr lang="en-US"/>
        </a:p>
      </dgm:t>
    </dgm:pt>
    <dgm:pt modelId="{9A8A5107-A3F4-4B94-885F-DCD6E0BBE0F4}" type="sibTrans" cxnId="{2602C443-77C4-4ECE-941F-29DDD0C84467}">
      <dgm:prSet/>
      <dgm:spPr/>
      <dgm:t>
        <a:bodyPr/>
        <a:lstStyle/>
        <a:p>
          <a:endParaRPr lang="en-US"/>
        </a:p>
      </dgm:t>
    </dgm:pt>
    <dgm:pt modelId="{612AD871-912C-44F1-8456-690DDF7EAE9C}">
      <dgm:prSet/>
      <dgm:spPr/>
      <dgm:t>
        <a:bodyPr/>
        <a:lstStyle/>
        <a:p>
          <a:r>
            <a:rPr lang="en-US" b="1"/>
            <a:t>1. Compile-time (Not fully in Python)</a:t>
          </a:r>
          <a:endParaRPr lang="en-US"/>
        </a:p>
      </dgm:t>
    </dgm:pt>
    <dgm:pt modelId="{58396EBD-5363-43AF-AF1A-16D19DB47969}" type="parTrans" cxnId="{1D685C99-56CC-47BE-AC92-6A03BDFC6511}">
      <dgm:prSet/>
      <dgm:spPr/>
      <dgm:t>
        <a:bodyPr/>
        <a:lstStyle/>
        <a:p>
          <a:endParaRPr lang="en-US"/>
        </a:p>
      </dgm:t>
    </dgm:pt>
    <dgm:pt modelId="{6BF728F9-961A-412E-96EB-6E595A926083}" type="sibTrans" cxnId="{1D685C99-56CC-47BE-AC92-6A03BDFC6511}">
      <dgm:prSet/>
      <dgm:spPr/>
      <dgm:t>
        <a:bodyPr/>
        <a:lstStyle/>
        <a:p>
          <a:endParaRPr lang="en-US"/>
        </a:p>
      </dgm:t>
    </dgm:pt>
    <dgm:pt modelId="{1DA397EC-2D3C-449E-A1E4-89FFFC41A094}">
      <dgm:prSet/>
      <dgm:spPr/>
      <dgm:t>
        <a:bodyPr/>
        <a:lstStyle/>
        <a:p>
          <a:r>
            <a:rPr lang="en-US"/>
            <a:t>Method overloading (Python doesn't support directly) </a:t>
          </a:r>
        </a:p>
      </dgm:t>
    </dgm:pt>
    <dgm:pt modelId="{24FEDE83-582D-4A91-B9A7-23BF5499FFF3}" type="parTrans" cxnId="{E76B102F-0F01-460A-A052-B7C9A869980A}">
      <dgm:prSet/>
      <dgm:spPr/>
      <dgm:t>
        <a:bodyPr/>
        <a:lstStyle/>
        <a:p>
          <a:endParaRPr lang="en-US"/>
        </a:p>
      </dgm:t>
    </dgm:pt>
    <dgm:pt modelId="{B8AA7E34-B633-427F-96CE-C082C4C2CF9A}" type="sibTrans" cxnId="{E76B102F-0F01-460A-A052-B7C9A869980A}">
      <dgm:prSet/>
      <dgm:spPr/>
      <dgm:t>
        <a:bodyPr/>
        <a:lstStyle/>
        <a:p>
          <a:endParaRPr lang="en-US"/>
        </a:p>
      </dgm:t>
    </dgm:pt>
    <dgm:pt modelId="{FBF107AD-6656-46B1-B6AD-B246A1B034CA}">
      <dgm:prSet/>
      <dgm:spPr/>
      <dgm:t>
        <a:bodyPr/>
        <a:lstStyle/>
        <a:p>
          <a:r>
            <a:rPr lang="en-US" b="1" dirty="0"/>
            <a:t>2. Runtime Polymorphism (IMPORTANT)</a:t>
          </a:r>
          <a:endParaRPr lang="en-US" dirty="0"/>
        </a:p>
      </dgm:t>
    </dgm:pt>
    <dgm:pt modelId="{FB4782A0-5A24-4A55-8331-167F34376D4D}" type="parTrans" cxnId="{CC7FC365-15F3-4EFC-8ADE-652BE50AFDDE}">
      <dgm:prSet/>
      <dgm:spPr/>
      <dgm:t>
        <a:bodyPr/>
        <a:lstStyle/>
        <a:p>
          <a:endParaRPr lang="en-US"/>
        </a:p>
      </dgm:t>
    </dgm:pt>
    <dgm:pt modelId="{2524D6E0-107C-483B-8EF1-84948F7DF098}" type="sibTrans" cxnId="{CC7FC365-15F3-4EFC-8ADE-652BE50AFDDE}">
      <dgm:prSet/>
      <dgm:spPr/>
      <dgm:t>
        <a:bodyPr/>
        <a:lstStyle/>
        <a:p>
          <a:endParaRPr lang="en-US"/>
        </a:p>
      </dgm:t>
    </dgm:pt>
    <dgm:pt modelId="{0E75D6FD-B1E8-4216-8794-A0A0C728C174}">
      <dgm:prSet/>
      <dgm:spPr/>
      <dgm:t>
        <a:bodyPr/>
        <a:lstStyle/>
        <a:p>
          <a:r>
            <a:rPr lang="en-US"/>
            <a:t>Method overriding (main concept in Python OOP)</a:t>
          </a:r>
        </a:p>
      </dgm:t>
    </dgm:pt>
    <dgm:pt modelId="{AAC9F2E1-F35E-42A2-AC4F-3BD984D405A1}" type="parTrans" cxnId="{876A5987-0D79-4C27-9701-ED1E8C4BE9BE}">
      <dgm:prSet/>
      <dgm:spPr/>
      <dgm:t>
        <a:bodyPr/>
        <a:lstStyle/>
        <a:p>
          <a:endParaRPr lang="en-US"/>
        </a:p>
      </dgm:t>
    </dgm:pt>
    <dgm:pt modelId="{757C6B36-4DA0-41AF-8163-D821569EDE61}" type="sibTrans" cxnId="{876A5987-0D79-4C27-9701-ED1E8C4BE9BE}">
      <dgm:prSet/>
      <dgm:spPr/>
      <dgm:t>
        <a:bodyPr/>
        <a:lstStyle/>
        <a:p>
          <a:endParaRPr lang="en-US"/>
        </a:p>
      </dgm:t>
    </dgm:pt>
    <dgm:pt modelId="{883AB4C3-0C79-468C-8F6A-245B5AF50436}" type="pres">
      <dgm:prSet presAssocID="{40C9E6B2-7D43-498C-8D81-90403BCE9054}" presName="Name0" presStyleCnt="0">
        <dgm:presLayoutVars>
          <dgm:dir/>
          <dgm:resizeHandles val="exact"/>
        </dgm:presLayoutVars>
      </dgm:prSet>
      <dgm:spPr/>
    </dgm:pt>
    <dgm:pt modelId="{B8F73466-F7E9-4EA6-9DEC-9B18D85F175A}" type="pres">
      <dgm:prSet presAssocID="{4F70B860-C9CF-4149-A559-64C330EDC2F3}" presName="node" presStyleLbl="node1" presStyleIdx="0" presStyleCnt="5">
        <dgm:presLayoutVars>
          <dgm:bulletEnabled val="1"/>
        </dgm:presLayoutVars>
      </dgm:prSet>
      <dgm:spPr/>
    </dgm:pt>
    <dgm:pt modelId="{C9AD5F89-D44A-4C63-AE52-FC852217B22B}" type="pres">
      <dgm:prSet presAssocID="{9A8A5107-A3F4-4B94-885F-DCD6E0BBE0F4}" presName="sibTrans" presStyleLbl="sibTrans2D1" presStyleIdx="0" presStyleCnt="4"/>
      <dgm:spPr/>
    </dgm:pt>
    <dgm:pt modelId="{DD8BBF3F-DE3B-4472-AD12-0BB68B1DD024}" type="pres">
      <dgm:prSet presAssocID="{9A8A5107-A3F4-4B94-885F-DCD6E0BBE0F4}" presName="connectorText" presStyleLbl="sibTrans2D1" presStyleIdx="0" presStyleCnt="4"/>
      <dgm:spPr/>
    </dgm:pt>
    <dgm:pt modelId="{67DCFAD0-9130-4CEA-9A31-BD1128920892}" type="pres">
      <dgm:prSet presAssocID="{612AD871-912C-44F1-8456-690DDF7EAE9C}" presName="node" presStyleLbl="node1" presStyleIdx="1" presStyleCnt="5">
        <dgm:presLayoutVars>
          <dgm:bulletEnabled val="1"/>
        </dgm:presLayoutVars>
      </dgm:prSet>
      <dgm:spPr/>
    </dgm:pt>
    <dgm:pt modelId="{BE8E1D14-964F-4CA8-A3A5-74A703C237EA}" type="pres">
      <dgm:prSet presAssocID="{6BF728F9-961A-412E-96EB-6E595A926083}" presName="sibTrans" presStyleLbl="sibTrans2D1" presStyleIdx="1" presStyleCnt="4"/>
      <dgm:spPr/>
    </dgm:pt>
    <dgm:pt modelId="{8FB9EAF3-0D19-4831-8D4B-E47D55F01CFC}" type="pres">
      <dgm:prSet presAssocID="{6BF728F9-961A-412E-96EB-6E595A926083}" presName="connectorText" presStyleLbl="sibTrans2D1" presStyleIdx="1" presStyleCnt="4"/>
      <dgm:spPr/>
    </dgm:pt>
    <dgm:pt modelId="{EE00F0BD-AB02-4303-96DC-B8F0BC0BC0D3}" type="pres">
      <dgm:prSet presAssocID="{1DA397EC-2D3C-449E-A1E4-89FFFC41A094}" presName="node" presStyleLbl="node1" presStyleIdx="2" presStyleCnt="5">
        <dgm:presLayoutVars>
          <dgm:bulletEnabled val="1"/>
        </dgm:presLayoutVars>
      </dgm:prSet>
      <dgm:spPr/>
    </dgm:pt>
    <dgm:pt modelId="{F4E1843F-2A28-4B6C-8BC1-A032CC54D81B}" type="pres">
      <dgm:prSet presAssocID="{B8AA7E34-B633-427F-96CE-C082C4C2CF9A}" presName="sibTrans" presStyleLbl="sibTrans2D1" presStyleIdx="2" presStyleCnt="4"/>
      <dgm:spPr/>
    </dgm:pt>
    <dgm:pt modelId="{7390BA79-22A3-4334-BBDE-6FB4D22D013A}" type="pres">
      <dgm:prSet presAssocID="{B8AA7E34-B633-427F-96CE-C082C4C2CF9A}" presName="connectorText" presStyleLbl="sibTrans2D1" presStyleIdx="2" presStyleCnt="4"/>
      <dgm:spPr/>
    </dgm:pt>
    <dgm:pt modelId="{8ADC1300-3481-4295-AE70-98B970DA586A}" type="pres">
      <dgm:prSet presAssocID="{FBF107AD-6656-46B1-B6AD-B246A1B034CA}" presName="node" presStyleLbl="node1" presStyleIdx="3" presStyleCnt="5">
        <dgm:presLayoutVars>
          <dgm:bulletEnabled val="1"/>
        </dgm:presLayoutVars>
      </dgm:prSet>
      <dgm:spPr/>
    </dgm:pt>
    <dgm:pt modelId="{48BD2FF9-0686-4B9B-94D4-20462C0C5DE1}" type="pres">
      <dgm:prSet presAssocID="{2524D6E0-107C-483B-8EF1-84948F7DF098}" presName="sibTrans" presStyleLbl="sibTrans2D1" presStyleIdx="3" presStyleCnt="4"/>
      <dgm:spPr/>
    </dgm:pt>
    <dgm:pt modelId="{57B1A784-73D8-4F6D-A339-BBD931817CED}" type="pres">
      <dgm:prSet presAssocID="{2524D6E0-107C-483B-8EF1-84948F7DF098}" presName="connectorText" presStyleLbl="sibTrans2D1" presStyleIdx="3" presStyleCnt="4"/>
      <dgm:spPr/>
    </dgm:pt>
    <dgm:pt modelId="{3186710E-DF88-4D0D-A605-55232F7C7E1F}" type="pres">
      <dgm:prSet presAssocID="{0E75D6FD-B1E8-4216-8794-A0A0C728C174}" presName="node" presStyleLbl="node1" presStyleIdx="4" presStyleCnt="5">
        <dgm:presLayoutVars>
          <dgm:bulletEnabled val="1"/>
        </dgm:presLayoutVars>
      </dgm:prSet>
      <dgm:spPr/>
    </dgm:pt>
  </dgm:ptLst>
  <dgm:cxnLst>
    <dgm:cxn modelId="{28585C24-D2F8-40CA-B688-5370EDE4F4F8}" type="presOf" srcId="{6BF728F9-961A-412E-96EB-6E595A926083}" destId="{8FB9EAF3-0D19-4831-8D4B-E47D55F01CFC}" srcOrd="1" destOrd="0" presId="urn:microsoft.com/office/officeart/2005/8/layout/process1"/>
    <dgm:cxn modelId="{E76B102F-0F01-460A-A052-B7C9A869980A}" srcId="{40C9E6B2-7D43-498C-8D81-90403BCE9054}" destId="{1DA397EC-2D3C-449E-A1E4-89FFFC41A094}" srcOrd="2" destOrd="0" parTransId="{24FEDE83-582D-4A91-B9A7-23BF5499FFF3}" sibTransId="{B8AA7E34-B633-427F-96CE-C082C4C2CF9A}"/>
    <dgm:cxn modelId="{A3223C36-E6AB-4983-BE6A-36194960B8AD}" type="presOf" srcId="{40C9E6B2-7D43-498C-8D81-90403BCE9054}" destId="{883AB4C3-0C79-468C-8F6A-245B5AF50436}" srcOrd="0" destOrd="0" presId="urn:microsoft.com/office/officeart/2005/8/layout/process1"/>
    <dgm:cxn modelId="{3365F25D-8181-4945-9E17-F9225C6687DD}" type="presOf" srcId="{4F70B860-C9CF-4149-A559-64C330EDC2F3}" destId="{B8F73466-F7E9-4EA6-9DEC-9B18D85F175A}" srcOrd="0" destOrd="0" presId="urn:microsoft.com/office/officeart/2005/8/layout/process1"/>
    <dgm:cxn modelId="{2602C443-77C4-4ECE-941F-29DDD0C84467}" srcId="{40C9E6B2-7D43-498C-8D81-90403BCE9054}" destId="{4F70B860-C9CF-4149-A559-64C330EDC2F3}" srcOrd="0" destOrd="0" parTransId="{E1FF5009-A5B3-4085-A552-9A97F77A865C}" sibTransId="{9A8A5107-A3F4-4B94-885F-DCD6E0BBE0F4}"/>
    <dgm:cxn modelId="{428B4764-8051-40A2-B06B-317C990A12FE}" type="presOf" srcId="{2524D6E0-107C-483B-8EF1-84948F7DF098}" destId="{57B1A784-73D8-4F6D-A339-BBD931817CED}" srcOrd="1" destOrd="0" presId="urn:microsoft.com/office/officeart/2005/8/layout/process1"/>
    <dgm:cxn modelId="{CC7FC365-15F3-4EFC-8ADE-652BE50AFDDE}" srcId="{40C9E6B2-7D43-498C-8D81-90403BCE9054}" destId="{FBF107AD-6656-46B1-B6AD-B246A1B034CA}" srcOrd="3" destOrd="0" parTransId="{FB4782A0-5A24-4A55-8331-167F34376D4D}" sibTransId="{2524D6E0-107C-483B-8EF1-84948F7DF098}"/>
    <dgm:cxn modelId="{C83F1066-7F74-46F6-A5E5-BAF3BCE53DC9}" type="presOf" srcId="{9A8A5107-A3F4-4B94-885F-DCD6E0BBE0F4}" destId="{DD8BBF3F-DE3B-4472-AD12-0BB68B1DD024}" srcOrd="1" destOrd="0" presId="urn:microsoft.com/office/officeart/2005/8/layout/process1"/>
    <dgm:cxn modelId="{336BF77D-8F81-4E1F-8791-733781DAE12F}" type="presOf" srcId="{1DA397EC-2D3C-449E-A1E4-89FFFC41A094}" destId="{EE00F0BD-AB02-4303-96DC-B8F0BC0BC0D3}" srcOrd="0" destOrd="0" presId="urn:microsoft.com/office/officeart/2005/8/layout/process1"/>
    <dgm:cxn modelId="{40541485-5E33-4092-82D4-24DFC2DCB127}" type="presOf" srcId="{6BF728F9-961A-412E-96EB-6E595A926083}" destId="{BE8E1D14-964F-4CA8-A3A5-74A703C237EA}" srcOrd="0" destOrd="0" presId="urn:microsoft.com/office/officeart/2005/8/layout/process1"/>
    <dgm:cxn modelId="{876A5987-0D79-4C27-9701-ED1E8C4BE9BE}" srcId="{40C9E6B2-7D43-498C-8D81-90403BCE9054}" destId="{0E75D6FD-B1E8-4216-8794-A0A0C728C174}" srcOrd="4" destOrd="0" parTransId="{AAC9F2E1-F35E-42A2-AC4F-3BD984D405A1}" sibTransId="{757C6B36-4DA0-41AF-8163-D821569EDE61}"/>
    <dgm:cxn modelId="{E8FDD58C-758D-4230-ADFB-1B3C7F58B7C9}" type="presOf" srcId="{2524D6E0-107C-483B-8EF1-84948F7DF098}" destId="{48BD2FF9-0686-4B9B-94D4-20462C0C5DE1}" srcOrd="0" destOrd="0" presId="urn:microsoft.com/office/officeart/2005/8/layout/process1"/>
    <dgm:cxn modelId="{1D685C99-56CC-47BE-AC92-6A03BDFC6511}" srcId="{40C9E6B2-7D43-498C-8D81-90403BCE9054}" destId="{612AD871-912C-44F1-8456-690DDF7EAE9C}" srcOrd="1" destOrd="0" parTransId="{58396EBD-5363-43AF-AF1A-16D19DB47969}" sibTransId="{6BF728F9-961A-412E-96EB-6E595A926083}"/>
    <dgm:cxn modelId="{E9325EA2-AE9A-4CFB-B5FB-8A7E41E786B1}" type="presOf" srcId="{612AD871-912C-44F1-8456-690DDF7EAE9C}" destId="{67DCFAD0-9130-4CEA-9A31-BD1128920892}" srcOrd="0" destOrd="0" presId="urn:microsoft.com/office/officeart/2005/8/layout/process1"/>
    <dgm:cxn modelId="{0F545BB1-707F-42F1-90B5-DFF6498AE459}" type="presOf" srcId="{FBF107AD-6656-46B1-B6AD-B246A1B034CA}" destId="{8ADC1300-3481-4295-AE70-98B970DA586A}" srcOrd="0" destOrd="0" presId="urn:microsoft.com/office/officeart/2005/8/layout/process1"/>
    <dgm:cxn modelId="{59F667B8-C29D-4E3A-8430-66F781B4B419}" type="presOf" srcId="{B8AA7E34-B633-427F-96CE-C082C4C2CF9A}" destId="{7390BA79-22A3-4334-BBDE-6FB4D22D013A}" srcOrd="1" destOrd="0" presId="urn:microsoft.com/office/officeart/2005/8/layout/process1"/>
    <dgm:cxn modelId="{4C5EDFC7-868F-48ED-B8C0-C6F5650DECA7}" type="presOf" srcId="{0E75D6FD-B1E8-4216-8794-A0A0C728C174}" destId="{3186710E-DF88-4D0D-A605-55232F7C7E1F}" srcOrd="0" destOrd="0" presId="urn:microsoft.com/office/officeart/2005/8/layout/process1"/>
    <dgm:cxn modelId="{54C226C9-186A-4E85-8758-366092CE61AE}" type="presOf" srcId="{9A8A5107-A3F4-4B94-885F-DCD6E0BBE0F4}" destId="{C9AD5F89-D44A-4C63-AE52-FC852217B22B}" srcOrd="0" destOrd="0" presId="urn:microsoft.com/office/officeart/2005/8/layout/process1"/>
    <dgm:cxn modelId="{AA3879DE-0EDC-4284-A5D6-17A91CB2CF01}" type="presOf" srcId="{B8AA7E34-B633-427F-96CE-C082C4C2CF9A}" destId="{F4E1843F-2A28-4B6C-8BC1-A032CC54D81B}" srcOrd="0" destOrd="0" presId="urn:microsoft.com/office/officeart/2005/8/layout/process1"/>
    <dgm:cxn modelId="{AAE362A1-9D37-4571-AA50-31DFDC1BEB0C}" type="presParOf" srcId="{883AB4C3-0C79-468C-8F6A-245B5AF50436}" destId="{B8F73466-F7E9-4EA6-9DEC-9B18D85F175A}" srcOrd="0" destOrd="0" presId="urn:microsoft.com/office/officeart/2005/8/layout/process1"/>
    <dgm:cxn modelId="{8FFD5BF1-15C0-40AA-8918-CE5C51376F4A}" type="presParOf" srcId="{883AB4C3-0C79-468C-8F6A-245B5AF50436}" destId="{C9AD5F89-D44A-4C63-AE52-FC852217B22B}" srcOrd="1" destOrd="0" presId="urn:microsoft.com/office/officeart/2005/8/layout/process1"/>
    <dgm:cxn modelId="{7BF227E8-1E8A-43DF-B045-B67A2AD2A4CC}" type="presParOf" srcId="{C9AD5F89-D44A-4C63-AE52-FC852217B22B}" destId="{DD8BBF3F-DE3B-4472-AD12-0BB68B1DD024}" srcOrd="0" destOrd="0" presId="urn:microsoft.com/office/officeart/2005/8/layout/process1"/>
    <dgm:cxn modelId="{9F104DB6-92D2-4A9A-9634-7239A2B96ECA}" type="presParOf" srcId="{883AB4C3-0C79-468C-8F6A-245B5AF50436}" destId="{67DCFAD0-9130-4CEA-9A31-BD1128920892}" srcOrd="2" destOrd="0" presId="urn:microsoft.com/office/officeart/2005/8/layout/process1"/>
    <dgm:cxn modelId="{CB8CF93C-AC9A-4876-B7DE-918B291F48CF}" type="presParOf" srcId="{883AB4C3-0C79-468C-8F6A-245B5AF50436}" destId="{BE8E1D14-964F-4CA8-A3A5-74A703C237EA}" srcOrd="3" destOrd="0" presId="urn:microsoft.com/office/officeart/2005/8/layout/process1"/>
    <dgm:cxn modelId="{BDBB2819-A940-4044-AB99-894C26BB1D88}" type="presParOf" srcId="{BE8E1D14-964F-4CA8-A3A5-74A703C237EA}" destId="{8FB9EAF3-0D19-4831-8D4B-E47D55F01CFC}" srcOrd="0" destOrd="0" presId="urn:microsoft.com/office/officeart/2005/8/layout/process1"/>
    <dgm:cxn modelId="{F84C4FAA-E734-416A-9083-17E5C95357E3}" type="presParOf" srcId="{883AB4C3-0C79-468C-8F6A-245B5AF50436}" destId="{EE00F0BD-AB02-4303-96DC-B8F0BC0BC0D3}" srcOrd="4" destOrd="0" presId="urn:microsoft.com/office/officeart/2005/8/layout/process1"/>
    <dgm:cxn modelId="{F04A57D8-6563-4CCD-93ED-30019CEBE781}" type="presParOf" srcId="{883AB4C3-0C79-468C-8F6A-245B5AF50436}" destId="{F4E1843F-2A28-4B6C-8BC1-A032CC54D81B}" srcOrd="5" destOrd="0" presId="urn:microsoft.com/office/officeart/2005/8/layout/process1"/>
    <dgm:cxn modelId="{5451C07E-05A8-413E-A14D-C4D44F23CEC0}" type="presParOf" srcId="{F4E1843F-2A28-4B6C-8BC1-A032CC54D81B}" destId="{7390BA79-22A3-4334-BBDE-6FB4D22D013A}" srcOrd="0" destOrd="0" presId="urn:microsoft.com/office/officeart/2005/8/layout/process1"/>
    <dgm:cxn modelId="{B4F35ABA-D044-4BBB-A315-DC305A04DD96}" type="presParOf" srcId="{883AB4C3-0C79-468C-8F6A-245B5AF50436}" destId="{8ADC1300-3481-4295-AE70-98B970DA586A}" srcOrd="6" destOrd="0" presId="urn:microsoft.com/office/officeart/2005/8/layout/process1"/>
    <dgm:cxn modelId="{78C01537-E43D-47D1-84BE-E227BB28A70B}" type="presParOf" srcId="{883AB4C3-0C79-468C-8F6A-245B5AF50436}" destId="{48BD2FF9-0686-4B9B-94D4-20462C0C5DE1}" srcOrd="7" destOrd="0" presId="urn:microsoft.com/office/officeart/2005/8/layout/process1"/>
    <dgm:cxn modelId="{B05D95FA-46F4-4188-A193-1069AB58D9C9}" type="presParOf" srcId="{48BD2FF9-0686-4B9B-94D4-20462C0C5DE1}" destId="{57B1A784-73D8-4F6D-A339-BBD931817CED}" srcOrd="0" destOrd="0" presId="urn:microsoft.com/office/officeart/2005/8/layout/process1"/>
    <dgm:cxn modelId="{154C6EBF-BE56-4A35-AD41-DB528C7495EB}" type="presParOf" srcId="{883AB4C3-0C79-468C-8F6A-245B5AF50436}" destId="{3186710E-DF88-4D0D-A605-55232F7C7E1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F73466-F7E9-4EA6-9DEC-9B18D85F175A}">
      <dsp:nvSpPr>
        <dsp:cNvPr id="0" name=""/>
        <dsp:cNvSpPr/>
      </dsp:nvSpPr>
      <dsp:spPr>
        <a:xfrm>
          <a:off x="3006" y="445916"/>
          <a:ext cx="932132" cy="585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🔹 Types of Polymorphism in Python</a:t>
          </a:r>
          <a:endParaRPr lang="en-US" sz="900" kern="1200"/>
        </a:p>
      </dsp:txBody>
      <dsp:txXfrm>
        <a:off x="20155" y="463065"/>
        <a:ext cx="897834" cy="551197"/>
      </dsp:txXfrm>
    </dsp:sp>
    <dsp:sp modelId="{C9AD5F89-D44A-4C63-AE52-FC852217B22B}">
      <dsp:nvSpPr>
        <dsp:cNvPr id="0" name=""/>
        <dsp:cNvSpPr/>
      </dsp:nvSpPr>
      <dsp:spPr>
        <a:xfrm>
          <a:off x="1028352" y="623079"/>
          <a:ext cx="197612" cy="23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028352" y="669313"/>
        <a:ext cx="138328" cy="138700"/>
      </dsp:txXfrm>
    </dsp:sp>
    <dsp:sp modelId="{67DCFAD0-9130-4CEA-9A31-BD1128920892}">
      <dsp:nvSpPr>
        <dsp:cNvPr id="0" name=""/>
        <dsp:cNvSpPr/>
      </dsp:nvSpPr>
      <dsp:spPr>
        <a:xfrm>
          <a:off x="1307992" y="445916"/>
          <a:ext cx="932132" cy="585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1. Compile-time (Not fully in Python)</a:t>
          </a:r>
          <a:endParaRPr lang="en-US" sz="900" kern="1200"/>
        </a:p>
      </dsp:txBody>
      <dsp:txXfrm>
        <a:off x="1325141" y="463065"/>
        <a:ext cx="897834" cy="551197"/>
      </dsp:txXfrm>
    </dsp:sp>
    <dsp:sp modelId="{BE8E1D14-964F-4CA8-A3A5-74A703C237EA}">
      <dsp:nvSpPr>
        <dsp:cNvPr id="0" name=""/>
        <dsp:cNvSpPr/>
      </dsp:nvSpPr>
      <dsp:spPr>
        <a:xfrm>
          <a:off x="2333338" y="623079"/>
          <a:ext cx="197612" cy="23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333338" y="669313"/>
        <a:ext cx="138328" cy="138700"/>
      </dsp:txXfrm>
    </dsp:sp>
    <dsp:sp modelId="{EE00F0BD-AB02-4303-96DC-B8F0BC0BC0D3}">
      <dsp:nvSpPr>
        <dsp:cNvPr id="0" name=""/>
        <dsp:cNvSpPr/>
      </dsp:nvSpPr>
      <dsp:spPr>
        <a:xfrm>
          <a:off x="2612977" y="445916"/>
          <a:ext cx="932132" cy="585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Method overloading (Python doesn't support directly) </a:t>
          </a:r>
        </a:p>
      </dsp:txBody>
      <dsp:txXfrm>
        <a:off x="2630126" y="463065"/>
        <a:ext cx="897834" cy="551197"/>
      </dsp:txXfrm>
    </dsp:sp>
    <dsp:sp modelId="{F4E1843F-2A28-4B6C-8BC1-A032CC54D81B}">
      <dsp:nvSpPr>
        <dsp:cNvPr id="0" name=""/>
        <dsp:cNvSpPr/>
      </dsp:nvSpPr>
      <dsp:spPr>
        <a:xfrm>
          <a:off x="3638323" y="623079"/>
          <a:ext cx="197612" cy="23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638323" y="669313"/>
        <a:ext cx="138328" cy="138700"/>
      </dsp:txXfrm>
    </dsp:sp>
    <dsp:sp modelId="{8ADC1300-3481-4295-AE70-98B970DA586A}">
      <dsp:nvSpPr>
        <dsp:cNvPr id="0" name=""/>
        <dsp:cNvSpPr/>
      </dsp:nvSpPr>
      <dsp:spPr>
        <a:xfrm>
          <a:off x="3917963" y="445916"/>
          <a:ext cx="932132" cy="585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2. Runtime Polymorphism (IMPORTANT)</a:t>
          </a:r>
          <a:endParaRPr lang="en-US" sz="900" kern="1200" dirty="0"/>
        </a:p>
      </dsp:txBody>
      <dsp:txXfrm>
        <a:off x="3935112" y="463065"/>
        <a:ext cx="897834" cy="551197"/>
      </dsp:txXfrm>
    </dsp:sp>
    <dsp:sp modelId="{48BD2FF9-0686-4B9B-94D4-20462C0C5DE1}">
      <dsp:nvSpPr>
        <dsp:cNvPr id="0" name=""/>
        <dsp:cNvSpPr/>
      </dsp:nvSpPr>
      <dsp:spPr>
        <a:xfrm>
          <a:off x="4943308" y="623079"/>
          <a:ext cx="197612" cy="2311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4943308" y="669313"/>
        <a:ext cx="138328" cy="138700"/>
      </dsp:txXfrm>
    </dsp:sp>
    <dsp:sp modelId="{3186710E-DF88-4D0D-A605-55232F7C7E1F}">
      <dsp:nvSpPr>
        <dsp:cNvPr id="0" name=""/>
        <dsp:cNvSpPr/>
      </dsp:nvSpPr>
      <dsp:spPr>
        <a:xfrm>
          <a:off x="5222948" y="445916"/>
          <a:ext cx="932132" cy="5854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Method overriding (main concept in Python OOP)</a:t>
          </a:r>
        </a:p>
      </dsp:txBody>
      <dsp:txXfrm>
        <a:off x="5240097" y="463065"/>
        <a:ext cx="897834" cy="551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DD4CD-F6A8-4B79-B1F8-75B3EDA9DECE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327A6-A9A7-41C2-B759-8C3113E88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28D0EB-3161-BE3E-BCCB-BCC49883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4B41BDA-4EBE-9B27-E16B-D774BBE34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DD0B1C-075C-B559-74E4-D5A203AAD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41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01E128B-5419-515D-FDC2-3F8F639E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704D261-ED58-BEA1-0BE2-D0A2C395C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B4C699-8269-C0D2-A616-803E1EED1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3811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99CFE06-12D2-EBFE-565B-62C0B36D8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949012E-5A3F-C5C0-199D-07D89321E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405867D-2412-BE94-21AF-DA29CF6CF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9430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ED567B9-A0CB-A723-7DAB-8DBDAC4A6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944C790-5F0F-5C14-E93E-0B22A765F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46C8F6D-B346-A6DB-E5A3-063534BD1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425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10F06E-2793-2FC7-5C0A-F4855C7A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FAE7E76-D47D-4B03-1956-4BBC5F0FE3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C53C92-0F59-F8CC-B24E-AAE4C2B21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379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096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CD8652-885C-FEBA-F207-0AE0DC79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039FC5C-58C4-65EC-2B48-B6D2F265B3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82E7AC60-2BBF-93E4-F8AA-D0AA7415D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2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15E5AE3-2E81-CDB2-1A12-462F434F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C6AD042-3D9C-EC3A-B3D1-5AC166343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EA4EC1E-8501-4062-E30D-8181222AC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30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4EA7D1E4-FDAB-D8E8-246E-35CA1874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375B17ED-821E-E179-7424-A783E6554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211444B4-1FCD-0CF2-83AF-11038C986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859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D12A-E506-806A-9D2A-7943EA7B0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A2C99-E927-FDBB-5035-0BD18946C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776E3-D193-4502-5FCD-788761D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F01B4-1B2C-8B46-60B8-D2463E78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27D8-4301-9CBF-1E5D-983CCAFAC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2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464E-0F07-2E46-88E4-49C75C5D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93DA-E8A3-DBB8-03C6-CD91A4D4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53E21-206B-D31E-1647-195A8888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7B33A-98A5-29A4-7651-38435534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99F7-90E7-56D5-B858-7D3506DBB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5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668F-AC57-A375-8E25-EEE2504F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A514B-633F-32EF-95CA-4CFD068D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F6AFE-C39F-1AEE-AC55-44E1147F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28BF0-351F-8CB0-7AA3-DA676DA3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AA061-227A-0689-C801-AF238F2B5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7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B6E6-5C1F-A4D3-A9CC-AC7F02FA0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E6D7-F7A6-53CD-731A-8DE0EEAF0B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8E339-641C-A9B5-F0B7-A26338B65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68C89-074E-85B8-9198-E1AA6978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1961F-C5A1-4939-F9FA-085AA8F7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160D3-A40E-9B47-8213-4DDE5242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9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C37-0401-3A59-405D-BB6880C8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32D79-9BF3-546E-DDC3-614867346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15FA-A6BF-808A-061D-251473524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A61B0-DEAF-E58B-AFFD-22355B6C2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185ECA-AE58-680E-7802-7A61EEDBA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92765-FABB-E4EA-4889-9DC0A71A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6DBB2-6F01-916C-59B8-E63D416A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B7A671-D593-6B5D-F192-C2AB5645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5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77F1-A576-AF94-0F69-3CDC8FD0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CE841-AA8B-CE9D-FD48-3D5D3307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FB49C-335C-2619-155E-B55283C6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52DF-0B5B-16E9-42E6-ACC0210E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9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72C52-81A7-86D0-5EBC-364E5603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8CD57-CBFE-2576-AD70-76E7D976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A9F56-4215-BF03-45C9-9F7FA899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727D-F219-C232-30CA-5CB670D3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5DE4-0DDC-24A5-4D13-BDAC151F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CE354-FAB2-3059-DA31-FC88BC759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CB6D8-6B3D-5335-70CE-35104FF5F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FD48B-D4EE-A813-4026-C93DAA2C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6748D-4484-6270-B761-43B6A737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A413-31ED-3511-8C99-6B30A79D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4FE479-58CD-C76B-FBF4-3076B39CD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C551D-56F1-DDBA-0E40-B6A10B8C7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C119-CDBD-E173-E138-15B85048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96F33-23EC-CFE1-F16B-89BCBCE1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3F333-B890-3A71-5971-389EDDE9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1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70E9-4553-2099-832F-B7787328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7F7AC-D444-08A1-E426-0CC7609FA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8E8A8-FC58-9D3E-E57E-7477FAD6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C37BE-BB79-82D9-7593-755108F3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1B0B-2C82-D9E9-B921-5AC02BA9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2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1D8902-D306-E131-2CBE-139325F40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02F37-9F8E-107C-106F-248C2CE96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B98C0-7C65-D26E-0F02-8A0BBDA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DB51A-3E1B-B46D-1BEF-9B6D646E2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832E-9788-6433-014F-D15D049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7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442112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0762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6962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49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533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8825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861041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300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62219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30133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25306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52784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93460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12122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0066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89969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4543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6238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80348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4225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367929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821252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89049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34211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1330F-871A-BBDC-16E1-9660B1FD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461E7-1D2E-0723-5EA4-42B07CC5A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5E1B8-766F-5706-BC7C-D321B332D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ACA68-5395-44BE-B12F-87FD775D2E32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DCFF-11B0-7E7B-1915-15E483F26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7B577-7670-1D8E-5ACC-0252D939F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A6B56-756E-4FBB-984B-70DFBF9D1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5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23931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Advanced OOP: Polymorphism, Abstraction, &amp; Magic Methods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 defTabSz="1219170">
              <a:buClr>
                <a:srgbClr val="000000"/>
              </a:buClr>
            </a:pPr>
            <a:r>
              <a:rPr lang="en" sz="6667" kern="0">
                <a:solidFill>
                  <a:srgbClr val="94EE6B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6667" kern="0">
              <a:solidFill>
                <a:srgbClr val="94EE6B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403484" y="1681020"/>
            <a:ext cx="9377151" cy="37395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i="1" dirty="0"/>
              <a:t>"The most dangerous phrase in the language is, 'We’ve always done it this way.'" – Grace Hopper </a:t>
            </a:r>
          </a:p>
          <a:p>
            <a:pPr marL="0" indent="0"/>
            <a:r>
              <a:rPr lang="en-US" i="1" dirty="0"/>
              <a:t>(Computer Science Pioneer &amp; inventor of the first compiler)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454327970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Inheritance, Encapsulation (Private/Public), and Composition.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Polymorphism &amp; Dynamic Polymorphism</a:t>
                      </a: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.</a:t>
                      </a:r>
                    </a:p>
                    <a:p>
                      <a:r>
                        <a:rPr lang="en-US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3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Operator Overloading &amp; Magic (Dunder) Functions.</a:t>
                      </a:r>
                    </a:p>
                    <a:p>
                      <a:r>
                        <a:rPr lang="en-US" sz="13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</a:t>
                      </a:r>
                      <a:r>
                        <a:rPr lang="en-US" sz="1300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Abstract Classes, Data Classes, and Empty Classes.</a:t>
                      </a:r>
                    </a:p>
                    <a:p>
                      <a:r>
                        <a:rPr lang="en-US" sz="14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• Keyword Arguments (**kwargs)</a:t>
                      </a:r>
                      <a:endParaRPr lang="en-US" sz="130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 overriding, magic functions, and data classes.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a strict AI pipeline template using Abstract Base Classes. 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OOP logic, resolving MRO conflicts, and preparing for tomorrow's topic: Descriptive Statistics and Probability.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685121" y="535784"/>
            <a:ext cx="1123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Today Objective - </a:t>
            </a:r>
            <a:r>
              <a:rPr lang="en-US" sz="3200" dirty="0">
                <a:solidFill>
                  <a:schemeClr val="tx2"/>
                </a:solidFill>
              </a:rPr>
              <a:t>Flexibility &amp; Strict Rules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1294722" y="2085333"/>
            <a:ext cx="10012797" cy="36752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Yesterday, we built the (Classes and Inheritance).Today, we are learning how to make our code both Flexible (</a:t>
            </a:r>
            <a:r>
              <a:rPr lang="en-US" sz="1600" dirty="0">
                <a:solidFill>
                  <a:schemeClr val="bg2"/>
                </a:solidFill>
              </a:rPr>
              <a:t>Polymorphism</a:t>
            </a:r>
            <a:r>
              <a:rPr lang="en-US" sz="1600" dirty="0"/>
              <a:t>) and Strict (</a:t>
            </a:r>
            <a:r>
              <a:rPr lang="en-US" sz="1600" dirty="0">
                <a:solidFill>
                  <a:schemeClr val="accent4"/>
                </a:solidFill>
              </a:rPr>
              <a:t>Abstraction</a:t>
            </a:r>
            <a:r>
              <a:rPr lang="en-US" sz="1600" dirty="0"/>
              <a:t>).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Why it matters in AI: </a:t>
            </a:r>
            <a:r>
              <a:rPr lang="en-US" sz="1600" dirty="0"/>
              <a:t>When you build an AI pipeline, you want to be able to plug in 10 different types of models </a:t>
            </a:r>
            <a:r>
              <a:rPr lang="en-US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(Neural Networks, Decision Trees, etc.) </a:t>
            </a:r>
            <a:r>
              <a:rPr lang="en-US" sz="1600" dirty="0"/>
              <a:t>without rewriting your main code. </a:t>
            </a:r>
            <a:r>
              <a:rPr lang="en-US" sz="1600" dirty="0">
                <a:solidFill>
                  <a:schemeClr val="bg2"/>
                </a:solidFill>
              </a:rPr>
              <a:t>Polymorphism</a:t>
            </a:r>
            <a:r>
              <a:rPr lang="en-US" sz="1600" dirty="0"/>
              <a:t> lets you treat them all exactly the same, while </a:t>
            </a:r>
            <a:r>
              <a:rPr lang="en-US" sz="1600" dirty="0">
                <a:solidFill>
                  <a:schemeClr val="accent4"/>
                </a:solidFill>
              </a:rPr>
              <a:t>Abstraction</a:t>
            </a:r>
            <a:r>
              <a:rPr lang="en-US" sz="1600" dirty="0"/>
              <a:t> forces your teammates to follow your architectural rules so they don't break the system.</a:t>
            </a:r>
            <a:endParaRPr sz="16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466721" y="5258667"/>
            <a:ext cx="3381529" cy="1183100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48" name="Google Shape;448;p36"/>
          <p:cNvSpPr txBox="1"/>
          <p:nvPr/>
        </p:nvSpPr>
        <p:spPr>
          <a:xfrm>
            <a:off x="11057116" y="5098829"/>
            <a:ext cx="849313" cy="134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7692953" y="5664067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249312" y="-53819"/>
            <a:ext cx="1220595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br>
              <a:rPr lang="en-US" sz="1600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</a:br>
            <a:r>
              <a:rPr lang="en-US" sz="1400" b="1" dirty="0"/>
              <a:t>Polymorphism</a:t>
            </a:r>
            <a:r>
              <a:rPr lang="en-US" sz="1400" dirty="0"/>
              <a:t> allows different classes to use the same method name but with different implementations.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-109467" y="1264845"/>
            <a:ext cx="6461759" cy="232679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Polymorphism</a:t>
            </a:r>
            <a:br>
              <a:rPr lang="en-US" sz="1600" dirty="0"/>
            </a:br>
            <a:r>
              <a:rPr lang="en-US" sz="1800" dirty="0"/>
              <a:t>The word "polymorphism" means “</a:t>
            </a:r>
            <a:r>
              <a:rPr lang="en-US" sz="1800" b="1" dirty="0"/>
              <a:t>same name, many forms</a:t>
            </a:r>
            <a:r>
              <a:rPr lang="en-US" sz="1800" dirty="0"/>
              <a:t>", and in programming it refers to methods/functions/operators with the same name that can be executed on many objects or classes. </a:t>
            </a:r>
            <a:r>
              <a:rPr lang="en-US" sz="1800" dirty="0" err="1"/>
              <a:t>i.e</a:t>
            </a:r>
            <a:r>
              <a:rPr lang="en-US" sz="1800" dirty="0"/>
              <a:t> </a:t>
            </a:r>
            <a:r>
              <a:rPr lang="en-US" sz="1800" dirty="0" err="1"/>
              <a:t>len</a:t>
            </a:r>
            <a:r>
              <a:rPr lang="en-US" sz="1800" dirty="0"/>
              <a:t>() </a:t>
            </a:r>
            <a:r>
              <a:rPr lang="en-US" sz="1800" dirty="0" err="1"/>
              <a:t>func</a:t>
            </a:r>
            <a:r>
              <a:rPr lang="en-US" sz="1800" dirty="0"/>
              <a:t> run for (string- return </a:t>
            </a:r>
            <a:r>
              <a:rPr lang="en-US" sz="1800" dirty="0" err="1"/>
              <a:t>len</a:t>
            </a:r>
            <a:r>
              <a:rPr lang="en-US" sz="1800" dirty="0"/>
              <a:t>)(tuple-return </a:t>
            </a:r>
            <a:r>
              <a:rPr lang="en-US" sz="1800" dirty="0" err="1"/>
              <a:t>len</a:t>
            </a:r>
            <a:r>
              <a:rPr lang="en-US" sz="1800" dirty="0"/>
              <a:t>)(dictionaries-return </a:t>
            </a:r>
            <a:r>
              <a:rPr lang="en-US" sz="1800" dirty="0" err="1"/>
              <a:t>keyLenth</a:t>
            </a:r>
            <a:r>
              <a:rPr lang="en-US" sz="1800" dirty="0"/>
              <a:t>)</a:t>
            </a:r>
            <a:endParaRPr lang="en-US" sz="1400" dirty="0"/>
          </a:p>
          <a:p>
            <a:r>
              <a:rPr lang="en-US" sz="1600" b="1" dirty="0">
                <a:solidFill>
                  <a:schemeClr val="accent4"/>
                </a:solidFill>
              </a:rPr>
              <a:t>Dynamic Polymorphism (Runtime Polymorphism)</a:t>
            </a:r>
            <a:br>
              <a:rPr lang="en-US" sz="1600" dirty="0">
                <a:solidFill>
                  <a:schemeClr val="accent4"/>
                </a:solidFill>
              </a:rPr>
            </a:br>
            <a:r>
              <a:rPr lang="en-US" sz="1600" dirty="0"/>
              <a:t>When a child class overrides a method of the parent class, and the method executed is determined at runtime based on the object type.</a:t>
            </a:r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Polymorphism &amp; Dynamic Polymorphism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124504" y="5248205"/>
            <a:ext cx="53957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Calling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model.train()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on a Neural Network vs. a Linear Regression model. They both execute "train", but the math they do inside is completely different.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313205-030D-3746-A36A-0E84516C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88" y="2224306"/>
            <a:ext cx="5782482" cy="4315427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5EB796E-6829-B893-BF15-F27A76CAA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978522"/>
              </p:ext>
            </p:extLst>
          </p:nvPr>
        </p:nvGraphicFramePr>
        <p:xfrm>
          <a:off x="3016956" y="421124"/>
          <a:ext cx="6158088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011E99-513B-63E6-37A4-B4AFE875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6A9E640-2D06-87EE-69D2-F4B2A7884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3BB8B92-928E-135C-9C54-46078FCA125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0480679" cy="43162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Special predefined methods in Python that begin and end with double underscores (e.g., </a:t>
            </a:r>
            <a:r>
              <a:rPr lang="en-US" dirty="0"/>
              <a:t>__init__</a:t>
            </a:r>
            <a:r>
              <a:rPr lang="en-US" sz="1600" dirty="0"/>
              <a:t>, </a:t>
            </a:r>
            <a:r>
              <a:rPr lang="en-US" dirty="0"/>
              <a:t>__str__</a:t>
            </a:r>
            <a:r>
              <a:rPr lang="en-US" sz="1600" dirty="0"/>
              <a:t>, </a:t>
            </a:r>
            <a:r>
              <a:rPr lang="en-US" dirty="0"/>
              <a:t>__add__</a:t>
            </a:r>
            <a:r>
              <a:rPr lang="en-US" sz="1600" dirty="0"/>
              <a:t>). They are called internally by Python to perform built-in operations.</a:t>
            </a:r>
          </a:p>
          <a:p>
            <a:endParaRPr lang="en-US" sz="1600" dirty="0"/>
          </a:p>
          <a:p>
            <a:r>
              <a:rPr lang="en-US" sz="1600" dirty="0"/>
              <a:t>Magic methods special methods </a:t>
            </a:r>
            <a:r>
              <a:rPr lang="en-US" sz="1600" dirty="0" err="1"/>
              <a:t>hote</a:t>
            </a:r>
            <a:r>
              <a:rPr lang="en-US" sz="1600" dirty="0"/>
              <a:t> </a:t>
            </a:r>
            <a:r>
              <a:rPr lang="en-US" sz="1600" dirty="0" err="1"/>
              <a:t>hain</a:t>
            </a:r>
            <a:r>
              <a:rPr lang="en-US" sz="1600" dirty="0"/>
              <a:t> jo Python objects ko built-in operators aur functions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sath</a:t>
            </a:r>
            <a:r>
              <a:rPr lang="en-US" sz="1600" dirty="0"/>
              <a:t> </a:t>
            </a:r>
            <a:r>
              <a:rPr lang="en-US" sz="1600" dirty="0" err="1"/>
              <a:t>kaam</a:t>
            </a:r>
            <a:r>
              <a:rPr lang="en-US" sz="1600" dirty="0"/>
              <a:t> </a:t>
            </a:r>
            <a:r>
              <a:rPr lang="en-US" sz="1600" dirty="0" err="1"/>
              <a:t>karne</a:t>
            </a:r>
            <a:r>
              <a:rPr lang="en-US" sz="1600" dirty="0"/>
              <a:t> ki ability </a:t>
            </a:r>
            <a:r>
              <a:rPr lang="en-US" sz="1600" dirty="0" err="1"/>
              <a:t>dete</a:t>
            </a:r>
            <a:r>
              <a:rPr lang="en-US" sz="1600" dirty="0"/>
              <a:t> </a:t>
            </a:r>
            <a:r>
              <a:rPr lang="en-US" sz="1600" dirty="0" err="1"/>
              <a:t>hain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/>
                </a:solidFill>
              </a:rPr>
              <a:t>The Analogy: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/>
              <a:t>The "Under the Hood" wiring. When you type </a:t>
            </a:r>
            <a:r>
              <a:rPr lang="en-US" dirty="0">
                <a:solidFill>
                  <a:schemeClr val="accent3"/>
                </a:solidFill>
              </a:rPr>
              <a:t>print(</a:t>
            </a:r>
            <a:r>
              <a:rPr lang="en-US" dirty="0">
                <a:solidFill>
                  <a:schemeClr val="tx2"/>
                </a:solidFill>
              </a:rPr>
              <a:t>my_object</a:t>
            </a:r>
            <a:r>
              <a:rPr lang="en-US" dirty="0">
                <a:solidFill>
                  <a:schemeClr val="accent3"/>
                </a:solidFill>
              </a:rPr>
              <a:t>)</a:t>
            </a:r>
            <a:r>
              <a:rPr lang="en-US" sz="1600" dirty="0">
                <a:solidFill>
                  <a:schemeClr val="accent3"/>
                </a:solidFill>
              </a:rPr>
              <a:t>, </a:t>
            </a:r>
            <a:r>
              <a:rPr lang="en-US" sz="1600" dirty="0"/>
              <a:t>Python secretly goes under the hood and calls </a:t>
            </a:r>
            <a:r>
              <a:rPr lang="en-US" dirty="0"/>
              <a:t>my_object.__str__()</a:t>
            </a:r>
            <a:r>
              <a:rPr lang="en-US" sz="1600" dirty="0"/>
              <a:t>. They are called "Magic" because you usually don't call them directly; Python just magically runs them for you when you use standard symbols.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EF1EDAE-7A38-472E-E0FA-752502BF1F4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65D4A125-630F-9942-CF61-A0F0B4B6C17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90E803DD-A3F3-0DA0-47E7-5079E4A93E8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D4C59E3-5628-B98A-3E24-790841DAF7E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DDF7F-6F8E-C9DF-7880-36C5480296A5}"/>
              </a:ext>
            </a:extLst>
          </p:cNvPr>
          <p:cNvSpPr txBox="1"/>
          <p:nvPr/>
        </p:nvSpPr>
        <p:spPr>
          <a:xfrm>
            <a:off x="4185920" y="1641901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Magic Functions (Dunder Functions)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68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E922A2E-4A3C-F6E1-0497-9672D7BE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EC9F5EC-39A8-F214-C44F-46E57CBEA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2DADDBCD-3058-A760-321A-1F95EE1D43A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660589" y="2544708"/>
            <a:ext cx="7446533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>
                <a:solidFill>
                  <a:schemeClr val="tx1"/>
                </a:solidFill>
              </a:rPr>
              <a:t>Giving extended, custom meaning beyond the predefined operational meaning to operators like +, -, *, or ==.</a:t>
            </a:r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DDF308D6-672B-032D-94F1-74F9E933D2A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755777" y="2192005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839C3689-0A5F-299C-C459-527CD85EF1F5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F69272DA-1062-A104-CBA4-732F4337B3E8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B178A847-3655-32C4-A6B0-4DEDC2324CBB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1DD30-E73D-961F-2B27-C377528765B3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Operator Overloading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748806-18B5-5D5E-CAFB-7E622F7DC941}"/>
              </a:ext>
            </a:extLst>
          </p:cNvPr>
          <p:cNvSpPr txBox="1"/>
          <p:nvPr/>
        </p:nvSpPr>
        <p:spPr>
          <a:xfrm>
            <a:off x="2755777" y="4057160"/>
            <a:ext cx="760742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Example: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You already know what + does to numbers (5 + 5 = 10)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and strings ("A" + "B" = "AB"). </a:t>
            </a:r>
          </a:p>
          <a:p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Operator Overloading lets you teach Python what + means when you try to add two custom AI Dataset objects together. Should it merge the files? Should it crash? You get to decide!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47EF8-3F4C-B30A-5018-E1B1B6AC5B77}"/>
              </a:ext>
            </a:extLst>
          </p:cNvPr>
          <p:cNvSpPr txBox="1"/>
          <p:nvPr/>
        </p:nvSpPr>
        <p:spPr>
          <a:xfrm>
            <a:off x="216061" y="1964795"/>
            <a:ext cx="11759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Operator overloading</a:t>
            </a:r>
            <a:r>
              <a:rPr lang="en-US" dirty="0"/>
              <a:t> means redefining the behavior of standard operators (like </a:t>
            </a:r>
            <a:r>
              <a:rPr lang="en-US" dirty="0">
                <a:latin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*</a:t>
            </a:r>
            <a:r>
              <a:rPr lang="en-US" dirty="0"/>
              <a:t>) for user-defined classes.</a:t>
            </a:r>
          </a:p>
        </p:txBody>
      </p:sp>
    </p:spTree>
    <p:extLst>
      <p:ext uri="{BB962C8B-B14F-4D97-AF65-F5344CB8AC3E}">
        <p14:creationId xmlns:p14="http://schemas.microsoft.com/office/powerpoint/2010/main" val="2517938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C86C3E6-6451-B565-893B-5B43651F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4EC7B9B-8596-41E2-6996-F91408E42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C967427-EC6E-14FA-9518-C3CC4062E05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An abstract class cannot be instantiated directly. It contains abstract methods (methods declared but containing no implementation logic). Any Subclass inheriting from it </a:t>
            </a:r>
            <a:r>
              <a:rPr lang="en-US" sz="1600" i="1" dirty="0"/>
              <a:t>must</a:t>
            </a:r>
            <a:r>
              <a:rPr lang="en-US" sz="1600" dirty="0"/>
              <a:t> provide the implementation for those methods.</a:t>
            </a:r>
          </a:p>
          <a:p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B460659D-A88C-3DA3-D76F-84783728FD4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B1254FDE-F252-BA09-BCF6-F33A330436C5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0C48D9CC-921B-6185-A0C5-9FE1C678A18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D71DC668-3A30-B019-0687-9DD5629799F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4D846-2E4D-A3DE-ECD1-CA574ED78C37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Abstract Classes &amp; Methods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9C4E3E-98FF-757A-5AED-4B09E0CB5B30}"/>
              </a:ext>
            </a:extLst>
          </p:cNvPr>
          <p:cNvSpPr txBox="1"/>
          <p:nvPr/>
        </p:nvSpPr>
        <p:spPr>
          <a:xfrm>
            <a:off x="639039" y="4237638"/>
            <a:ext cx="110250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AI Application: </a:t>
            </a:r>
          </a:p>
          <a:p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Creating a base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AIEngine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 class that forces every developer on your team to write a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clean_data()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  <a:cs typeface="Sans Serif Collection" panose="020B0502040504020204" pitchFamily="34" charset="0"/>
              </a:rPr>
              <a:t>method before they are allowed to train a model.</a:t>
            </a:r>
          </a:p>
        </p:txBody>
      </p:sp>
    </p:spTree>
    <p:extLst>
      <p:ext uri="{BB962C8B-B14F-4D97-AF65-F5344CB8AC3E}">
        <p14:creationId xmlns:p14="http://schemas.microsoft.com/office/powerpoint/2010/main" val="107751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8264191-C0BC-3281-A88F-C88521B5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F11AEFA-1C63-232B-0380-98D31F20B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EC9DA84-C0FD-AD44-BCDE-A5290C156D7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>
                <a:solidFill>
                  <a:schemeClr val="accent1"/>
                </a:solidFill>
              </a:rPr>
              <a:t>Empty Class</a:t>
            </a:r>
            <a:r>
              <a:rPr lang="en-US" sz="1600" dirty="0"/>
              <a:t>: A class with no attributes or methods, created using the pass keyword. Used as a placeholder for future implementation.</a:t>
            </a:r>
          </a:p>
          <a:p>
            <a:endParaRPr lang="en-US" sz="1600" dirty="0"/>
          </a:p>
          <a:p>
            <a:r>
              <a:rPr lang="en-US" sz="1600" i="1" dirty="0">
                <a:solidFill>
                  <a:schemeClr val="accent2"/>
                </a:solidFill>
              </a:rPr>
              <a:t>Data Class: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600" dirty="0"/>
              <a:t>A decorator (</a:t>
            </a:r>
            <a:r>
              <a:rPr lang="en-US" dirty="0"/>
              <a:t>@dataclass</a:t>
            </a:r>
            <a:r>
              <a:rPr lang="en-US" sz="1600" dirty="0"/>
              <a:t>) introduced in Python 3.7 designed strictly to hold state/data rather than complex logic, automatically generating </a:t>
            </a:r>
            <a:r>
              <a:rPr lang="en-US" dirty="0"/>
              <a:t>__init__</a:t>
            </a:r>
            <a:r>
              <a:rPr lang="en-US" sz="1600" dirty="0"/>
              <a:t> for you.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1BCCD9E-76F4-6D05-66DC-B5781E2E8B8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381AD2F-BE83-80C9-A900-CB41FC56067B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046ECDE2-14D5-0D35-0ACC-C987EEC8B87C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F49538B-AB8C-2F2F-61C9-592B9025E62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A37A8-21EB-049D-23DD-16F862079B24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Class &amp; Empty Class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17BB4-788C-CDB3-B2A2-FA635EA3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17" y="3991254"/>
            <a:ext cx="4763165" cy="1752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178E1-128D-4918-34D4-97589B823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408" y="3991254"/>
            <a:ext cx="4363059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6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A90BD06-4C4A-78C1-AA32-BA977952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29C06A9-7BFE-1E81-B829-CDD86DE65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85A40B0-25A2-03D2-F83C-8B1CB656A81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369679" cy="490964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r>
              <a:rPr lang="en-US" sz="1600" dirty="0"/>
              <a:t>Passing arguments to a function or class by explicitly stating the parameter name, allowing you to pass a variable number of named arguments wrapped into a dictionary.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9E1F876C-7B94-BB1E-A7F7-047BEA38BE0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3BEB424B-E55B-CFE1-8CFE-65E350BADF72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288E0EF2-619B-4120-9000-34C63FD7B6EE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879F21D-A024-D51D-FBC8-BBFCEAFB9E3B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28517-F9FE-22E4-6F02-328BE8ECF5C8}"/>
              </a:ext>
            </a:extLst>
          </p:cNvPr>
          <p:cNvSpPr txBox="1"/>
          <p:nvPr/>
        </p:nvSpPr>
        <p:spPr>
          <a:xfrm>
            <a:off x="4593400" y="1609795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Keyword Arguments (**kwargs)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DA23D-956D-699B-73C8-DF88E9954E03}"/>
              </a:ext>
            </a:extLst>
          </p:cNvPr>
          <p:cNvSpPr txBox="1"/>
          <p:nvPr/>
        </p:nvSpPr>
        <p:spPr>
          <a:xfrm>
            <a:off x="146050" y="3495233"/>
            <a:ext cx="120459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*args </a:t>
            </a:r>
            <a:r>
              <a:rPr lang="en-US" dirty="0">
                <a:latin typeface="Courier New" panose="02070309020205020404" pitchFamily="49" charset="0"/>
              </a:rPr>
              <a:t>→ collects extra </a:t>
            </a:r>
            <a:r>
              <a:rPr lang="en-US" b="1" dirty="0">
                <a:latin typeface="Courier New" panose="02070309020205020404" pitchFamily="49" charset="0"/>
              </a:rPr>
              <a:t>positional argument</a:t>
            </a:r>
            <a:r>
              <a:rPr lang="en-US" dirty="0">
                <a:latin typeface="Courier New" panose="02070309020205020404" pitchFamily="49" charset="0"/>
              </a:rPr>
              <a:t>s stored as a </a:t>
            </a:r>
            <a:r>
              <a:rPr lang="en-US" b="1" dirty="0">
                <a:latin typeface="Courier New" panose="02070309020205020404" pitchFamily="49" charset="0"/>
              </a:rPr>
              <a:t>tuple</a:t>
            </a:r>
            <a:r>
              <a:rPr lang="en-US" dirty="0">
                <a:latin typeface="Courier New" panose="02070309020205020404" pitchFamily="49" charset="0"/>
              </a:rPr>
              <a:t> inside the function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</a:rPr>
              <a:t>**kwargs </a:t>
            </a:r>
            <a:r>
              <a:rPr lang="en-US" dirty="0">
                <a:latin typeface="Courier New" panose="02070309020205020404" pitchFamily="49" charset="0"/>
              </a:rPr>
              <a:t>→ collects extra </a:t>
            </a:r>
            <a:r>
              <a:rPr lang="en-US" b="1" dirty="0">
                <a:latin typeface="Courier New" panose="02070309020205020404" pitchFamily="49" charset="0"/>
              </a:rPr>
              <a:t>keyword arguments </a:t>
            </a:r>
            <a:r>
              <a:rPr lang="en-US" dirty="0">
                <a:latin typeface="Courier New" panose="02070309020205020404" pitchFamily="49" charset="0"/>
              </a:rPr>
              <a:t>Stored as a </a:t>
            </a:r>
            <a:r>
              <a:rPr lang="en-US" b="1" dirty="0">
                <a:latin typeface="Courier New" panose="02070309020205020404" pitchFamily="49" charset="0"/>
              </a:rPr>
              <a:t>dictionary</a:t>
            </a:r>
            <a:r>
              <a:rPr lang="en-US" dirty="0">
                <a:latin typeface="Courier New" panose="02070309020205020404" pitchFamily="49" charset="0"/>
              </a:rPr>
              <a:t> inside the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1308100" y="221440"/>
            <a:ext cx="9377067" cy="92604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# Polymorphism - compute average differently 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/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29C47-0BF3-1ADB-BEB0-F55D5900C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65" y="1519410"/>
            <a:ext cx="9645302" cy="47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1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66443F8-1DAD-4161-4B9C-5DF83D8D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306EEED1-A953-9F62-F100-8CD24A971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BC650BD-9B3B-B287-FBC0-2C71A940E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2100" y="221440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Magic Functions (Dunder Functions)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Operator Overloading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6320F23D-28E3-9B9E-A492-E82E947842A4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8AE72-616C-8B41-8002-AAD53754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88" y="1580122"/>
            <a:ext cx="6076824" cy="52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9EA9B8B3-F6B8-131F-FF18-EEA83C19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960E294D-AF08-5DED-EB0D-9BDBD5451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03D1C342-4E50-EA72-87A9-CFC073DD3A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0000" y="184248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Abstract Method 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B8E3340B-0BE3-3F7D-B7CF-C845771B06CA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501BB-A43E-5F76-99A5-D1DB7DCBD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49" y="1576482"/>
            <a:ext cx="5335965" cy="52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29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870D5C28-1C24-6685-70B6-EA4D074B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EAC533CD-50F7-E7C7-3D37-911C51748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27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br>
              <a:rPr lang="en" dirty="0">
                <a:solidFill>
                  <a:schemeClr val="lt2"/>
                </a:solidFill>
              </a:rPr>
            </a:b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6DAC2956-F70B-C259-B514-48B84AA564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10000" y="184248"/>
            <a:ext cx="10393067" cy="3719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*args &amp; **</a:t>
            </a:r>
            <a:r>
              <a:rPr lang="en-US" dirty="0" err="1"/>
              <a:t>kargs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477EF832-56D8-7246-B217-C649C2ABC1BA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51C49-88E3-7C2A-C164-76DD0B8BC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735" y="1733539"/>
            <a:ext cx="7953959" cy="27973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95853D-D665-65CE-A4DE-3D72E4685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701" y="5033096"/>
            <a:ext cx="5898765" cy="141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80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1072</Words>
  <Application>Microsoft Office PowerPoint</Application>
  <PresentationFormat>Widescreen</PresentationFormat>
  <Paragraphs>108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Bebas Neue</vt:lpstr>
      <vt:lpstr>Calibri</vt:lpstr>
      <vt:lpstr>Calibri Light</vt:lpstr>
      <vt:lpstr>Comfortaa</vt:lpstr>
      <vt:lpstr>Courier New</vt:lpstr>
      <vt:lpstr>Fira Code</vt:lpstr>
      <vt:lpstr>Nunito Light</vt:lpstr>
      <vt:lpstr>PT Sans</vt:lpstr>
      <vt:lpstr>Segoe UI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Today Objective - Flexibility &amp; Strict Rules</vt:lpstr>
      <vt:lpstr>Core Concept (Definition &amp; Rules) Polymorphism allows different classes to use the same method name but with different implementations.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 </vt:lpstr>
      <vt:lpstr>Practical exercise 03 </vt:lpstr>
      <vt:lpstr>Practical exercise 04 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31</cp:revision>
  <dcterms:created xsi:type="dcterms:W3CDTF">2026-02-25T16:35:39Z</dcterms:created>
  <dcterms:modified xsi:type="dcterms:W3CDTF">2026-05-16T12:18:31Z</dcterms:modified>
</cp:coreProperties>
</file>