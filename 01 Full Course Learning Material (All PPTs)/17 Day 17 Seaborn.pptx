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sldIdLst>
    <p:sldId id="258" r:id="rId3"/>
    <p:sldId id="257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3" r:id="rId12"/>
    <p:sldId id="274" r:id="rId13"/>
    <p:sldId id="275" r:id="rId14"/>
    <p:sldId id="276" r:id="rId15"/>
    <p:sldId id="259" r:id="rId1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9" d="100"/>
          <a:sy n="119" d="100"/>
        </p:scale>
        <p:origin x="6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C99B2F-13C3-4916-9AE2-773954F7FF95}" type="datetimeFigureOut">
              <a:rPr lang="en-US" smtClean="0"/>
              <a:t>3/9/2026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2A58F-A9F4-4EDD-94B3-A9547EE997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2078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1FE8E1D-AF0E-59E5-1CF0-0CB2BC40A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F6349265-5EC2-688A-70F5-3F5D3DD154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CB32FDA-D98A-CE84-AFFA-F53E6AFAC55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701311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97A3A1A6-B538-31BD-9011-7A01BF11E7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9C8A09B3-27C4-104B-CFEC-C179ADDA8E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5EE572E-1F68-93D9-D7D4-3E0536A03BB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148840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2D054197-C0A1-FDDF-57F9-1010DACC47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20099D64-96D7-7F8E-1410-FCFE55B792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1EEB1AD-0EF7-AFD8-C548-41E8563669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2458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C022969-B5B1-B4BC-F6DB-703CDF2D2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539ADCE8-7E95-8C44-4595-1FF8C1792C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986FEC8-AC09-9563-FA37-D1D4C6B7E5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59784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316D913-BDAF-7EAD-00CB-69BF13DEF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CD830FD1-8B71-29F4-6375-8B3213A1D6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3BEB10D-2B84-905D-8757-EC3A91B7984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518546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DFAE4191-F718-7349-497D-AFBFF569DE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CCCDD6A0-3557-BEE0-2EE7-B8798F9C333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F4159810-B5C9-2C2B-3E04-FB340A9ABF0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65689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C61DAF5-3C9B-3DCA-D6F0-3858ECEDC9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7B98325-B7EA-7E39-392E-4007D5129E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88E55BA4-6D9B-D098-ACB0-0A6BCB5B02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82500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F24870B5-249C-BCFB-04B1-F7FB61CBBF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04B2A60C-8A0E-F266-A4CB-DFAFC02F78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1D665502-0646-C5B5-7F19-9B608F0C9D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396563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6B5388E0-1155-84E7-71AF-FB38E7803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D62164C2-5299-58F7-5AEC-147FE801F9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C908825C-212B-8215-2CE6-AFEFC297A6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75949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44510CBC-CBD4-7FA5-5018-FDCB3BD85A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D33713A-80D5-8FCF-C31F-CBCBB275312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EDEF5084-F53F-BF3C-FDE4-1399D44B45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303727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B847D2D6-767F-54E9-4E0C-E8EEB9AA0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1388EE08-AD46-DA0E-B9BD-23A262A1D88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64473CD0-3D3F-0384-B40E-75B80A7479D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941319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54dda1946d_6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350" name="Google Shape;350;g54dda1946d_6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1827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86539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21841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58257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117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4060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523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4758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78056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717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014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8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868836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70" lvl="0" indent="-423312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40" lvl="1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09" lvl="2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278" lvl="3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848" lvl="4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418" lvl="5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6987" lvl="6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557" lvl="7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126" lvl="8" indent="-42331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040566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4302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6729674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884903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480369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6356967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74051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373016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76539531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421811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20766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3849317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9352390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610056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3069089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27529640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92248809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4482891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3684034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11187346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6" y="595001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24142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314538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9931279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9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7208538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26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5" Type="http://schemas.openxmlformats.org/officeDocument/2006/relationships/slideLayout" Target="../slideLayouts/slideLayout36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35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  <a:t>2026/3/9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309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70287604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217849" y="4473517"/>
            <a:ext cx="8487720" cy="567052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67" dirty="0"/>
              <a:t>Introduction to Seaborn</a:t>
            </a:r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marR="0" lvl="0" indent="0" algn="r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>
                <a:ln>
                  <a:noFill/>
                </a:ln>
                <a:solidFill>
                  <a:srgbClr val="94EE6B"/>
                </a:solidFill>
                <a:effectLst/>
                <a:uLnTx/>
                <a:uFillTx/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kumimoji="0" sz="6667" b="0" i="0" u="none" strike="noStrike" kern="0" cap="none" spc="0" normalizeH="0" baseline="0" noProof="0">
              <a:ln>
                <a:noFill/>
              </a:ln>
              <a:solidFill>
                <a:srgbClr val="94EE6B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1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5" y="928586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17</a:t>
            </a:r>
            <a:br>
              <a:rPr lang="en" dirty="0">
                <a:solidFill>
                  <a:schemeClr val="accent4"/>
                </a:solidFill>
              </a:rPr>
            </a:b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				Seaborn Plotting</a:t>
            </a:r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160531648"/>
              </p:ext>
            </p:extLst>
          </p:nvPr>
        </p:nvGraphicFramePr>
        <p:xfrm>
          <a:off x="968901" y="2328148"/>
          <a:ext cx="10272000" cy="5117772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Moving from Python OOP to Data Science. Why AI needs data.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19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Introduction to Seaborn</a:t>
                      </a:r>
                    </a:p>
                    <a:p>
                      <a:endParaRPr lang="en-US" sz="1300" b="0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histplot and displot </a:t>
                      </a:r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for univariate distributions. jointplot and pairplot for bivariate relationships. rugplot and kdeplot for marginal distributions.</a:t>
                      </a:r>
                    </a:p>
                    <a:p>
                      <a:endParaRPr lang="en-US" sz="1300" b="0" dirty="0">
                        <a:solidFill>
                          <a:schemeClr val="tx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</a:endParaRP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Categorical Data Plots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boxplot for quartile-based summaries. violinplot and stripplot for distribution shapes. barplot and countplot for categorical aggregation. swarmplot and catplot for detailed analysis.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 </a:t>
                      </a:r>
                    </a:p>
                    <a:p>
                      <a:r>
                        <a:rPr lang="en-US" sz="1300" b="1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Matrix Plots</a:t>
                      </a:r>
                    </a:p>
                    <a:p>
                      <a:r>
                        <a:rPr lang="en-US" sz="1300" b="0" dirty="0">
                          <a:solidFill>
                            <a:schemeClr val="tx1"/>
                          </a:solidFill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heatmap for correlation matrices. clustermap for advanced matrix grouping with hierarchical clustering.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method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the logic with real world examples.</a:t>
                      </a: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602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Debugging tips along with Q&amp;A and suggestion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8242EDF-68DE-7B01-A011-A02AD2D5E8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What is Seaborn?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219266"/>
            <a:ext cx="11094244" cy="3108543"/>
          </a:xfrm>
          <a:prstGeom prst="rect">
            <a:avLst/>
          </a:prstGeom>
          <a:noFill/>
        </p:spPr>
        <p:txBody>
          <a:bodyPr wrap="square" anchor="b" anchorCtr="0">
            <a:spAutoFit/>
          </a:bodyPr>
          <a:lstStyle/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Seaborn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a statistical visualization library built on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Matplotlib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that integrates natively with pandas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DataFrames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for creating publication-quality graphics with minimal code.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rgbClr val="EC7955"/>
                </a:solidFill>
                <a:latin typeface="Source Code Pro"/>
              </a:rPr>
              <a:t>Why we use it: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lang="en-US" sz="1400" b="1" dirty="0">
                <a:solidFill>
                  <a:srgbClr val="E81A81"/>
                </a:solidFill>
                <a:latin typeface="Source Code Pro"/>
              </a:rPr>
              <a:t>Matplotlib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requires extensive customization; </a:t>
            </a:r>
            <a:r>
              <a:rPr lang="en-US" sz="1400" b="1" dirty="0">
                <a:solidFill>
                  <a:srgbClr val="EC7955"/>
                </a:solidFill>
                <a:latin typeface="Source Code Pro"/>
              </a:rPr>
              <a:t>Seaborn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provides professional, statistically accurate plots automatically. It handles the heavy lifting of mapping data to colors, shapes, and statistical aggregations. </a:t>
            </a: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lang="en-US" sz="1400" b="1" dirty="0">
                <a:solidFill>
                  <a:srgbClr val="94EE6B"/>
                </a:solidFill>
                <a:latin typeface="Source Code Pro"/>
              </a:rPr>
              <a:t>Real-life usage: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A backend engineer analyzing quarterly API traffic across 10 microservices. Instead of writing 50 lines of </a:t>
            </a:r>
            <a:r>
              <a:rPr lang="en-US" sz="1400" b="1" dirty="0">
                <a:solidFill>
                  <a:srgbClr val="BD64B5"/>
                </a:solidFill>
                <a:latin typeface="Source Code Pro"/>
              </a:rPr>
              <a:t>Matplotlib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code to group and color everything, </a:t>
            </a:r>
            <a:r>
              <a:rPr lang="en-US" sz="1400" b="1" dirty="0">
                <a:solidFill>
                  <a:srgbClr val="EC7955"/>
                </a:solidFill>
                <a:latin typeface="Source Code Pro"/>
              </a:rPr>
              <a:t>Seaborn</a:t>
            </a:r>
            <a:r>
              <a:rPr lang="en-US" sz="1400" dirty="0">
                <a:solidFill>
                  <a:srgbClr val="E7E7E7"/>
                </a:solidFill>
                <a:latin typeface="Source Code Pro"/>
              </a:rPr>
              <a:t> creates a professional multi-plot dashboard showing distributions, correlations, and trends in just 3 lines of code.</a:t>
            </a:r>
          </a:p>
        </p:txBody>
      </p:sp>
    </p:spTree>
    <p:extLst>
      <p:ext uri="{BB962C8B-B14F-4D97-AF65-F5344CB8AC3E}">
        <p14:creationId xmlns:p14="http://schemas.microsoft.com/office/powerpoint/2010/main" val="3997369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3F99366C-ED50-A005-B421-F1F3A3170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199" y="365760"/>
            <a:ext cx="12754303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histplot &amp; displot - Univariate Distribution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0031" y="2502812"/>
            <a:ext cx="11941969" cy="2754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histplot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visualizes the distribution of a continuous variable using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bins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displot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is the modern figure-level function that combines histograms with a smooth probability curve (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KDE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Understanding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shape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critical before applying optimizations. When analyzing database query latencies or request sizes, these plots reveal skewness, outliers, and modality.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 backend engineer analyzes API response times across 10,000 requests. A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bimodal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distribution reveals two different processing paths: fast cache hits (peak 1) and slower database queries (peak 2).</a:t>
            </a:r>
          </a:p>
        </p:txBody>
      </p:sp>
    </p:spTree>
    <p:extLst>
      <p:ext uri="{BB962C8B-B14F-4D97-AF65-F5344CB8AC3E}">
        <p14:creationId xmlns:p14="http://schemas.microsoft.com/office/powerpoint/2010/main" val="11373506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EA509FA-4974-2A2B-E6FF-9674F74AAC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jointplot &amp; pairplot - Bivariate &amp; Multivariate Relationships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1" y="2468880"/>
            <a:ext cx="11788331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jointplot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displays the relationship between two variables alongside their individual distributions.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pairplot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creates a grid showing all pairwise relationships in a dataset as a matrix of scatter plots.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Identifying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correlations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essential for performance tuning.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jointplot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reveals if two metrics are linked, while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pairplot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quickly screens an entire database table for hidden relationships.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 DBA uses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pairplot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on transaction logs. The grid instantly reveals that index count and query complexity correlate much more strongly with slow execution times than raw table size.</a:t>
            </a:r>
          </a:p>
        </p:txBody>
      </p:sp>
    </p:spTree>
    <p:extLst>
      <p:ext uri="{BB962C8B-B14F-4D97-AF65-F5344CB8AC3E}">
        <p14:creationId xmlns:p14="http://schemas.microsoft.com/office/powerpoint/2010/main" val="12213587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A6465EFC-562C-DC0E-9F5F-1324F67869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rugplot &amp; kdeplot - Marginal Distributions &amp; Density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119359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rugplot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displays individual data points as small ticks on an axis.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kdeplot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creates smooth probability density curves without the blocky artifacts of histogram bins.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C7955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rugplot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shows exactly where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concentrates.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kdeplot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perfect for overlaying multiple distributions to compare them cleanly.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Analyzing request batch sizes: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rugplot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reveals clustering around common powers of two (64, 128, 256). Overlaying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kdeplot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curves for different time periods smoothly shows how traffic shifts.</a:t>
            </a:r>
          </a:p>
        </p:txBody>
      </p:sp>
    </p:spTree>
    <p:extLst>
      <p:ext uri="{BB962C8B-B14F-4D97-AF65-F5344CB8AC3E}">
        <p14:creationId xmlns:p14="http://schemas.microsoft.com/office/powerpoint/2010/main" val="4044364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66CC9692-8AD8-4853-C3DD-30E672ECE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boxplot - Quartile-Based Distribution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119359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boxplot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displays the distribution of continuous data across categories. The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box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shows the middle 50% of data (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IQR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), the line is the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median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and the dots are mathematical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outliers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Quickly compares performance across multiple categories while instantly flagging anomalies.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Comparing API response times across 5 database replicas. The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boxplot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reveals that Replica-3 has a consistently higher median latency and a massive cluster of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outliers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, immediately flagging it for a hardware check.</a:t>
            </a:r>
          </a:p>
        </p:txBody>
      </p:sp>
    </p:spTree>
    <p:extLst>
      <p:ext uri="{BB962C8B-B14F-4D97-AF65-F5344CB8AC3E}">
        <p14:creationId xmlns:p14="http://schemas.microsoft.com/office/powerpoint/2010/main" val="35957952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996D94E-8FAF-AF31-FEB1-26A49AEAB8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991252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violinplot &amp; stripplot - Distribution Shape &amp; Individual Points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119359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violinplot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shows the full probability density mirrored on both sides.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stripplot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overlays the actual individual data points as jittered dots on top.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94EE6B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Boxplots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hide the shape of the data; </a:t>
            </a:r>
            <a:r>
              <a:rPr sz="1400" b="1" dirty="0" err="1">
                <a:solidFill>
                  <a:srgbClr val="E81A81"/>
                </a:solidFill>
                <a:latin typeface="Source Code Pro"/>
              </a:rPr>
              <a:t>violinplots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reveal it.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stripplot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shows whether the data is sparse or dense.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Query cache analysis: A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violinplot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reveals that certain endpoints have an hourglass shape (lots of fast cached hits, lots of slow misses, but nothing in between).</a:t>
            </a:r>
          </a:p>
        </p:txBody>
      </p:sp>
    </p:spTree>
    <p:extLst>
      <p:ext uri="{BB962C8B-B14F-4D97-AF65-F5344CB8AC3E}">
        <p14:creationId xmlns:p14="http://schemas.microsoft.com/office/powerpoint/2010/main" val="3193232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20FB2F53-6EE9-0ED4-A57C-173B12E7C0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barplot &amp; countplot - Categorical Aggregation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1193596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barplot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calculates and plots the mean of a numerical variable for each category, automatically adding error bars for confidence intervals.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countplot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simply counts the frequency of categorical observations.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C7955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barplot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shows statistical uncertainty.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countplot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reveals load distribution and class imbalances.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Error rates by service: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barplot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shows the mean error rate per microservice. If error bars don't overlap, one service is statistically failing worse.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countplot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reveals which endpoints receive the highest traffic volume.</a:t>
            </a:r>
          </a:p>
        </p:txBody>
      </p:sp>
    </p:spTree>
    <p:extLst>
      <p:ext uri="{BB962C8B-B14F-4D97-AF65-F5344CB8AC3E}">
        <p14:creationId xmlns:p14="http://schemas.microsoft.com/office/powerpoint/2010/main" val="1218228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4E0E8B9-5264-839B-AF8E-8766183B0C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swarmplot &amp; catplot - Detailed Categorical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11935968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swarmplot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scatters points without overlap, showing every single observation.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catplot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creates faceted grids to compare categories across multiple conditions.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FD4A4A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swarmplot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provides total transparency for smaller datasets.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catplot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is the ultimate tool for multi-dimensional backend analysis.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DB performance analysis: A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catplot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generates a side-by-side grid showing query speeds across 3 different servers, broken down further by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READ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vs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WRITE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operations.</a:t>
            </a:r>
          </a:p>
        </p:txBody>
      </p:sp>
    </p:spTree>
    <p:extLst>
      <p:ext uri="{BB962C8B-B14F-4D97-AF65-F5344CB8AC3E}">
        <p14:creationId xmlns:p14="http://schemas.microsoft.com/office/powerpoint/2010/main" val="28948591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BB4DA7EF-7508-B2F6-717D-86782A30FD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Source Code Pro"/>
              </a:rPr>
              <a:t>heatmap - Correlation Matrices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1193596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FD4A4A"/>
                </a:solidFill>
                <a:latin typeface="Source Code Pro"/>
              </a:rPr>
              <a:t>heatmap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displays a 2D array of values as a color grid, where color intensity encodes the number's magnitude.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E81A81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Instantly reveals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patterns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in large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data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matrices that are impossible to read as raw numbers. Essential for spotting resource bottlenecks.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 correlation </a:t>
            </a:r>
            <a:r>
              <a:rPr sz="1400" b="1" dirty="0">
                <a:solidFill>
                  <a:srgbClr val="BD64B5"/>
                </a:solidFill>
                <a:latin typeface="Source Code Pro"/>
              </a:rPr>
              <a:t>heatmap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of server metrics (CPU, Memory, Disk I/O, Network Tx, Query Time). Dark red squares highlight that Disk I/O spikes are highly correlated with slow Query Times, isolating the bottleneck.</a:t>
            </a:r>
          </a:p>
        </p:txBody>
      </p:sp>
    </p:spTree>
    <p:extLst>
      <p:ext uri="{BB962C8B-B14F-4D97-AF65-F5344CB8AC3E}">
        <p14:creationId xmlns:p14="http://schemas.microsoft.com/office/powerpoint/2010/main" val="24591828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478E5AC7-4524-6A51-8B39-8D8899921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 dirty="0">
                <a:solidFill>
                  <a:srgbClr val="FFFFFF"/>
                </a:solidFill>
                <a:latin typeface="Source Code Pro"/>
              </a:rPr>
              <a:t>clustermap - Advanced Matrix Grouping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6032" y="2468880"/>
            <a:ext cx="11935968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dirty="0">
                <a:solidFill>
                  <a:srgbClr val="4CAE97"/>
                </a:solidFill>
                <a:latin typeface="Source Code Pro"/>
              </a:rPr>
              <a:t>Definition: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</a:t>
            </a:r>
            <a:r>
              <a:rPr sz="1400" b="1" dirty="0">
                <a:solidFill>
                  <a:srgbClr val="4CAE97"/>
                </a:solidFill>
                <a:latin typeface="Source Code Pro"/>
              </a:rPr>
              <a:t>clustermap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() extends the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heatmap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by adding hierarchical </a:t>
            </a:r>
            <a:r>
              <a:rPr sz="1400" b="1" dirty="0">
                <a:solidFill>
                  <a:srgbClr val="94EE6B"/>
                </a:solidFill>
                <a:latin typeface="Source Code Pro"/>
              </a:rPr>
              <a:t>clustering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. It automatically shuffles rows and columns to group similar items together based on mathematical distance.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Why we use it: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Raw correlation matrices can look like random noise.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Clustering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reorganizes the chaos into logical, grouped blocks. </a:t>
            </a:r>
            <a:endParaRPr lang="en-US" sz="1400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endParaRPr lang="en-US" sz="1400" b="1" dirty="0">
              <a:solidFill>
                <a:srgbClr val="E7E7E7"/>
              </a:solidFill>
              <a:latin typeface="Source Code Pro"/>
            </a:endParaRPr>
          </a:p>
          <a:p>
            <a:pPr algn="l"/>
            <a:r>
              <a:rPr sz="1400" b="1" dirty="0">
                <a:solidFill>
                  <a:srgbClr val="BD64B5"/>
                </a:solidFill>
                <a:latin typeface="Source Code Pro"/>
              </a:rPr>
              <a:t>Real-life usage: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Analyzing a massive matrix of API endpoints and their failure rates. </a:t>
            </a:r>
            <a:r>
              <a:rPr sz="1400" b="1" dirty="0">
                <a:solidFill>
                  <a:srgbClr val="E81A81"/>
                </a:solidFill>
                <a:latin typeface="Source Code Pro"/>
              </a:rPr>
              <a:t>clustermap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automatically groups endpoints that fail together, revealing hidden </a:t>
            </a:r>
            <a:r>
              <a:rPr sz="1400" b="1" dirty="0">
                <a:solidFill>
                  <a:srgbClr val="EC7955"/>
                </a:solidFill>
                <a:latin typeface="Source Code Pro"/>
              </a:rPr>
              <a:t>dependencies</a:t>
            </a:r>
            <a:r>
              <a:rPr sz="1400" dirty="0">
                <a:solidFill>
                  <a:srgbClr val="E7E7E7"/>
                </a:solidFill>
                <a:latin typeface="Source Code Pro"/>
              </a:rPr>
              <a:t> and exposing that all clustered endpoints rely on the same legacy authentication service.</a:t>
            </a:r>
          </a:p>
        </p:txBody>
      </p:sp>
    </p:spTree>
    <p:extLst>
      <p:ext uri="{BB962C8B-B14F-4D97-AF65-F5344CB8AC3E}">
        <p14:creationId xmlns:p14="http://schemas.microsoft.com/office/powerpoint/2010/main" val="23001547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07B45628-350C-26E3-F8E8-AAE1ABF9E2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6025ACC-E6E8-DB2C-A887-C3C7AB697F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2214703"/>
              </p:ext>
            </p:extLst>
          </p:nvPr>
        </p:nvGraphicFramePr>
        <p:xfrm>
          <a:off x="2029920" y="1722438"/>
          <a:ext cx="8903682" cy="4554536"/>
        </p:xfrm>
        <a:graphic>
          <a:graphicData uri="http://schemas.openxmlformats.org/drawingml/2006/table">
            <a:tbl>
              <a:tblPr/>
              <a:tblGrid>
                <a:gridCol w="2967894">
                  <a:extLst>
                    <a:ext uri="{9D8B030D-6E8A-4147-A177-3AD203B41FA5}">
                      <a16:colId xmlns:a16="http://schemas.microsoft.com/office/drawing/2014/main" val="1397799978"/>
                    </a:ext>
                  </a:extLst>
                </a:gridCol>
                <a:gridCol w="2967894">
                  <a:extLst>
                    <a:ext uri="{9D8B030D-6E8A-4147-A177-3AD203B41FA5}">
                      <a16:colId xmlns:a16="http://schemas.microsoft.com/office/drawing/2014/main" val="327308687"/>
                    </a:ext>
                  </a:extLst>
                </a:gridCol>
                <a:gridCol w="2967894">
                  <a:extLst>
                    <a:ext uri="{9D8B030D-6E8A-4147-A177-3AD203B41FA5}">
                      <a16:colId xmlns:a16="http://schemas.microsoft.com/office/drawing/2014/main" val="3719739406"/>
                    </a:ext>
                  </a:extLst>
                </a:gridCol>
              </a:tblGrid>
              <a:tr h="325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FF0000"/>
                          </a:solidFill>
                        </a:rPr>
                        <a:t>Plot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rgbClr val="00B0F0"/>
                          </a:solidFill>
                        </a:rPr>
                        <a:t>Use Case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solidFill>
                            <a:schemeClr val="bg2"/>
                          </a:solidFill>
                        </a:rPr>
                        <a:t>Key Parameter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433397"/>
                  </a:ext>
                </a:extLst>
              </a:tr>
              <a:tr h="325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 err="1"/>
                        <a:t>distplot</a:t>
                      </a:r>
                      <a:r>
                        <a:rPr lang="en-US" sz="1600" b="1" dirty="0"/>
                        <a:t>/histplot()</a:t>
                      </a:r>
                      <a:endParaRPr lang="en-US" sz="1600" dirty="0"/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Univariate distribution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kde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600" dirty="0">
                          <a:solidFill>
                            <a:schemeClr val="accent3"/>
                          </a:solidFill>
                          <a:latin typeface="Courier New" panose="02070309020205020404" pitchFamily="49" charset="0"/>
                        </a:rPr>
                        <a:t>True</a:t>
                      </a:r>
                      <a:endParaRPr lang="en-US" sz="1600" dirty="0">
                        <a:solidFill>
                          <a:schemeClr val="accent3"/>
                        </a:solidFill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0202266"/>
                  </a:ext>
                </a:extLst>
              </a:tr>
              <a:tr h="325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Jointplot()</a:t>
                      </a:r>
                      <a:endParaRPr lang="en-US" sz="1600" dirty="0"/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Two-variable correlation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kind=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Courier New" panose="02070309020205020404" pitchFamily="49" charset="0"/>
                        </a:rPr>
                        <a:t>'scatter'</a:t>
                      </a:r>
                      <a:endParaRPr lang="en-US" sz="1600" dirty="0">
                        <a:solidFill>
                          <a:schemeClr val="accent4"/>
                        </a:solidFill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879539"/>
                  </a:ext>
                </a:extLst>
              </a:tr>
              <a:tr h="325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Pairplot()</a:t>
                      </a:r>
                      <a:endParaRPr lang="en-US" sz="1600" dirty="0"/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All pairwise relationships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hue=</a:t>
                      </a:r>
                      <a:r>
                        <a:rPr lang="en-US" sz="1600" dirty="0"/>
                        <a:t> for colors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8702134"/>
                  </a:ext>
                </a:extLst>
              </a:tr>
              <a:tr h="325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Kdeplot()</a:t>
                      </a:r>
                      <a:endParaRPr lang="en-US" sz="1600" dirty="0"/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Smooth density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cumulative=</a:t>
                      </a:r>
                      <a:r>
                        <a:rPr lang="en-US" sz="1600" dirty="0">
                          <a:solidFill>
                            <a:schemeClr val="accent3"/>
                          </a:solidFill>
                          <a:latin typeface="Courier New" panose="02070309020205020404" pitchFamily="49" charset="0"/>
                        </a:rPr>
                        <a:t>True</a:t>
                      </a:r>
                      <a:endParaRPr lang="en-US" sz="1600" dirty="0">
                        <a:solidFill>
                          <a:schemeClr val="accent3"/>
                        </a:solidFill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48726996"/>
                  </a:ext>
                </a:extLst>
              </a:tr>
              <a:tr h="325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Boxplot()</a:t>
                      </a:r>
                      <a:endParaRPr lang="en-US" sz="1600" dirty="0"/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Quartile comparison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hue=</a:t>
                      </a:r>
                      <a:r>
                        <a:rPr lang="en-US" sz="1600" dirty="0"/>
                        <a:t> for groups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5055001"/>
                  </a:ext>
                </a:extLst>
              </a:tr>
              <a:tr h="325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Violinplot()</a:t>
                      </a:r>
                      <a:endParaRPr lang="en-US" sz="1600" dirty="0"/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Distribution shape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split=</a:t>
                      </a:r>
                      <a:r>
                        <a:rPr lang="en-US" sz="1600" dirty="0">
                          <a:solidFill>
                            <a:schemeClr val="accent3"/>
                          </a:solidFill>
                          <a:latin typeface="Courier New" panose="02070309020205020404" pitchFamily="49" charset="0"/>
                        </a:rPr>
                        <a:t>True</a:t>
                      </a:r>
                      <a:endParaRPr lang="en-US" sz="1600" dirty="0">
                        <a:solidFill>
                          <a:schemeClr val="accent3"/>
                        </a:solidFill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2290774"/>
                  </a:ext>
                </a:extLst>
              </a:tr>
              <a:tr h="325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Stripplot()</a:t>
                      </a:r>
                      <a:endParaRPr lang="en-US" sz="1600" dirty="0"/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Individual points (jittered)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jitter=</a:t>
                      </a:r>
                      <a:r>
                        <a:rPr lang="en-US" sz="1600" dirty="0">
                          <a:solidFill>
                            <a:schemeClr val="accent3"/>
                          </a:solidFill>
                          <a:latin typeface="Courier New" panose="02070309020205020404" pitchFamily="49" charset="0"/>
                        </a:rPr>
                        <a:t>True</a:t>
                      </a:r>
                      <a:endParaRPr lang="en-US" sz="1600" dirty="0">
                        <a:solidFill>
                          <a:schemeClr val="accent3"/>
                        </a:solidFill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841255"/>
                  </a:ext>
                </a:extLst>
              </a:tr>
              <a:tr h="325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Swarmplot()</a:t>
                      </a:r>
                      <a:endParaRPr lang="en-US" sz="1600" dirty="0"/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Non-overlapping points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Automatic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28410796"/>
                  </a:ext>
                </a:extLst>
              </a:tr>
              <a:tr h="325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Barplot()</a:t>
                      </a:r>
                      <a:endParaRPr lang="en-US" sz="1600" dirty="0"/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Mean + CI by category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errorbar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Courier New" panose="02070309020205020404" pitchFamily="49" charset="0"/>
                        </a:rPr>
                        <a:t>'</a:t>
                      </a:r>
                      <a:r>
                        <a:rPr lang="en-US" sz="1600" dirty="0" err="1">
                          <a:solidFill>
                            <a:schemeClr val="accent4"/>
                          </a:solidFill>
                          <a:latin typeface="Courier New" panose="02070309020205020404" pitchFamily="49" charset="0"/>
                        </a:rPr>
                        <a:t>sd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Courier New" panose="02070309020205020404" pitchFamily="49" charset="0"/>
                        </a:rPr>
                        <a:t>'</a:t>
                      </a:r>
                      <a:endParaRPr lang="en-US" sz="1600" dirty="0">
                        <a:solidFill>
                          <a:schemeClr val="accent4"/>
                        </a:solidFill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5222729"/>
                  </a:ext>
                </a:extLst>
              </a:tr>
              <a:tr h="325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Countplot()</a:t>
                      </a:r>
                      <a:endParaRPr lang="en-US" sz="1600" dirty="0"/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Categorical frequency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latin typeface="Courier New" panose="02070309020205020404" pitchFamily="49" charset="0"/>
                        </a:rPr>
                        <a:t>hue=</a:t>
                      </a:r>
                      <a:r>
                        <a:rPr lang="en-US" sz="1600"/>
                        <a:t> for stacking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838731"/>
                  </a:ext>
                </a:extLst>
              </a:tr>
              <a:tr h="325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catplot/</a:t>
                      </a:r>
                      <a:r>
                        <a:rPr lang="en-US" sz="1600" b="1" dirty="0" err="1"/>
                        <a:t>factorplot</a:t>
                      </a:r>
                      <a:r>
                        <a:rPr lang="en-US" sz="1600" b="1" dirty="0"/>
                        <a:t>()</a:t>
                      </a:r>
                      <a:endParaRPr lang="en-US" sz="1600" dirty="0"/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Multi-faceted categorical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col=/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Courier New" panose="02070309020205020404" pitchFamily="49" charset="0"/>
                        </a:rPr>
                        <a:t>'row='</a:t>
                      </a:r>
                      <a:endParaRPr lang="en-US" sz="1600" dirty="0">
                        <a:solidFill>
                          <a:schemeClr val="accent4"/>
                        </a:solidFill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797456"/>
                  </a:ext>
                </a:extLst>
              </a:tr>
              <a:tr h="325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Heatmap()</a:t>
                      </a:r>
                      <a:endParaRPr lang="en-US" sz="1600" dirty="0"/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/>
                        <a:t>2D matrix values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 err="1">
                          <a:latin typeface="Courier New" panose="02070309020205020404" pitchFamily="49" charset="0"/>
                        </a:rPr>
                        <a:t>annot</a:t>
                      </a:r>
                      <a:r>
                        <a:rPr lang="en-US" sz="1600" dirty="0">
                          <a:latin typeface="Courier New" panose="02070309020205020404" pitchFamily="49" charset="0"/>
                        </a:rPr>
                        <a:t>=</a:t>
                      </a:r>
                      <a:r>
                        <a:rPr lang="en-US" sz="1600" dirty="0">
                          <a:solidFill>
                            <a:schemeClr val="accent3"/>
                          </a:solidFill>
                          <a:latin typeface="Courier New" panose="02070309020205020404" pitchFamily="49" charset="0"/>
                        </a:rPr>
                        <a:t>True</a:t>
                      </a:r>
                      <a:endParaRPr lang="en-US" sz="1600" dirty="0">
                        <a:solidFill>
                          <a:schemeClr val="accent3"/>
                        </a:solidFill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88391434"/>
                  </a:ext>
                </a:extLst>
              </a:tr>
              <a:tr h="3253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 dirty="0"/>
                        <a:t>Clustermap()</a:t>
                      </a:r>
                      <a:endParaRPr lang="en-US" sz="1600" dirty="0"/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/>
                        <a:t>Heatmap + clustering</a:t>
                      </a: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dirty="0">
                          <a:latin typeface="Courier New" panose="02070309020205020404" pitchFamily="49" charset="0"/>
                        </a:rPr>
                        <a:t>method=</a:t>
                      </a:r>
                      <a:r>
                        <a:rPr lang="en-US" sz="1600" dirty="0">
                          <a:solidFill>
                            <a:schemeClr val="accent4"/>
                          </a:solidFill>
                          <a:latin typeface="Courier New" panose="02070309020205020404" pitchFamily="49" charset="0"/>
                        </a:rPr>
                        <a:t>'ward'</a:t>
                      </a:r>
                      <a:endParaRPr lang="en-US" sz="1600" dirty="0">
                        <a:solidFill>
                          <a:schemeClr val="accent4"/>
                        </a:solidFill>
                      </a:endParaRPr>
                    </a:p>
                  </a:txBody>
                  <a:tcPr marL="79119" marR="79119" marT="39560" marB="3956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57131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6FF3B777-F9DF-513C-D09B-98C90DBD588E}"/>
              </a:ext>
            </a:extLst>
          </p:cNvPr>
          <p:cNvSpPr txBox="1"/>
          <p:nvPr/>
        </p:nvSpPr>
        <p:spPr>
          <a:xfrm>
            <a:off x="4314825" y="694015"/>
            <a:ext cx="610076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REFERENCE TABLE</a:t>
            </a:r>
          </a:p>
        </p:txBody>
      </p:sp>
    </p:spTree>
    <p:extLst>
      <p:ext uri="{BB962C8B-B14F-4D97-AF65-F5344CB8AC3E}">
        <p14:creationId xmlns:p14="http://schemas.microsoft.com/office/powerpoint/2010/main" val="4283646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"/>
          <p:cNvSpPr txBox="1">
            <a:spLocks noGrp="1"/>
          </p:cNvSpPr>
          <p:nvPr>
            <p:ph type="title"/>
          </p:nvPr>
        </p:nvSpPr>
        <p:spPr>
          <a:xfrm>
            <a:off x="5662782" y="748501"/>
            <a:ext cx="5544039" cy="706416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lvl="0"/>
            <a:r>
              <a:rPr lang="en-US" sz="1867" dirty="0"/>
              <a:t>Thank You for Your Focus Today!</a:t>
            </a:r>
            <a:endParaRPr sz="1867" dirty="0"/>
          </a:p>
        </p:txBody>
      </p:sp>
      <p:sp>
        <p:nvSpPr>
          <p:cNvPr id="353" name="Google Shape;353;p34"/>
          <p:cNvSpPr txBox="1">
            <a:spLocks noGrp="1"/>
          </p:cNvSpPr>
          <p:nvPr>
            <p:ph type="subTitle" idx="1"/>
          </p:nvPr>
        </p:nvSpPr>
        <p:spPr>
          <a:xfrm>
            <a:off x="5459796" y="4751364"/>
            <a:ext cx="5608000" cy="174000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400" dirty="0"/>
              <a:t>Waleed Khan</a:t>
            </a:r>
            <a:br>
              <a:rPr lang="en-US" sz="1400" dirty="0"/>
            </a:br>
            <a:r>
              <a:rPr lang="en-US" sz="1400" dirty="0"/>
              <a:t>(</a:t>
            </a:r>
            <a:r>
              <a:rPr lang="en-US" sz="1200" dirty="0"/>
              <a:t>Robotics Engineer | Senior Python Developer)</a:t>
            </a:r>
            <a:br>
              <a:rPr lang="en-US" sz="1400" dirty="0"/>
            </a:br>
            <a:endParaRPr lang="en-US" sz="1400" dirty="0"/>
          </a:p>
          <a:p>
            <a:pPr marL="0" indent="0"/>
            <a:r>
              <a:rPr lang="en-US" sz="1400" dirty="0"/>
              <a:t>Email: 0xcloudcoder@gmail.com</a:t>
            </a:r>
            <a:br>
              <a:rPr lang="en-US" sz="1867" dirty="0"/>
            </a:br>
            <a:r>
              <a:rPr lang="en-US" sz="1400" dirty="0"/>
              <a:t>Contact: +923126008702</a:t>
            </a:r>
            <a:endParaRPr sz="1400" dirty="0"/>
          </a:p>
        </p:txBody>
      </p:sp>
      <p:sp>
        <p:nvSpPr>
          <p:cNvPr id="354" name="Google Shape;354;p34"/>
          <p:cNvSpPr txBox="1"/>
          <p:nvPr/>
        </p:nvSpPr>
        <p:spPr>
          <a:xfrm>
            <a:off x="11106533" y="53044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 dirty="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dirty="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355" name="Google Shape;355;p34"/>
          <p:cNvGrpSpPr/>
          <p:nvPr/>
        </p:nvGrpSpPr>
        <p:grpSpPr>
          <a:xfrm>
            <a:off x="447523" y="928586"/>
            <a:ext cx="3909392" cy="5210084"/>
            <a:chOff x="335642" y="696438"/>
            <a:chExt cx="2932044" cy="3907563"/>
          </a:xfrm>
        </p:grpSpPr>
        <p:sp>
          <p:nvSpPr>
            <p:cNvPr id="356" name="Google Shape;356;p34"/>
            <p:cNvSpPr/>
            <p:nvPr/>
          </p:nvSpPr>
          <p:spPr>
            <a:xfrm>
              <a:off x="335642" y="70501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7" name="Google Shape;357;p34"/>
            <p:cNvSpPr/>
            <p:nvPr/>
          </p:nvSpPr>
          <p:spPr>
            <a:xfrm>
              <a:off x="821967" y="6964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8" name="Google Shape;358;p34"/>
            <p:cNvSpPr/>
            <p:nvPr/>
          </p:nvSpPr>
          <p:spPr>
            <a:xfrm>
              <a:off x="335642" y="10172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59" name="Google Shape;359;p34"/>
            <p:cNvSpPr/>
            <p:nvPr/>
          </p:nvSpPr>
          <p:spPr>
            <a:xfrm>
              <a:off x="335642" y="1343950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0" name="Google Shape;360;p34"/>
            <p:cNvSpPr/>
            <p:nvPr/>
          </p:nvSpPr>
          <p:spPr>
            <a:xfrm>
              <a:off x="335642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1" name="Google Shape;361;p34"/>
            <p:cNvSpPr/>
            <p:nvPr/>
          </p:nvSpPr>
          <p:spPr>
            <a:xfrm>
              <a:off x="770496" y="1670688"/>
              <a:ext cx="45446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2" name="Google Shape;362;p34"/>
            <p:cNvSpPr/>
            <p:nvPr/>
          </p:nvSpPr>
          <p:spPr>
            <a:xfrm>
              <a:off x="1304877" y="167068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3" name="Google Shape;363;p34"/>
            <p:cNvSpPr/>
            <p:nvPr/>
          </p:nvSpPr>
          <p:spPr>
            <a:xfrm>
              <a:off x="335642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4" name="Google Shape;364;p34"/>
            <p:cNvSpPr/>
            <p:nvPr/>
          </p:nvSpPr>
          <p:spPr>
            <a:xfrm>
              <a:off x="335642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5" name="Google Shape;365;p34"/>
            <p:cNvSpPr/>
            <p:nvPr/>
          </p:nvSpPr>
          <p:spPr>
            <a:xfrm>
              <a:off x="335642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6" name="Google Shape;366;p34"/>
            <p:cNvSpPr/>
            <p:nvPr/>
          </p:nvSpPr>
          <p:spPr>
            <a:xfrm>
              <a:off x="335642" y="29419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7" name="Google Shape;367;p34"/>
            <p:cNvSpPr/>
            <p:nvPr/>
          </p:nvSpPr>
          <p:spPr>
            <a:xfrm>
              <a:off x="349364" y="37229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8" name="Google Shape;368;p34"/>
            <p:cNvSpPr/>
            <p:nvPr/>
          </p:nvSpPr>
          <p:spPr>
            <a:xfrm>
              <a:off x="770496" y="198126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69" name="Google Shape;369;p34"/>
            <p:cNvSpPr/>
            <p:nvPr/>
          </p:nvSpPr>
          <p:spPr>
            <a:xfrm>
              <a:off x="731557" y="23241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0" name="Google Shape;370;p34"/>
            <p:cNvSpPr/>
            <p:nvPr/>
          </p:nvSpPr>
          <p:spPr>
            <a:xfrm>
              <a:off x="770496" y="2633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1" name="Google Shape;371;p34"/>
            <p:cNvSpPr/>
            <p:nvPr/>
          </p:nvSpPr>
          <p:spPr>
            <a:xfrm>
              <a:off x="770496" y="2958925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2" name="Google Shape;372;p34"/>
            <p:cNvSpPr/>
            <p:nvPr/>
          </p:nvSpPr>
          <p:spPr>
            <a:xfrm>
              <a:off x="770496" y="32848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3" name="Google Shape;373;p34"/>
            <p:cNvSpPr/>
            <p:nvPr/>
          </p:nvSpPr>
          <p:spPr>
            <a:xfrm>
              <a:off x="1174186" y="1981263"/>
              <a:ext cx="63339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4" name="Google Shape;374;p34"/>
            <p:cNvSpPr/>
            <p:nvPr/>
          </p:nvSpPr>
          <p:spPr>
            <a:xfrm>
              <a:off x="1174186" y="2324113"/>
              <a:ext cx="88477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5" name="Google Shape;375;p34"/>
            <p:cNvSpPr/>
            <p:nvPr/>
          </p:nvSpPr>
          <p:spPr>
            <a:xfrm>
              <a:off x="1205349" y="26330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6" name="Google Shape;376;p34"/>
            <p:cNvSpPr/>
            <p:nvPr/>
          </p:nvSpPr>
          <p:spPr>
            <a:xfrm>
              <a:off x="1205349" y="2977538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7" name="Google Shape;377;p34"/>
            <p:cNvSpPr/>
            <p:nvPr/>
          </p:nvSpPr>
          <p:spPr>
            <a:xfrm>
              <a:off x="1205349" y="3284813"/>
              <a:ext cx="1030037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8" name="Google Shape;378;p34"/>
            <p:cNvSpPr/>
            <p:nvPr/>
          </p:nvSpPr>
          <p:spPr>
            <a:xfrm>
              <a:off x="1883777" y="1981263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79" name="Google Shape;379;p34"/>
            <p:cNvSpPr/>
            <p:nvPr/>
          </p:nvSpPr>
          <p:spPr>
            <a:xfrm>
              <a:off x="2174096" y="2307150"/>
              <a:ext cx="57704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0" name="Google Shape;380;p34"/>
            <p:cNvSpPr/>
            <p:nvPr/>
          </p:nvSpPr>
          <p:spPr>
            <a:xfrm>
              <a:off x="2342750" y="26330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1" name="Google Shape;381;p34"/>
            <p:cNvSpPr/>
            <p:nvPr/>
          </p:nvSpPr>
          <p:spPr>
            <a:xfrm>
              <a:off x="2342750" y="3284863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2" name="Google Shape;382;p34"/>
            <p:cNvSpPr/>
            <p:nvPr/>
          </p:nvSpPr>
          <p:spPr>
            <a:xfrm>
              <a:off x="349364" y="39620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3" name="Google Shape;383;p34"/>
            <p:cNvSpPr/>
            <p:nvPr/>
          </p:nvSpPr>
          <p:spPr>
            <a:xfrm>
              <a:off x="731557" y="4245513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4" name="Google Shape;384;p34"/>
            <p:cNvSpPr/>
            <p:nvPr/>
          </p:nvSpPr>
          <p:spPr>
            <a:xfrm>
              <a:off x="1224956" y="4245513"/>
              <a:ext cx="524349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5" name="Google Shape;385;p34"/>
            <p:cNvSpPr/>
            <p:nvPr/>
          </p:nvSpPr>
          <p:spPr>
            <a:xfrm>
              <a:off x="1883777" y="4245513"/>
              <a:ext cx="661931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6" name="Google Shape;386;p34"/>
            <p:cNvSpPr/>
            <p:nvPr/>
          </p:nvSpPr>
          <p:spPr>
            <a:xfrm>
              <a:off x="2634075" y="4245513"/>
              <a:ext cx="241501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7" name="Google Shape;387;p34"/>
            <p:cNvSpPr/>
            <p:nvPr/>
          </p:nvSpPr>
          <p:spPr>
            <a:xfrm>
              <a:off x="731557" y="4454038"/>
              <a:ext cx="327489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8" name="Google Shape;388;p34"/>
            <p:cNvSpPr/>
            <p:nvPr/>
          </p:nvSpPr>
          <p:spPr>
            <a:xfrm>
              <a:off x="1224956" y="4454038"/>
              <a:ext cx="833909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89" name="Google Shape;389;p34"/>
            <p:cNvSpPr/>
            <p:nvPr/>
          </p:nvSpPr>
          <p:spPr>
            <a:xfrm>
              <a:off x="2169156" y="4454038"/>
              <a:ext cx="354933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0" name="Google Shape;390;p34"/>
            <p:cNvSpPr/>
            <p:nvPr/>
          </p:nvSpPr>
          <p:spPr>
            <a:xfrm>
              <a:off x="1250486" y="7083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1" name="Google Shape;391;p34"/>
            <p:cNvSpPr/>
            <p:nvPr/>
          </p:nvSpPr>
          <p:spPr>
            <a:xfrm>
              <a:off x="821986" y="10172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2" name="Google Shape;392;p34"/>
            <p:cNvSpPr/>
            <p:nvPr/>
          </p:nvSpPr>
          <p:spPr>
            <a:xfrm>
              <a:off x="1555286" y="10131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3" name="Google Shape;393;p34"/>
            <p:cNvSpPr/>
            <p:nvPr/>
          </p:nvSpPr>
          <p:spPr>
            <a:xfrm>
              <a:off x="821979" y="134398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4" name="Google Shape;394;p34"/>
            <p:cNvSpPr/>
            <p:nvPr/>
          </p:nvSpPr>
          <p:spPr>
            <a:xfrm>
              <a:off x="1739729" y="1668625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5" name="Google Shape;395;p34"/>
            <p:cNvSpPr/>
            <p:nvPr/>
          </p:nvSpPr>
          <p:spPr>
            <a:xfrm>
              <a:off x="2342754" y="2977538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6" name="Google Shape;396;p34"/>
            <p:cNvSpPr/>
            <p:nvPr/>
          </p:nvSpPr>
          <p:spPr>
            <a:xfrm>
              <a:off x="2537025" y="19812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7" name="Google Shape;397;p34"/>
            <p:cNvSpPr/>
            <p:nvPr/>
          </p:nvSpPr>
          <p:spPr>
            <a:xfrm>
              <a:off x="2805050" y="263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8" name="Google Shape;398;p34"/>
            <p:cNvSpPr/>
            <p:nvPr/>
          </p:nvSpPr>
          <p:spPr>
            <a:xfrm>
              <a:off x="2634386" y="44561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399" name="Google Shape;399;p34"/>
            <p:cNvSpPr/>
            <p:nvPr/>
          </p:nvSpPr>
          <p:spPr>
            <a:xfrm>
              <a:off x="770511" y="39365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00" name="Google Shape;400;p34"/>
            <p:cNvSpPr/>
            <p:nvPr/>
          </p:nvSpPr>
          <p:spPr>
            <a:xfrm>
              <a:off x="770511" y="3706475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01" name="Google Shape;401;p34"/>
          <p:cNvSpPr txBox="1"/>
          <p:nvPr/>
        </p:nvSpPr>
        <p:spPr>
          <a:xfrm>
            <a:off x="8854201" y="5162812"/>
            <a:ext cx="692400" cy="11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AE2DD26-B17A-503C-A9CA-D2B6DDAE5AF0}"/>
              </a:ext>
            </a:extLst>
          </p:cNvPr>
          <p:cNvSpPr txBox="1"/>
          <p:nvPr/>
        </p:nvSpPr>
        <p:spPr>
          <a:xfrm>
            <a:off x="5387008" y="2407058"/>
            <a:ext cx="6411925" cy="20005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What was the most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6000" dirty="0">
                <a:solidFill>
                  <a:schemeClr val="accent5">
                    <a:lumMod val="5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confusing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part of today's lab?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ay 6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y 6" id="{035ED6D3-E824-4B6B-AAF7-CA8C606A2217}" vid="{7F810BC9-F9DE-4B77-994F-C9059B10EE55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</TotalTime>
  <Words>1319</Words>
  <Application>Microsoft Office PowerPoint</Application>
  <PresentationFormat>Widescreen</PresentationFormat>
  <Paragraphs>160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6" baseType="lpstr">
      <vt:lpstr>Arial</vt:lpstr>
      <vt:lpstr>Bebas Neue</vt:lpstr>
      <vt:lpstr>Calibri</vt:lpstr>
      <vt:lpstr>Comfortaa</vt:lpstr>
      <vt:lpstr>Courier New</vt:lpstr>
      <vt:lpstr>Fira Code</vt:lpstr>
      <vt:lpstr>Nunito Light</vt:lpstr>
      <vt:lpstr>PT Sans</vt:lpstr>
      <vt:lpstr>Source Code Pro</vt:lpstr>
      <vt:lpstr>Source Code Pro Medium</vt:lpstr>
      <vt:lpstr>Office 主题</vt:lpstr>
      <vt:lpstr>day 6</vt:lpstr>
      <vt:lpstr>Artificial Intelligence (Machine Learning &amp; Deep Learning)</vt:lpstr>
      <vt:lpstr>Contents of Day 17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 for Your Focus Today!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21</cp:revision>
  <dcterms:created xsi:type="dcterms:W3CDTF">2026-03-05T18:59:57Z</dcterms:created>
  <dcterms:modified xsi:type="dcterms:W3CDTF">2026-03-08T21:45:13Z</dcterms:modified>
</cp:coreProperties>
</file>